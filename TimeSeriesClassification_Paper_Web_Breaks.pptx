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319" r:id="rId4"/>
    <p:sldId id="260" r:id="rId5"/>
    <p:sldId id="259" r:id="rId6"/>
    <p:sldId id="275" r:id="rId7"/>
    <p:sldId id="276" r:id="rId8"/>
    <p:sldId id="277" r:id="rId9"/>
    <p:sldId id="278" r:id="rId10"/>
    <p:sldId id="279" r:id="rId11"/>
    <p:sldId id="280" r:id="rId12"/>
    <p:sldId id="281" r:id="rId13"/>
    <p:sldId id="267" r:id="rId14"/>
    <p:sldId id="320" r:id="rId15"/>
    <p:sldId id="271" r:id="rId16"/>
    <p:sldId id="318" r:id="rId17"/>
    <p:sldId id="301" r:id="rId18"/>
    <p:sldId id="321" r:id="rId19"/>
    <p:sldId id="322" r:id="rId20"/>
    <p:sldId id="311" r:id="rId21"/>
    <p:sldId id="306" r:id="rId22"/>
    <p:sldId id="302" r:id="rId23"/>
    <p:sldId id="303" r:id="rId24"/>
    <p:sldId id="305" r:id="rId25"/>
    <p:sldId id="307" r:id="rId26"/>
    <p:sldId id="308" r:id="rId27"/>
    <p:sldId id="309" r:id="rId28"/>
    <p:sldId id="310" r:id="rId29"/>
    <p:sldId id="312" r:id="rId30"/>
    <p:sldId id="313" r:id="rId31"/>
    <p:sldId id="314" r:id="rId32"/>
    <p:sldId id="315" r:id="rId33"/>
    <p:sldId id="316" r:id="rId34"/>
    <p:sldId id="317" r:id="rId3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0" autoAdjust="0"/>
    <p:restoredTop sz="90395" autoAdjust="0"/>
  </p:normalViewPr>
  <p:slideViewPr>
    <p:cSldViewPr snapToGrid="0" snapToObjects="1">
      <p:cViewPr varScale="1">
        <p:scale>
          <a:sx n="114" d="100"/>
          <a:sy n="114" d="100"/>
        </p:scale>
        <p:origin x="408" y="8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FF9800"/>
            </a:solidFill>
            <a:effectLst/>
          </c:spPr>
          <c:invertIfNegative val="0"/>
          <c:dPt>
            <c:idx val="0"/>
            <c:invertIfNegative val="0"/>
            <c:bubble3D val="0"/>
            <c:extLst>
              <c:ext xmlns:c16="http://schemas.microsoft.com/office/drawing/2014/chart" uri="{C3380CC4-5D6E-409C-BE32-E72D297353CC}">
                <c16:uniqueId val="{00000001-3A99-4B82-932F-D0C1FAC10B75}"/>
              </c:ext>
            </c:extLst>
          </c:dPt>
          <c:dPt>
            <c:idx val="1"/>
            <c:invertIfNegative val="0"/>
            <c:bubble3D val="0"/>
            <c:spPr>
              <a:solidFill>
                <a:srgbClr val="4CAF50"/>
              </a:solidFill>
              <a:effectLst/>
            </c:spPr>
            <c:extLst>
              <c:ext xmlns:c16="http://schemas.microsoft.com/office/drawing/2014/chart" uri="{C3380CC4-5D6E-409C-BE32-E72D297353CC}">
                <c16:uniqueId val="{00000003-3A99-4B82-932F-D0C1FAC10B75}"/>
              </c:ext>
            </c:extLst>
          </c:dPt>
          <c:dPt>
            <c:idx val="2"/>
            <c:invertIfNegative val="0"/>
            <c:bubble3D val="0"/>
            <c:extLst>
              <c:ext xmlns:c16="http://schemas.microsoft.com/office/drawing/2014/chart" uri="{C3380CC4-5D6E-409C-BE32-E72D297353CC}">
                <c16:uniqueId val="{00000005-3A99-4B82-932F-D0C1FAC10B75}"/>
              </c:ext>
            </c:extLst>
          </c:dPt>
          <c:dPt>
            <c:idx val="3"/>
            <c:invertIfNegative val="0"/>
            <c:bubble3D val="0"/>
            <c:spPr>
              <a:solidFill>
                <a:srgbClr val="2196F3"/>
              </a:solidFill>
              <a:effectLst/>
            </c:spPr>
            <c:extLst>
              <c:ext xmlns:c16="http://schemas.microsoft.com/office/drawing/2014/chart" uri="{C3380CC4-5D6E-409C-BE32-E72D297353CC}">
                <c16:uniqueId val="{00000007-3A99-4B82-932F-D0C1FAC10B75}"/>
              </c:ext>
            </c:extLst>
          </c:dPt>
          <c:dPt>
            <c:idx val="4"/>
            <c:invertIfNegative val="0"/>
            <c:bubble3D val="0"/>
            <c:spPr>
              <a:solidFill>
                <a:srgbClr val="4CAF50"/>
              </a:solidFill>
              <a:effectLst/>
            </c:spPr>
            <c:extLst>
              <c:ext xmlns:c16="http://schemas.microsoft.com/office/drawing/2014/chart" uri="{C3380CC4-5D6E-409C-BE32-E72D297353CC}">
                <c16:uniqueId val="{00000009-3A99-4B82-932F-D0C1FAC10B75}"/>
              </c:ext>
            </c:extLst>
          </c:dPt>
          <c:dPt>
            <c:idx val="5"/>
            <c:invertIfNegative val="0"/>
            <c:bubble3D val="0"/>
            <c:extLst>
              <c:ext xmlns:c16="http://schemas.microsoft.com/office/drawing/2014/chart" uri="{C3380CC4-5D6E-409C-BE32-E72D297353CC}">
                <c16:uniqueId val="{0000000B-3A99-4B82-932F-D0C1FAC10B75}"/>
              </c:ext>
            </c:extLst>
          </c:dPt>
          <c:dPt>
            <c:idx val="6"/>
            <c:invertIfNegative val="0"/>
            <c:bubble3D val="0"/>
            <c:spPr>
              <a:solidFill>
                <a:srgbClr val="2196F3"/>
              </a:solidFill>
              <a:effectLst/>
            </c:spPr>
            <c:extLst>
              <c:ext xmlns:c16="http://schemas.microsoft.com/office/drawing/2014/chart" uri="{C3380CC4-5D6E-409C-BE32-E72D297353CC}">
                <c16:uniqueId val="{0000000D-3A99-4B82-932F-D0C1FAC10B75}"/>
              </c:ext>
            </c:extLst>
          </c:dPt>
          <c:dPt>
            <c:idx val="7"/>
            <c:invertIfNegative val="0"/>
            <c:bubble3D val="0"/>
            <c:spPr>
              <a:solidFill>
                <a:srgbClr val="4CAF50"/>
              </a:solidFill>
              <a:effectLst/>
            </c:spPr>
            <c:extLst>
              <c:ext xmlns:c16="http://schemas.microsoft.com/office/drawing/2014/chart" uri="{C3380CC4-5D6E-409C-BE32-E72D297353CC}">
                <c16:uniqueId val="{0000000F-3A99-4B82-932F-D0C1FAC10B75}"/>
              </c:ext>
            </c:extLst>
          </c:dPt>
          <c:dPt>
            <c:idx val="8"/>
            <c:invertIfNegative val="0"/>
            <c:bubble3D val="0"/>
            <c:spPr>
              <a:solidFill>
                <a:srgbClr val="2196F3"/>
              </a:solidFill>
              <a:effectLst/>
            </c:spPr>
            <c:extLst>
              <c:ext xmlns:c16="http://schemas.microsoft.com/office/drawing/2014/chart" uri="{C3380CC4-5D6E-409C-BE32-E72D297353CC}">
                <c16:uniqueId val="{00000011-3A99-4B82-932F-D0C1FAC10B75}"/>
              </c:ext>
            </c:extLst>
          </c:dPt>
          <c:dPt>
            <c:idx val="9"/>
            <c:invertIfNegative val="0"/>
            <c:bubble3D val="0"/>
            <c:spPr>
              <a:solidFill>
                <a:srgbClr val="4CAF50"/>
              </a:solidFill>
              <a:effectLst/>
            </c:spPr>
            <c:extLst>
              <c:ext xmlns:c16="http://schemas.microsoft.com/office/drawing/2014/chart" uri="{C3380CC4-5D6E-409C-BE32-E72D297353CC}">
                <c16:uniqueId val="{00000013-3A99-4B82-932F-D0C1FAC10B75}"/>
              </c:ext>
            </c:extLst>
          </c:dPt>
          <c:dLbls>
            <c:numFmt formatCode="#,##0" sourceLinked="0"/>
            <c:spPr>
              <a:noFill/>
              <a:ln>
                <a:noFill/>
              </a:ln>
              <a:effectLst/>
            </c:spPr>
            <c:txPr>
              <a:bodyPr/>
              <a:lstStyle/>
              <a:p>
                <a:pPr>
                  <a:defRPr sz="1200" b="0" i="0" u="none" strike="noStrike">
                    <a:solidFill>
                      <a:srgbClr val="455A64"/>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grade_unknown</c:v>
                </c:pt>
                <c:pt idx="1">
                  <c:v>cam1_max_tear</c:v>
                </c:pt>
                <c:pt idx="2">
                  <c:v>printer_FO51</c:v>
                </c:pt>
                <c:pt idx="3">
                  <c:v>pap_len</c:v>
                </c:pt>
                <c:pt idx="4">
                  <c:v>cam2_max_tear</c:v>
                </c:pt>
                <c:pt idx="5">
                  <c:v>printer_FO38</c:v>
                </c:pt>
                <c:pt idx="6">
                  <c:v>grammage_weight</c:v>
                </c:pt>
                <c:pt idx="7">
                  <c:v>cam1_tear_instability</c:v>
                </c:pt>
                <c:pt idx="8">
                  <c:v>speed</c:v>
                </c:pt>
                <c:pt idx="9">
                  <c:v>cam2_std_kanten</c:v>
                </c:pt>
              </c:strCache>
            </c:strRef>
          </c:cat>
          <c:val>
            <c:numRef>
              <c:f>Sheet1!$B$2:$B$11</c:f>
              <c:numCache>
                <c:formatCode>General</c:formatCode>
                <c:ptCount val="10"/>
                <c:pt idx="0">
                  <c:v>3.1E-2</c:v>
                </c:pt>
                <c:pt idx="1">
                  <c:v>3.1E-2</c:v>
                </c:pt>
                <c:pt idx="2">
                  <c:v>2.8000000000000001E-2</c:v>
                </c:pt>
                <c:pt idx="3">
                  <c:v>2.5999999999999999E-2</c:v>
                </c:pt>
                <c:pt idx="4">
                  <c:v>2.4E-2</c:v>
                </c:pt>
                <c:pt idx="5">
                  <c:v>2.1999999999999999E-2</c:v>
                </c:pt>
                <c:pt idx="6">
                  <c:v>1.9E-2</c:v>
                </c:pt>
                <c:pt idx="7">
                  <c:v>1.7000000000000001E-2</c:v>
                </c:pt>
                <c:pt idx="8">
                  <c:v>1.4999999999999999E-2</c:v>
                </c:pt>
                <c:pt idx="9">
                  <c:v>1.2999999999999999E-2</c:v>
                </c:pt>
              </c:numCache>
            </c:numRef>
          </c:val>
          <c:extLst>
            <c:ext xmlns:c16="http://schemas.microsoft.com/office/drawing/2014/chart" uri="{C3380CC4-5D6E-409C-BE32-E72D297353CC}">
              <c16:uniqueId val="{00000014-3A99-4B82-932F-D0C1FAC10B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55A64"/>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226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Good morning. I am Vaishnavi Sreekumar and this is my master's thesis titled Time Series Classification for Paper Web Breaks, in collaboration with Bertelsmann Marketing Services.</a:t>
            </a:r>
          </a:p>
          <a:p>
            <a:endParaRPr lang="en-US" dirty="0"/>
          </a:p>
          <a:p>
            <a:r>
              <a:rPr lang="en-US" dirty="0"/>
              <a:t>So Lets first understand what a paper web break is,</a:t>
            </a:r>
          </a:p>
          <a:p>
            <a:r>
              <a:rPr lang="en-US" dirty="0"/>
              <a:t> when a paper roll passes through a printing press — as shown in the picture here — and it tears that’s the web break, and its  cause needs to be identified. Currently this is done manually by domain experts. My thesis works on automating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 me start with why this matters commercially.</a:t>
            </a:r>
          </a:p>
          <a:p>
            <a:endParaRPr lang="en-US" dirty="0"/>
          </a:p>
          <a:p>
            <a:r>
              <a:rPr lang="en-US" dirty="0"/>
              <a:t>Every time a break happens the press stops for 20 to 40 minutes. That costs between 335 and 743 euros per incident, and it happens 3 to 5 times per 100 rolls — so it adds up fast. The classification matters because if it's the paper's fault you complain to the supplier. If it's the machine's fault you fix the press preventing further stoppages. Getting it wrong in either direction has real consequences. The question is — can we build something reliable enough to automate this?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4AB8-8877-C518-6384-B8F88FFB6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836FD-E7A1-2A01-DFB4-04C8224E79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18F1F45-3924-3261-434F-8850F674B0CD}"/>
              </a:ext>
            </a:extLst>
          </p:cNvPr>
          <p:cNvSpPr>
            <a:spLocks noGrp="1"/>
          </p:cNvSpPr>
          <p:nvPr>
            <p:ph type="body" sz="quarter" idx="3"/>
          </p:nvPr>
        </p:nvSpPr>
        <p:spPr/>
        <p:txBody>
          <a:bodyPr/>
          <a:lstStyle/>
          <a:p>
            <a:r>
              <a:rPr lang="en-US" dirty="0"/>
              <a:t>To answer that, let's look at what we're working with. This is a short clip of a recorded web break event at </a:t>
            </a:r>
            <a:r>
              <a:rPr lang="en-US" dirty="0" err="1"/>
              <a:t>bertelsmann</a:t>
            </a:r>
            <a:r>
              <a:rPr lang="en-US" dirty="0"/>
              <a:t>. </a:t>
            </a:r>
          </a:p>
          <a:p>
            <a:endParaRPr lang="en-US" dirty="0"/>
          </a:p>
          <a:p>
            <a:r>
              <a:rPr lang="en-US" dirty="0"/>
              <a:t>When every break happens the entire event is recorded, saved as a JSON file as shown here, where its broken into frames — around 1500 per event out of which only the 300 frames before the break are the discriminative ones— and each frame gets scored across 5 defect channels by the camera as in the right bottom image, which is our time series data and there are 2 cameras so it becomes 10 channels in total. </a:t>
            </a:r>
          </a:p>
        </p:txBody>
      </p:sp>
      <p:sp>
        <p:nvSpPr>
          <p:cNvPr id="4" name="Slide Number Placeholder 3">
            <a:extLst>
              <a:ext uri="{FF2B5EF4-FFF2-40B4-BE49-F238E27FC236}">
                <a16:creationId xmlns:a16="http://schemas.microsoft.com/office/drawing/2014/main" id="{8D8AE426-D4C6-6661-1706-FD8429E1CA51}"/>
              </a:ext>
            </a:extLst>
          </p:cNvPr>
          <p:cNvSpPr>
            <a:spLocks noGrp="1"/>
          </p:cNvSpPr>
          <p:nvPr>
            <p:ph type="sldNum" sz="quarter" idx="5"/>
          </p:nvPr>
        </p:nvSpPr>
        <p:spPr/>
      </p:sp>
    </p:spTree>
    <p:extLst>
      <p:ext uri="{BB962C8B-B14F-4D97-AF65-F5344CB8AC3E}">
        <p14:creationId xmlns:p14="http://schemas.microsoft.com/office/powerpoint/2010/main" val="2390674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Our dataset has 14,073 such events from a single Bertelsmann facility, collected from July 2021 to December 2024. 84% are machine-caused, only 16% are paper-caused. Accuracy is not very useful as a metric here — a model that always predicts machine-caused gets 84% accuracy. We use AUC instead, which measures how well the model separates the two classes across all thresholds. And to keep that 84/16 split consistent across evaluation we use stratified 3-fold cross-validation.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this thesis There are Three questions that drove our investigation — can deep learning classify this from the raw signal, can pre-trained models transfer their knowledge to this task, and does a tabular feature representation outperform end-to-end learning?</a:t>
            </a:r>
          </a:p>
          <a:p>
            <a:r>
              <a:rPr lang="en-US" dirty="0"/>
              <a:t>To test this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rPr lang="en-US" dirty="0"/>
              <a:t>we cover six deep learning architectures,  Chronos-2 and GPT-4o for pre-trained models, and XGBoost for tabular feature engineering.</a:t>
            </a:r>
          </a:p>
          <a:p>
            <a:endParaRPr lang="en-US" dirty="0"/>
          </a:p>
          <a:p>
            <a:r>
              <a:rPr lang="en-US" dirty="0"/>
              <a:t>XGBoost achieves the best overall AUC of 0.86. About AUC, If AUC is 0.5 model has not learned anything and if its nearing 1 that’s the perfect model. </a:t>
            </a:r>
            <a:r>
              <a:rPr lang="en-US" dirty="0" err="1"/>
              <a:t>TapNet</a:t>
            </a:r>
            <a:r>
              <a:rPr lang="en-US" dirty="0"/>
              <a:t>, the best deep learning model, reaches 0.77.</a:t>
            </a:r>
          </a:p>
          <a:p>
            <a:r>
              <a:rPr lang="en-US" dirty="0"/>
              <a:t>The model families weren't chosen arbitrarily — each one directly addresses the limitation of the one before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Convolutional models only look at small percent of frames at a time out of 300 so they miss the global slope entirely. 0.68-0.73.</a:t>
            </a:r>
          </a:p>
          <a:p>
            <a:r>
              <a:rPr lang="en-US" dirty="0"/>
              <a:t>LSTM reads all 300 frames sequentially, but by the time it reaches the end the early frames are mostly forgotten. 0.70.</a:t>
            </a:r>
          </a:p>
        </p:txBody>
      </p:sp>
    </p:spTree>
    <p:extLst>
      <p:ext uri="{BB962C8B-B14F-4D97-AF65-F5344CB8AC3E}">
        <p14:creationId xmlns:p14="http://schemas.microsoft.com/office/powerpoint/2010/main" val="260364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Transformer fixes that — every frame attends to every other simultaneously. But with such less minority class examples and 720,000 attention weights to learn, it's too underspecified. 0.67, worse than the LSTM.</a:t>
            </a:r>
          </a:p>
          <a:p>
            <a:r>
              <a:rPr lang="en-US" dirty="0" err="1"/>
              <a:t>TapNet</a:t>
            </a:r>
            <a:r>
              <a:rPr lang="en-US" dirty="0"/>
              <a:t> solves the data problem — instead of learning all those pairwise weights it just learns one prototype per class. Much simpler, and it actually matches the signal structure. Best deep learning result at 0.77.</a:t>
            </a:r>
          </a:p>
        </p:txBody>
      </p:sp>
    </p:spTree>
    <p:extLst>
      <p:ext uri="{BB962C8B-B14F-4D97-AF65-F5344CB8AC3E}">
        <p14:creationId xmlns:p14="http://schemas.microsoft.com/office/powerpoint/2010/main" val="54741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EF067-7A56-1E50-2672-C6674E089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5BD49-BC3C-2A0D-DDE7-6DA8B2CADAEE}"/>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16CD5B0-D91F-9B23-61C8-500222AF2DCD}"/>
              </a:ext>
            </a:extLst>
          </p:cNvPr>
          <p:cNvSpPr>
            <a:spLocks noGrp="1"/>
          </p:cNvSpPr>
          <p:nvPr>
            <p:ph type="body" idx="1"/>
          </p:nvPr>
        </p:nvSpPr>
        <p:spPr>
          <a:xfrm>
            <a:off x="685800" y="4400550"/>
            <a:ext cx="5486400" cy="3600450"/>
          </a:xfrm>
          <a:prstGeom prst="rect">
            <a:avLst/>
          </a:prstGeom>
        </p:spPr>
        <p:txBody>
          <a:bodyPr/>
          <a:lstStyle/>
          <a:p>
            <a:r>
              <a:rPr lang="en-US" dirty="0"/>
              <a:t>But </a:t>
            </a:r>
            <a:r>
              <a:rPr lang="en-US" dirty="0" err="1"/>
              <a:t>TapNet</a:t>
            </a:r>
            <a:r>
              <a:rPr lang="en-US" dirty="0"/>
              <a:t> hits a wall — it can't naturally use operational metadata. And with every raw time series data we also have metadata like  Paper grade, press speed, printer identity — these are static values, not sequences. Forcing them via a workaround like early fusion only gains 0.04.</a:t>
            </a:r>
          </a:p>
          <a:p>
            <a:endParaRPr lang="en-US" dirty="0"/>
          </a:p>
          <a:p>
            <a:r>
              <a:rPr lang="en-US" dirty="0"/>
              <a:t>And, to check whether large language models or pre trained models transfer their learnings to our specific task we tested </a:t>
            </a:r>
            <a:r>
              <a:rPr lang="en-US" dirty="0" err="1"/>
              <a:t>chronos</a:t>
            </a:r>
            <a:r>
              <a:rPr lang="en-US" dirty="0"/>
              <a:t> and gpt40 on our data and the result is they don't help. Naturally Chronos was trained to forecast, not classify. GPT-4o can't execute numerical threshold logic — it treats rules as language patterns. Both fall below the CNN baseline.</a:t>
            </a:r>
          </a:p>
        </p:txBody>
      </p:sp>
    </p:spTree>
    <p:extLst>
      <p:ext uri="{BB962C8B-B14F-4D97-AF65-F5344CB8AC3E}">
        <p14:creationId xmlns:p14="http://schemas.microsoft.com/office/powerpoint/2010/main" val="345367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05BD9-2E11-0A14-B9F4-BF13AC4F7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263DE-8503-0AF1-47B4-B0450052C478}"/>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5A4A820-2F6B-8DEB-4891-7D9E552C9FC9}"/>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XGBoost on the other hand, solves it cleanly — we convert the time series into engineered features, put the metadata right along with these signal features and gradient boosted trees handle exactly this kind of mix natively. So we get the best overall </a:t>
            </a:r>
            <a:r>
              <a:rPr lang="en-US" dirty="0" err="1"/>
              <a:t>auc</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what this progression shows is basically our data signal is global not local so local models like convolutional fails, </a:t>
            </a:r>
            <a:r>
              <a:rPr lang="en-US" dirty="0" err="1"/>
              <a:t>lstms</a:t>
            </a:r>
            <a:r>
              <a:rPr lang="en-US" dirty="0"/>
              <a:t> fades over our sequence, attention </a:t>
            </a:r>
            <a:r>
              <a:rPr lang="en-US" dirty="0" err="1"/>
              <a:t>nased</a:t>
            </a:r>
            <a:r>
              <a:rPr lang="en-US" dirty="0"/>
              <a:t> ones need more data, prototype based models like </a:t>
            </a:r>
            <a:r>
              <a:rPr lang="en-US" dirty="0" err="1"/>
              <a:t>tapnet</a:t>
            </a:r>
            <a:r>
              <a:rPr lang="en-US" dirty="0"/>
              <a:t> has reduce data needs but has no way to add metadata </a:t>
            </a:r>
            <a:r>
              <a:rPr lang="en-US" dirty="0" err="1"/>
              <a:t>fioelds</a:t>
            </a:r>
            <a:r>
              <a:rPr lang="en-US" dirty="0"/>
              <a:t> and the tabular representation unlocks metadata plus signal structure.</a:t>
            </a:r>
            <a:endParaRPr lang="de-DE" dirty="0"/>
          </a:p>
        </p:txBody>
      </p:sp>
    </p:spTree>
    <p:extLst>
      <p:ext uri="{BB962C8B-B14F-4D97-AF65-F5344CB8AC3E}">
        <p14:creationId xmlns:p14="http://schemas.microsoft.com/office/powerpoint/2010/main" val="784684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Now, what goes into that tabular representation?</a:t>
            </a:r>
          </a:p>
          <a:p>
            <a:endParaRPr lang="en-US" dirty="0"/>
          </a:p>
          <a:p>
            <a:r>
              <a:rPr lang="en-US" dirty="0"/>
              <a:t>The signal intensity like the Camera features — slope, mean, max across all 300 frames. The slope is the key one — it directly captures gradual deterioration that no conv model could ever see because you need the full 300 frames to compute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the trajectory shape that’s the temporal features — early window versus late window mean, the delta between them, peak sharpness. Basically what captures the signal shape.</a:t>
            </a:r>
          </a:p>
          <a:p>
            <a:r>
              <a:rPr lang="en-US" dirty="0"/>
              <a:t>Then the cross-camera tear difference . Paper breaks happen asymmetrically, one side tears before the other. Machine faults hit both cameras uniformly. </a:t>
            </a:r>
          </a:p>
          <a:p>
            <a:r>
              <a:rPr lang="en-US" dirty="0"/>
              <a:t>And that’s captured by this cross camera signal.</a:t>
            </a:r>
          </a:p>
          <a:p>
            <a:endParaRPr lang="en-US" dirty="0"/>
          </a:p>
          <a:p>
            <a:r>
              <a:rPr lang="en-US" dirty="0"/>
              <a:t>And finally the operational metadata — grade, speed, printer, paper length — passed in directly. XGBoost splits on paper grade in the very first node with zero learning overhead. That's where the AUC comes from.</a:t>
            </a:r>
          </a:p>
          <a:p>
            <a:r>
              <a:rPr lang="en-US" dirty="0"/>
              <a:t>68 features total, each one encoding something a domain expert already knows.</a:t>
            </a:r>
          </a:p>
        </p:txBody>
      </p:sp>
    </p:spTree>
    <p:extLst>
      <p:ext uri="{BB962C8B-B14F-4D97-AF65-F5344CB8AC3E}">
        <p14:creationId xmlns:p14="http://schemas.microsoft.com/office/powerpoint/2010/main" val="2568484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What does XGBoost actually do with these 68 features?</a:t>
            </a:r>
          </a:p>
          <a:p>
            <a:r>
              <a:rPr lang="en-US" dirty="0"/>
              <a:t>These features act as an input to the model and It builds a sequence of simple yes/no decision trees. At the very top, it asks — is the tear signal high? And I didn't tell it to do that — the model found it from the data. </a:t>
            </a:r>
          </a:p>
          <a:p>
            <a:r>
              <a:rPr lang="en-US" dirty="0"/>
              <a:t>If the tear is above 0.80 then check if paper grade is A if yes it’s a paper break add some points if tear is not higher than 0.80 check if slope of tear is higher than 0.10 If </a:t>
            </a:r>
            <a:r>
              <a:rPr lang="en-US" dirty="0" err="1"/>
              <a:t>ys</a:t>
            </a:r>
            <a:r>
              <a:rPr lang="en-US" dirty="0"/>
              <a:t> it’s a machine break so minus a few points, this addition of points for paper tear </a:t>
            </a:r>
            <a:r>
              <a:rPr lang="en-US" dirty="0" err="1"/>
              <a:t>necause</a:t>
            </a:r>
            <a:r>
              <a:rPr lang="en-US" dirty="0"/>
              <a:t> its labelled as 1 and machine is labelled as 0.</a:t>
            </a:r>
          </a:p>
          <a:p>
            <a:r>
              <a:rPr lang="en-US" dirty="0"/>
              <a:t>Around 250 such trees are used and the final prediction is just the sum of all those votes.</a:t>
            </a:r>
          </a:p>
          <a:p>
            <a:r>
              <a:rPr lang="en-US" dirty="0"/>
              <a:t>The model is using all the engineered features and metadata encoded and training on our labelled data in this way.</a:t>
            </a:r>
          </a:p>
        </p:txBody>
      </p:sp>
    </p:spTree>
    <p:extLst>
      <p:ext uri="{BB962C8B-B14F-4D97-AF65-F5344CB8AC3E}">
        <p14:creationId xmlns:p14="http://schemas.microsoft.com/office/powerpoint/2010/main" val="4194779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 feature importance </a:t>
            </a:r>
            <a:r>
              <a:rPr lang="en-US" dirty="0" err="1"/>
              <a:t>chart.of</a:t>
            </a:r>
            <a:r>
              <a:rPr lang="en-US" dirty="0"/>
              <a:t> paper caused events, It shows we can see the cam1 max tear importance is 0.31 and the grade unknown importance is also 0.31. One is metadata, one is camera signal. Both matter independently. Neither alone is enough.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now we finally have answers to three research questions.</a:t>
            </a:r>
          </a:p>
          <a:p>
            <a:r>
              <a:rPr lang="en-US" dirty="0"/>
              <a:t>Deep learning can partially solve this right now. Foundation models cannot transfer their learnings And domain knowledge, when encoded correctly, outperforms end-to-end learning by a decisive margin.</a:t>
            </a:r>
          </a:p>
          <a:p>
            <a:r>
              <a:rPr lang="en-US" sz="1200" b="0" i="0" kern="1200" dirty="0">
                <a:solidFill>
                  <a:schemeClr val="tx1"/>
                </a:solidFill>
                <a:effectLst/>
                <a:latin typeface="+mn-lt"/>
                <a:ea typeface="+mn-ea"/>
                <a:cs typeface="+mn-cs"/>
              </a:rPr>
              <a:t>Here's the key finding though — without metadata, XGBoost was 0.79 and </a:t>
            </a:r>
            <a:r>
              <a:rPr lang="en-US" sz="1200" b="0" i="0" kern="1200" dirty="0" err="1">
                <a:solidFill>
                  <a:schemeClr val="tx1"/>
                </a:solidFill>
                <a:effectLst/>
                <a:latin typeface="+mn-lt"/>
                <a:ea typeface="+mn-ea"/>
                <a:cs typeface="+mn-cs"/>
              </a:rPr>
              <a:t>TapNet</a:t>
            </a:r>
            <a:r>
              <a:rPr lang="en-US" sz="1200" b="0" i="0" kern="1200" dirty="0">
                <a:solidFill>
                  <a:schemeClr val="tx1"/>
                </a:solidFill>
                <a:effectLst/>
                <a:latin typeface="+mn-lt"/>
                <a:ea typeface="+mn-ea"/>
                <a:cs typeface="+mn-cs"/>
              </a:rPr>
              <a:t> was 0.77. Almost the same. The moment you add metadata that was just sitting in the event file, XGBoost jumps to 0.86. </a:t>
            </a:r>
            <a:r>
              <a:rPr lang="en-US" sz="1200" b="0" i="0" kern="1200" dirty="0" err="1">
                <a:solidFill>
                  <a:schemeClr val="tx1"/>
                </a:solidFill>
                <a:effectLst/>
                <a:latin typeface="+mn-lt"/>
                <a:ea typeface="+mn-ea"/>
                <a:cs typeface="+mn-cs"/>
              </a:rPr>
              <a:t>TapNet</a:t>
            </a:r>
            <a:r>
              <a:rPr lang="en-US" sz="1200" b="0" i="0" kern="1200" dirty="0">
                <a:solidFill>
                  <a:schemeClr val="tx1"/>
                </a:solidFill>
                <a:effectLst/>
                <a:latin typeface="+mn-lt"/>
                <a:ea typeface="+mn-ea"/>
                <a:cs typeface="+mn-cs"/>
              </a:rPr>
              <a:t> only goes to 0.81. Same information, but XGBoost has a native mechanism for it which </a:t>
            </a:r>
            <a:r>
              <a:rPr lang="en-US" sz="1200" b="0" i="0" kern="1200" dirty="0" err="1">
                <a:solidFill>
                  <a:schemeClr val="tx1"/>
                </a:solidFill>
                <a:effectLst/>
                <a:latin typeface="+mn-lt"/>
                <a:ea typeface="+mn-ea"/>
                <a:cs typeface="+mn-cs"/>
              </a:rPr>
              <a:t>tapnet</a:t>
            </a:r>
            <a:r>
              <a:rPr lang="en-US" sz="1200" b="0" i="0" kern="1200" dirty="0">
                <a:solidFill>
                  <a:schemeClr val="tx1"/>
                </a:solidFill>
                <a:effectLst/>
                <a:latin typeface="+mn-lt"/>
                <a:ea typeface="+mn-ea"/>
                <a:cs typeface="+mn-cs"/>
              </a:rPr>
              <a:t> lacks.</a:t>
            </a:r>
            <a:endParaRPr lang="en-US" dirty="0"/>
          </a:p>
          <a:p>
            <a:r>
              <a:rPr lang="en-US" dirty="0"/>
              <a:t>But all three answers point to the same thing: the bottleneck was never the algorithm. It was the representation. The signal was in the data the whole time a rising tear score, a cross-camera asymmetry, a paper grade that predicts break behavior directly. </a:t>
            </a:r>
          </a:p>
          <a:p>
            <a:r>
              <a:rPr lang="en-US" dirty="0"/>
              <a:t>And XGBoost was able to learn that  but its is not the </a:t>
            </a:r>
            <a:r>
              <a:rPr lang="en-US" dirty="0" err="1"/>
              <a:t>ceiling.It</a:t>
            </a:r>
            <a:r>
              <a:rPr lang="en-US" dirty="0"/>
              <a:t> goes into prod today but the </a:t>
            </a:r>
            <a:r>
              <a:rPr lang="en-US" dirty="0" err="1"/>
              <a:t>celieng</a:t>
            </a:r>
            <a:r>
              <a:rPr lang="en-US" dirty="0"/>
              <a:t> is to make the model scale.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Talking about the deployment of the model. This is the current system. When a break happens the event is given to our model which classifies the break with confidence scores, there are three color coded zones, green means the cause is machine and model is highly </a:t>
            </a:r>
            <a:r>
              <a:rPr lang="en-US" dirty="0" err="1"/>
              <a:t>coinfident</a:t>
            </a:r>
            <a:r>
              <a:rPr lang="en-US" dirty="0"/>
              <a:t> on that, red means the cause is paper and model is again highly confident on that, and yellow means model has classified but is not very sure is uncertain and this uncertain event is the one our operators review.</a:t>
            </a:r>
          </a:p>
          <a:p>
            <a:endParaRPr lang="en-US" dirty="0"/>
          </a:p>
          <a:p>
            <a:r>
              <a:rPr lang="en-US" dirty="0" err="1"/>
              <a:t>Curerently</a:t>
            </a:r>
            <a:r>
              <a:rPr lang="en-US" dirty="0"/>
              <a:t> as we saw in previous slide everything is captured automatically metadata, camera footage, all of it already there. But at the bottom there's a manual placeholder — the operator has to review the footage and decide the cause. That judgment is time consuming and not consistent across shifts, </a:t>
            </a:r>
          </a:p>
          <a:p>
            <a:r>
              <a:rPr lang="en-US" dirty="0"/>
              <a:t>This manual step is the gap my thesis closes. My model reads the exact same data this system already produces and outputs a probability score before the operator even opens the event. Right now, Two in three paper-caused breaks get correctly flagged. One in nine machine-caused breaks gets wrongly flagged — that's the false positive rate we're operating at.</a:t>
            </a:r>
          </a:p>
          <a:p>
            <a:r>
              <a:rPr lang="en-US" dirty="0"/>
              <a:t>To talk about the next steps from here,</a:t>
            </a:r>
          </a:p>
          <a:p>
            <a:r>
              <a:rPr lang="en-US" dirty="0"/>
              <a:t>XGBoost naturally goes into production now for this </a:t>
            </a:r>
            <a:r>
              <a:rPr lang="en-US" dirty="0" err="1"/>
              <a:t>bertelsmann</a:t>
            </a:r>
            <a:r>
              <a:rPr lang="en-US" dirty="0"/>
              <a:t> facility. But as more confirmed labels accumulate and metadata-native deep learning architectures mature, </a:t>
            </a:r>
            <a:r>
              <a:rPr lang="en-US" dirty="0" err="1"/>
              <a:t>TapNet</a:t>
            </a:r>
            <a:r>
              <a:rPr lang="en-US" dirty="0"/>
              <a:t> becomes the natural successor — and at that point the approach scales beyond this facility, beyond printing, to any industrial setting where you have time series and operational context together.</a:t>
            </a:r>
          </a:p>
          <a:p>
            <a:r>
              <a:rPr lang="en-US" dirty="0"/>
              <a:t>That's the thesis. Thank You, and I would be Happy to take questions now.</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de-DE" dirty="0"/>
          </a:p>
        </p:txBody>
      </p:sp>
    </p:spTree>
    <p:extLst>
      <p:ext uri="{BB962C8B-B14F-4D97-AF65-F5344CB8AC3E}">
        <p14:creationId xmlns:p14="http://schemas.microsoft.com/office/powerpoint/2010/main" val="1747396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de-DE" dirty="0"/>
          </a:p>
        </p:txBody>
      </p:sp>
    </p:spTree>
    <p:extLst>
      <p:ext uri="{BB962C8B-B14F-4D97-AF65-F5344CB8AC3E}">
        <p14:creationId xmlns:p14="http://schemas.microsoft.com/office/powerpoint/2010/main" val="2102037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9A0E-C0C0-518F-7E41-3CD34FC3A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E4349-6F56-D2D3-734E-1111AA8B6C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34FE8B-E353-5C59-D86C-AAA8B311157F}"/>
              </a:ext>
            </a:extLst>
          </p:cNvPr>
          <p:cNvSpPr>
            <a:spLocks noGrp="1"/>
          </p:cNvSpPr>
          <p:nvPr>
            <p:ph type="body" sz="quarter" idx="3"/>
          </p:nvPr>
        </p:nvSpPr>
        <p:spPr/>
        <p:txBody>
          <a:bodyPr/>
          <a:lstStyle/>
          <a:p>
            <a:r>
              <a:rPr lang="de-DE" dirty="0"/>
              <a:t>The orange </a:t>
            </a:r>
            <a:r>
              <a:rPr lang="de-DE" dirty="0" err="1"/>
              <a:t>is</a:t>
            </a:r>
            <a:r>
              <a:rPr lang="de-DE" dirty="0"/>
              <a:t> a </a:t>
            </a:r>
            <a:r>
              <a:rPr lang="de-DE" dirty="0" err="1"/>
              <a:t>paper</a:t>
            </a:r>
            <a:r>
              <a:rPr lang="de-DE" dirty="0"/>
              <a:t> </a:t>
            </a:r>
            <a:r>
              <a:rPr lang="de-DE" dirty="0" err="1"/>
              <a:t>caused</a:t>
            </a:r>
            <a:r>
              <a:rPr lang="de-DE" dirty="0"/>
              <a:t> break </a:t>
            </a:r>
            <a:r>
              <a:rPr lang="de-DE" dirty="0" err="1"/>
              <a:t>events</a:t>
            </a:r>
            <a:r>
              <a:rPr lang="de-DE" dirty="0"/>
              <a:t> and </a:t>
            </a:r>
            <a:r>
              <a:rPr lang="de-DE" dirty="0" err="1"/>
              <a:t>blue</a:t>
            </a:r>
            <a:r>
              <a:rPr lang="de-DE" dirty="0"/>
              <a:t> </a:t>
            </a:r>
            <a:r>
              <a:rPr lang="de-DE" dirty="0" err="1"/>
              <a:t>is</a:t>
            </a:r>
            <a:r>
              <a:rPr lang="de-DE" dirty="0"/>
              <a:t> </a:t>
            </a:r>
            <a:r>
              <a:rPr lang="de-DE" dirty="0" err="1"/>
              <a:t>machine</a:t>
            </a:r>
            <a:r>
              <a:rPr lang="de-DE" dirty="0"/>
              <a:t> </a:t>
            </a:r>
            <a:r>
              <a:rPr lang="de-DE" dirty="0" err="1"/>
              <a:t>caused</a:t>
            </a:r>
            <a:r>
              <a:rPr lang="de-DE" dirty="0"/>
              <a:t>, </a:t>
            </a:r>
            <a:r>
              <a:rPr lang="de-DE" dirty="0" err="1"/>
              <a:t>we</a:t>
            </a:r>
            <a:r>
              <a:rPr lang="de-DE" dirty="0"/>
              <a:t> </a:t>
            </a:r>
            <a:r>
              <a:rPr lang="de-DE" dirty="0" err="1"/>
              <a:t>can</a:t>
            </a:r>
            <a:r>
              <a:rPr lang="de-DE" dirty="0"/>
              <a:t> </a:t>
            </a:r>
            <a:r>
              <a:rPr lang="de-DE" dirty="0" err="1"/>
              <a:t>see</a:t>
            </a:r>
            <a:r>
              <a:rPr lang="de-DE" dirty="0"/>
              <a:t> in </a:t>
            </a:r>
            <a:r>
              <a:rPr lang="de-DE" dirty="0" err="1"/>
              <a:t>the</a:t>
            </a:r>
            <a:r>
              <a:rPr lang="de-DE" dirty="0"/>
              <a:t> 500 frame </a:t>
            </a:r>
            <a:r>
              <a:rPr lang="de-DE" dirty="0" err="1"/>
              <a:t>window</a:t>
            </a:r>
            <a:r>
              <a:rPr lang="de-DE" dirty="0"/>
              <a:t> </a:t>
            </a:r>
            <a:r>
              <a:rPr lang="de-DE" dirty="0" err="1"/>
              <a:t>the</a:t>
            </a:r>
            <a:r>
              <a:rPr lang="de-DE" dirty="0"/>
              <a:t> </a:t>
            </a:r>
            <a:r>
              <a:rPr lang="de-DE" dirty="0" err="1"/>
              <a:t>separation</a:t>
            </a:r>
            <a:r>
              <a:rPr lang="de-DE" dirty="0"/>
              <a:t> in </a:t>
            </a:r>
            <a:r>
              <a:rPr lang="de-DE" dirty="0" err="1"/>
              <a:t>the</a:t>
            </a:r>
            <a:r>
              <a:rPr lang="de-DE" dirty="0"/>
              <a:t> </a:t>
            </a:r>
            <a:r>
              <a:rPr lang="de-DE" dirty="0" err="1"/>
              <a:t>two</a:t>
            </a:r>
            <a:r>
              <a:rPr lang="de-DE" dirty="0"/>
              <a:t> </a:t>
            </a:r>
            <a:r>
              <a:rPr lang="de-DE" dirty="0" err="1"/>
              <a:t>classes</a:t>
            </a:r>
            <a:r>
              <a:rPr lang="de-DE" dirty="0"/>
              <a:t> </a:t>
            </a:r>
            <a:r>
              <a:rPr lang="de-DE" dirty="0" err="1"/>
              <a:t>start</a:t>
            </a:r>
            <a:r>
              <a:rPr lang="de-DE" dirty="0"/>
              <a:t> </a:t>
            </a:r>
            <a:r>
              <a:rPr lang="de-DE" dirty="0" err="1"/>
              <a:t>only</a:t>
            </a:r>
            <a:r>
              <a:rPr lang="de-DE" dirty="0"/>
              <a:t> after 300 </a:t>
            </a:r>
            <a:r>
              <a:rPr lang="de-DE" dirty="0" err="1"/>
              <a:t>before</a:t>
            </a:r>
            <a:r>
              <a:rPr lang="de-DE" dirty="0"/>
              <a:t> </a:t>
            </a:r>
            <a:r>
              <a:rPr lang="de-DE" dirty="0" err="1"/>
              <a:t>that</a:t>
            </a:r>
            <a:r>
              <a:rPr lang="de-DE" dirty="0"/>
              <a:t> </a:t>
            </a:r>
            <a:r>
              <a:rPr lang="de-DE" dirty="0" err="1"/>
              <a:t>both</a:t>
            </a:r>
            <a:r>
              <a:rPr lang="de-DE" dirty="0"/>
              <a:t> </a:t>
            </a:r>
            <a:r>
              <a:rPr lang="de-DE" dirty="0" err="1"/>
              <a:t>events</a:t>
            </a:r>
            <a:r>
              <a:rPr lang="de-DE" dirty="0"/>
              <a:t> </a:t>
            </a:r>
            <a:r>
              <a:rPr lang="de-DE" dirty="0" err="1"/>
              <a:t>exactly</a:t>
            </a:r>
            <a:r>
              <a:rPr lang="de-DE" dirty="0"/>
              <a:t> </a:t>
            </a:r>
            <a:r>
              <a:rPr lang="de-DE" dirty="0" err="1"/>
              <a:t>show</a:t>
            </a:r>
            <a:r>
              <a:rPr lang="de-DE" dirty="0"/>
              <a:t> </a:t>
            </a:r>
            <a:r>
              <a:rPr lang="de-DE" dirty="0" err="1"/>
              <a:t>the</a:t>
            </a:r>
            <a:r>
              <a:rPr lang="de-DE" dirty="0"/>
              <a:t> same </a:t>
            </a:r>
            <a:r>
              <a:rPr lang="de-DE" dirty="0" err="1"/>
              <a:t>pattern</a:t>
            </a:r>
            <a:r>
              <a:rPr lang="de-DE" dirty="0"/>
              <a:t>.</a:t>
            </a:r>
            <a:endParaRPr dirty="0"/>
          </a:p>
        </p:txBody>
      </p:sp>
      <p:sp>
        <p:nvSpPr>
          <p:cNvPr id="4" name="Slide Number Placeholder 3">
            <a:extLst>
              <a:ext uri="{FF2B5EF4-FFF2-40B4-BE49-F238E27FC236}">
                <a16:creationId xmlns:a16="http://schemas.microsoft.com/office/drawing/2014/main" id="{55C0CE94-01E2-328F-D2B3-EE6583E88F73}"/>
              </a:ext>
            </a:extLst>
          </p:cNvPr>
          <p:cNvSpPr>
            <a:spLocks noGrp="1"/>
          </p:cNvSpPr>
          <p:nvPr>
            <p:ph type="sldNum" sz="quarter" idx="5"/>
          </p:nvPr>
        </p:nvSpPr>
        <p:spPr/>
      </p:sp>
    </p:spTree>
    <p:extLst>
      <p:ext uri="{BB962C8B-B14F-4D97-AF65-F5344CB8AC3E}">
        <p14:creationId xmlns:p14="http://schemas.microsoft.com/office/powerpoint/2010/main" val="1489455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9E723-9586-2258-8943-C156DD2E3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63EEB-A09A-0F73-3020-575B04875E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DDDE1A4-D7D1-8F4E-08C9-56CB523DD109}"/>
              </a:ext>
            </a:extLst>
          </p:cNvPr>
          <p:cNvSpPr>
            <a:spLocks noGrp="1"/>
          </p:cNvSpPr>
          <p:nvPr>
            <p:ph type="body" sz="quarter" idx="3"/>
          </p:nvPr>
        </p:nvSpPr>
        <p:spPr/>
        <p:txBody>
          <a:bodyPr/>
          <a:lstStyle/>
          <a:p>
            <a:r>
              <a:rPr lang="en-US" dirty="0"/>
              <a:t>Machine-caused breaks show a gradual progressive decline in no defect across the full 300 frames, with a slow exponential tear build-up beginning well before rupture, consistent with incremental mechanical deterioration. Paper-caused breaks maintain stable no defect scores until approximately 50 frames before the peak, then change sharply, consistent with sudden failure at a </a:t>
            </a:r>
            <a:r>
              <a:rPr lang="en-US" dirty="0" err="1"/>
              <a:t>localised</a:t>
            </a:r>
            <a:r>
              <a:rPr lang="en-US" dirty="0"/>
              <a:t> paper weakness. These distinct signatures are the core signal that classification models in this thesis are trained to detect,</a:t>
            </a:r>
            <a:endParaRPr dirty="0"/>
          </a:p>
        </p:txBody>
      </p:sp>
      <p:sp>
        <p:nvSpPr>
          <p:cNvPr id="4" name="Slide Number Placeholder 3">
            <a:extLst>
              <a:ext uri="{FF2B5EF4-FFF2-40B4-BE49-F238E27FC236}">
                <a16:creationId xmlns:a16="http://schemas.microsoft.com/office/drawing/2014/main" id="{11D6F2D0-EBDA-17B8-72F4-D4821E807127}"/>
              </a:ext>
            </a:extLst>
          </p:cNvPr>
          <p:cNvSpPr>
            <a:spLocks noGrp="1"/>
          </p:cNvSpPr>
          <p:nvPr>
            <p:ph type="sldNum" sz="quarter" idx="5"/>
          </p:nvPr>
        </p:nvSpPr>
        <p:spPr/>
      </p:sp>
    </p:spTree>
    <p:extLst>
      <p:ext uri="{BB962C8B-B14F-4D97-AF65-F5344CB8AC3E}">
        <p14:creationId xmlns:p14="http://schemas.microsoft.com/office/powerpoint/2010/main" val="2768421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a:t>
            </a:r>
            <a:br/>
            <a:br/>
            <a:r>
              <a:t>Before the results, the training loss curves are worth a moment — because they reveal the difference between learning and memorising.</a:t>
            </a:r>
            <a:br/>
            <a:br/>
            <a:r>
              <a:t>The most striking comparison is ConvTimeNet versus TapNet. ConvTimeNet's loss collapses to near zero by epoch 25 — best training performance of any model. Test AUC is only 0.70. It memorised the training data. TapNet's loss oscillates throughout all 30 epochs — worst apparent convergence. Test AUC is 0.77 — the best deep learning result.</a:t>
            </a:r>
            <a:br/>
            <a:br/>
            <a:r>
              <a:t>These two curves make one point that carries through the entire thesis: under class imbalance, training loss is not a reliable indicator of generalisation quality. A model can converge perfectly and fail. A model can oscillate and succeed. The only meaningful measure is AUC on held-out test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63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565C0"/>
          </a:solidFill>
          <a:ln w="12700">
            <a:solidFill>
              <a:srgbClr val="1565C0"/>
            </a:solidFill>
            <a:prstDash val="solid"/>
          </a:ln>
        </p:spPr>
        <p:txBody>
          <a:bodyPr/>
          <a:lstStyle/>
          <a:p>
            <a:endParaRPr lang="de-DE"/>
          </a:p>
        </p:txBody>
      </p:sp>
      <p:sp>
        <p:nvSpPr>
          <p:cNvPr id="3" name="Text 1"/>
          <p:cNvSpPr/>
          <p:nvPr/>
        </p:nvSpPr>
        <p:spPr>
          <a:xfrm>
            <a:off x="457200" y="1097280"/>
            <a:ext cx="4906652" cy="1645920"/>
          </a:xfrm>
          <a:prstGeom prst="rect">
            <a:avLst/>
          </a:prstGeom>
          <a:noFill/>
          <a:ln/>
        </p:spPr>
        <p:txBody>
          <a:bodyPr wrap="square" rtlCol="0" anchor="ctr"/>
          <a:lstStyle/>
          <a:p>
            <a:pPr marL="0" indent="0" algn="l">
              <a:buNone/>
            </a:pPr>
            <a:r>
              <a:rPr lang="en-US" sz="3400" b="1" dirty="0">
                <a:solidFill>
                  <a:srgbClr val="1A1A2E"/>
                </a:solidFill>
                <a:latin typeface="Calibri" pitchFamily="34" charset="0"/>
                <a:ea typeface="Calibri" pitchFamily="34" charset="-122"/>
                <a:cs typeface="Calibri" pitchFamily="34" charset="-120"/>
              </a:rPr>
              <a:t>Time Series Classification</a:t>
            </a:r>
            <a:endParaRPr lang="en-US" sz="3400" dirty="0"/>
          </a:p>
          <a:p>
            <a:pPr marL="0" indent="0" algn="l">
              <a:buNone/>
            </a:pPr>
            <a:r>
              <a:rPr lang="en-US" sz="3400" b="1" dirty="0">
                <a:solidFill>
                  <a:srgbClr val="1A1A2E"/>
                </a:solidFill>
                <a:latin typeface="Calibri" pitchFamily="34" charset="0"/>
                <a:ea typeface="Calibri" pitchFamily="34" charset="-122"/>
                <a:cs typeface="Calibri" pitchFamily="34" charset="-120"/>
              </a:rPr>
              <a:t>for Paper Web Breaks In Print Industry</a:t>
            </a:r>
            <a:endParaRPr lang="en-US" sz="3400" dirty="0"/>
          </a:p>
        </p:txBody>
      </p:sp>
      <p:sp>
        <p:nvSpPr>
          <p:cNvPr id="4" name="Text 2"/>
          <p:cNvSpPr/>
          <p:nvPr/>
        </p:nvSpPr>
        <p:spPr>
          <a:xfrm>
            <a:off x="457200" y="2834640"/>
            <a:ext cx="8229600" cy="365760"/>
          </a:xfrm>
          <a:prstGeom prst="rect">
            <a:avLst/>
          </a:prstGeom>
          <a:noFill/>
          <a:ln/>
        </p:spPr>
        <p:txBody>
          <a:bodyPr wrap="square" lIns="0" tIns="0" rIns="0" bIns="0" rtlCol="0" anchor="ctr"/>
          <a:lstStyle/>
          <a:p>
            <a:pPr marL="0" indent="0" algn="l">
              <a:buNone/>
            </a:pPr>
            <a:r>
              <a:rPr lang="en-US" sz="1600" i="1" dirty="0">
                <a:solidFill>
                  <a:srgbClr val="1565C0"/>
                </a:solidFill>
                <a:latin typeface="Calibri" pitchFamily="34" charset="0"/>
                <a:ea typeface="Calibri" pitchFamily="34" charset="-122"/>
                <a:cs typeface="Calibri" pitchFamily="34" charset="-120"/>
              </a:rPr>
              <a:t>Master's Thesis</a:t>
            </a:r>
            <a:endParaRPr lang="en-US" sz="1600" dirty="0"/>
          </a:p>
        </p:txBody>
      </p:sp>
      <p:sp>
        <p:nvSpPr>
          <p:cNvPr id="5" name="Text 3"/>
          <p:cNvSpPr/>
          <p:nvPr/>
        </p:nvSpPr>
        <p:spPr>
          <a:xfrm>
            <a:off x="457198" y="3337560"/>
            <a:ext cx="8229601" cy="640080"/>
          </a:xfrm>
          <a:prstGeom prst="rect">
            <a:avLst/>
          </a:prstGeom>
          <a:noFill/>
          <a:ln/>
        </p:spPr>
        <p:txBody>
          <a:bodyPr wrap="square" rtlCol="0" anchor="ctr"/>
          <a:lstStyle/>
          <a:p>
            <a:pPr marL="0" indent="0" algn="l">
              <a:buNone/>
            </a:pPr>
            <a:r>
              <a:rPr lang="en-US" sz="1300" b="1" dirty="0">
                <a:solidFill>
                  <a:srgbClr val="455A64"/>
                </a:solidFill>
                <a:latin typeface="Calibri" pitchFamily="34" charset="0"/>
                <a:ea typeface="Calibri" pitchFamily="34" charset="-122"/>
                <a:cs typeface="Calibri" pitchFamily="34" charset="-120"/>
              </a:rPr>
              <a:t>Vaishnavi Sreekumar</a:t>
            </a:r>
            <a:endParaRPr lang="en-US" sz="1300" dirty="0"/>
          </a:p>
          <a:p>
            <a:pPr marL="0" indent="0" algn="l">
              <a:buNone/>
            </a:pPr>
            <a:r>
              <a:rPr lang="en-US" sz="1300" dirty="0">
                <a:solidFill>
                  <a:srgbClr val="455A64"/>
                </a:solidFill>
                <a:latin typeface="Calibri" pitchFamily="34" charset="0"/>
                <a:ea typeface="Calibri" pitchFamily="34" charset="-122"/>
                <a:cs typeface="Calibri" pitchFamily="34" charset="-120"/>
              </a:rPr>
              <a:t>University of Applied Sciences Heidelberg  |  May 2026</a:t>
            </a:r>
            <a:endParaRPr lang="en-US" sz="1300" dirty="0"/>
          </a:p>
        </p:txBody>
      </p:sp>
      <p:sp>
        <p:nvSpPr>
          <p:cNvPr id="6" name="Text 4"/>
          <p:cNvSpPr/>
          <p:nvPr/>
        </p:nvSpPr>
        <p:spPr>
          <a:xfrm>
            <a:off x="457200" y="4114800"/>
            <a:ext cx="8229600" cy="320040"/>
          </a:xfrm>
          <a:prstGeom prst="rect">
            <a:avLst/>
          </a:prstGeom>
          <a:noFill/>
          <a:ln/>
        </p:spPr>
        <p:txBody>
          <a:bodyPr wrap="square" lIns="0" tIns="0" rIns="0" bIns="0" rtlCol="0" anchor="ctr"/>
          <a:lstStyle/>
          <a:p>
            <a:pPr marL="0" indent="0" algn="l">
              <a:buNone/>
            </a:pPr>
            <a:r>
              <a:rPr lang="en-US" sz="1100" dirty="0">
                <a:solidFill>
                  <a:srgbClr val="90A4AE"/>
                </a:solidFill>
                <a:latin typeface="Calibri" pitchFamily="34" charset="0"/>
                <a:ea typeface="Calibri" pitchFamily="34" charset="-122"/>
                <a:cs typeface="Calibri" pitchFamily="34" charset="-120"/>
              </a:rPr>
              <a:t>Supervisors: Prof. Dr. Achim Gottscheber  ·  Dr. Paul Glaysher</a:t>
            </a:r>
            <a:endParaRPr lang="en-US" sz="1100" dirty="0"/>
          </a:p>
        </p:txBody>
      </p:sp>
      <p:pic>
        <p:nvPicPr>
          <p:cNvPr id="8" name="Picture 7">
            <a:extLst>
              <a:ext uri="{FF2B5EF4-FFF2-40B4-BE49-F238E27FC236}">
                <a16:creationId xmlns:a16="http://schemas.microsoft.com/office/drawing/2014/main" id="{FF91917F-ABD4-F32A-9E4A-7A65C79CC27C}"/>
              </a:ext>
            </a:extLst>
          </p:cNvPr>
          <p:cNvPicPr>
            <a:picLocks noChangeAspect="1"/>
          </p:cNvPicPr>
          <p:nvPr/>
        </p:nvPicPr>
        <p:blipFill>
          <a:blip r:embed="rId3"/>
          <a:stretch>
            <a:fillRect/>
          </a:stretch>
        </p:blipFill>
        <p:spPr>
          <a:xfrm>
            <a:off x="5463261" y="2606041"/>
            <a:ext cx="3350680" cy="2240465"/>
          </a:xfrm>
          <a:prstGeom prst="rect">
            <a:avLst/>
          </a:prstGeom>
        </p:spPr>
      </p:pic>
      <p:pic>
        <p:nvPicPr>
          <p:cNvPr id="10" name="Picture 9">
            <a:extLst>
              <a:ext uri="{FF2B5EF4-FFF2-40B4-BE49-F238E27FC236}">
                <a16:creationId xmlns:a16="http://schemas.microsoft.com/office/drawing/2014/main" id="{FA354CFC-69FE-B3D5-1D9B-74F1B1494434}"/>
              </a:ext>
            </a:extLst>
          </p:cNvPr>
          <p:cNvPicPr>
            <a:picLocks noChangeAspect="1"/>
          </p:cNvPicPr>
          <p:nvPr/>
        </p:nvPicPr>
        <p:blipFill>
          <a:blip r:embed="rId4"/>
          <a:stretch>
            <a:fillRect/>
          </a:stretch>
        </p:blipFill>
        <p:spPr>
          <a:xfrm>
            <a:off x="5463261" y="373250"/>
            <a:ext cx="3350680" cy="21642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1A2E"/>
                </a:solidFill>
                <a:latin typeface="Calibri" pitchFamily="34" charset="0"/>
                <a:ea typeface="Calibri" pitchFamily="34" charset="-122"/>
                <a:cs typeface="Calibri" pitchFamily="34" charset="-120"/>
              </a:rPr>
              <a:t>The Problem</a:t>
            </a:r>
            <a:endParaRPr lang="en-US" sz="2600" dirty="0"/>
          </a:p>
        </p:txBody>
      </p:sp>
      <p:sp>
        <p:nvSpPr>
          <p:cNvPr id="3" name="Shape 1"/>
          <p:cNvSpPr/>
          <p:nvPr/>
        </p:nvSpPr>
        <p:spPr>
          <a:xfrm flipV="1">
            <a:off x="457200" y="813815"/>
            <a:ext cx="8503920" cy="45719"/>
          </a:xfrm>
          <a:prstGeom prst="rect">
            <a:avLst/>
          </a:prstGeom>
          <a:solidFill>
            <a:srgbClr val="1565C0"/>
          </a:solidFill>
          <a:ln w="12700">
            <a:solidFill>
              <a:srgbClr val="1565C0"/>
            </a:solidFill>
            <a:prstDash val="solid"/>
          </a:ln>
        </p:spPr>
        <p:txBody>
          <a:bodyPr/>
          <a:lstStyle/>
          <a:p>
            <a:endParaRPr lang="de-DE"/>
          </a:p>
        </p:txBody>
      </p:sp>
      <p:sp>
        <p:nvSpPr>
          <p:cNvPr id="4" name="Shape 2"/>
          <p:cNvSpPr/>
          <p:nvPr/>
        </p:nvSpPr>
        <p:spPr>
          <a:xfrm>
            <a:off x="455398" y="1005283"/>
            <a:ext cx="1883132" cy="1647035"/>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sz="3200" dirty="0"/>
          </a:p>
        </p:txBody>
      </p:sp>
      <p:sp>
        <p:nvSpPr>
          <p:cNvPr id="5" name="Text 3"/>
          <p:cNvSpPr/>
          <p:nvPr/>
        </p:nvSpPr>
        <p:spPr>
          <a:xfrm>
            <a:off x="457200" y="1097280"/>
            <a:ext cx="2560320" cy="822960"/>
          </a:xfrm>
          <a:prstGeom prst="rect">
            <a:avLst/>
          </a:prstGeom>
          <a:noFill/>
          <a:ln/>
        </p:spPr>
        <p:txBody>
          <a:bodyPr wrap="square" lIns="0" tIns="0" rIns="0" bIns="0" rtlCol="0" anchor="ctr"/>
          <a:lstStyle/>
          <a:p>
            <a:pPr marL="0" indent="0" algn="ctr">
              <a:buNone/>
            </a:pPr>
            <a:endParaRPr lang="en-US" sz="5200" dirty="0"/>
          </a:p>
        </p:txBody>
      </p:sp>
      <p:sp>
        <p:nvSpPr>
          <p:cNvPr id="6" name="Text 4"/>
          <p:cNvSpPr/>
          <p:nvPr/>
        </p:nvSpPr>
        <p:spPr>
          <a:xfrm>
            <a:off x="457200" y="1995338"/>
            <a:ext cx="1718016" cy="475626"/>
          </a:xfrm>
          <a:prstGeom prst="rect">
            <a:avLst/>
          </a:prstGeom>
          <a:noFill/>
          <a:ln/>
        </p:spPr>
        <p:txBody>
          <a:bodyPr wrap="square" lIns="0" tIns="0" rIns="0" bIns="0" rtlCol="0" anchor="ctr"/>
          <a:lstStyle/>
          <a:p>
            <a:pPr marL="0" indent="0" algn="ctr">
              <a:buNone/>
            </a:pPr>
            <a:r>
              <a:rPr lang="en-US" sz="1100" dirty="0">
                <a:solidFill>
                  <a:srgbClr val="455A64"/>
                </a:solidFill>
                <a:latin typeface="Calibri" pitchFamily="34" charset="0"/>
                <a:ea typeface="Calibri" pitchFamily="34" charset="-122"/>
                <a:cs typeface="Calibri" pitchFamily="34" charset="-120"/>
              </a:rPr>
              <a:t>Cost per stoppage as per industry benchmark per incident</a:t>
            </a:r>
            <a:endParaRPr lang="en-US" sz="1100" dirty="0"/>
          </a:p>
        </p:txBody>
      </p:sp>
      <p:sp>
        <p:nvSpPr>
          <p:cNvPr id="7" name="Shape 5"/>
          <p:cNvSpPr/>
          <p:nvPr/>
        </p:nvSpPr>
        <p:spPr>
          <a:xfrm>
            <a:off x="2458489" y="1008124"/>
            <a:ext cx="1883132" cy="164475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8" name="Text 6"/>
          <p:cNvSpPr/>
          <p:nvPr/>
        </p:nvSpPr>
        <p:spPr>
          <a:xfrm>
            <a:off x="2681935" y="1413797"/>
            <a:ext cx="1405055" cy="314286"/>
          </a:xfrm>
          <a:prstGeom prst="rect">
            <a:avLst/>
          </a:prstGeom>
          <a:noFill/>
          <a:ln/>
        </p:spPr>
        <p:txBody>
          <a:bodyPr wrap="square" lIns="0" tIns="0" rIns="0" bIns="0" rtlCol="0" anchor="ctr"/>
          <a:lstStyle/>
          <a:p>
            <a:pPr marL="0" indent="0" algn="ctr">
              <a:buNone/>
            </a:pPr>
            <a:r>
              <a:rPr lang="en-US" sz="2000" b="1" dirty="0">
                <a:solidFill>
                  <a:srgbClr val="1565C0"/>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2698408" y="2115851"/>
            <a:ext cx="1405055" cy="105679"/>
          </a:xfrm>
          <a:prstGeom prst="rect">
            <a:avLst/>
          </a:prstGeom>
          <a:noFill/>
          <a:ln/>
        </p:spPr>
        <p:txBody>
          <a:bodyPr wrap="square" lIns="0" tIns="0" rIns="0" bIns="0" rtlCol="0" anchor="ctr"/>
          <a:lstStyle/>
          <a:p>
            <a:pPr marL="0" indent="0" algn="ctr">
              <a:buNone/>
            </a:pPr>
            <a:r>
              <a:rPr lang="en-US" sz="1100" dirty="0">
                <a:solidFill>
                  <a:srgbClr val="455A64"/>
                </a:solidFill>
                <a:latin typeface="Calibri" pitchFamily="34" charset="0"/>
                <a:ea typeface="Calibri" pitchFamily="34" charset="-122"/>
                <a:cs typeface="Calibri" pitchFamily="34" charset="-120"/>
              </a:rPr>
              <a:t>causes:</a:t>
            </a:r>
            <a:endParaRPr lang="en-US" sz="1100" dirty="0"/>
          </a:p>
          <a:p>
            <a:pPr marL="0" indent="0" algn="ctr">
              <a:buNone/>
            </a:pPr>
            <a:r>
              <a:rPr lang="en-US" sz="1100" dirty="0">
                <a:solidFill>
                  <a:srgbClr val="455A64"/>
                </a:solidFill>
                <a:latin typeface="Calibri" pitchFamily="34" charset="0"/>
                <a:ea typeface="Calibri" pitchFamily="34" charset="-122"/>
                <a:cs typeface="Calibri" pitchFamily="34" charset="-120"/>
              </a:rPr>
              <a:t>machine vs paper</a:t>
            </a:r>
            <a:endParaRPr lang="en-US" sz="1100" dirty="0"/>
          </a:p>
        </p:txBody>
      </p:sp>
      <p:sp>
        <p:nvSpPr>
          <p:cNvPr id="10" name="Shape 8"/>
          <p:cNvSpPr/>
          <p:nvPr/>
        </p:nvSpPr>
        <p:spPr>
          <a:xfrm>
            <a:off x="4443558" y="1022956"/>
            <a:ext cx="1942374" cy="1629917"/>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dirty="0"/>
          </a:p>
        </p:txBody>
      </p:sp>
      <p:sp>
        <p:nvSpPr>
          <p:cNvPr id="11" name="Text 9"/>
          <p:cNvSpPr/>
          <p:nvPr/>
        </p:nvSpPr>
        <p:spPr>
          <a:xfrm>
            <a:off x="4883401" y="1303658"/>
            <a:ext cx="1127760" cy="534564"/>
          </a:xfrm>
          <a:prstGeom prst="rect">
            <a:avLst/>
          </a:prstGeom>
          <a:noFill/>
          <a:ln/>
        </p:spPr>
        <p:txBody>
          <a:bodyPr wrap="square" lIns="0" tIns="0" rIns="0" bIns="0" rtlCol="0" anchor="ctr"/>
          <a:lstStyle/>
          <a:p>
            <a:pPr marL="0" indent="0" algn="ctr">
              <a:buNone/>
            </a:pPr>
            <a:r>
              <a:rPr lang="en-US" sz="2000" b="1" dirty="0">
                <a:solidFill>
                  <a:srgbClr val="1565C0"/>
                </a:solidFill>
                <a:latin typeface="Calibri" pitchFamily="34" charset="0"/>
                <a:ea typeface="Calibri" pitchFamily="34" charset="-122"/>
                <a:cs typeface="Calibri" pitchFamily="34" charset="-120"/>
              </a:rPr>
              <a:t>3 - 5%</a:t>
            </a:r>
            <a:endParaRPr lang="en-US" sz="2000" dirty="0"/>
          </a:p>
        </p:txBody>
      </p:sp>
      <p:sp>
        <p:nvSpPr>
          <p:cNvPr id="12" name="Text 10"/>
          <p:cNvSpPr/>
          <p:nvPr/>
        </p:nvSpPr>
        <p:spPr>
          <a:xfrm>
            <a:off x="4673397" y="2041462"/>
            <a:ext cx="1547768" cy="431870"/>
          </a:xfrm>
          <a:prstGeom prst="rect">
            <a:avLst/>
          </a:prstGeom>
          <a:noFill/>
          <a:ln/>
        </p:spPr>
        <p:txBody>
          <a:bodyPr wrap="square" lIns="0" tIns="0" rIns="0" bIns="0" rtlCol="0" anchor="ctr"/>
          <a:lstStyle/>
          <a:p>
            <a:pPr marL="0" indent="0" algn="ctr">
              <a:buNone/>
            </a:pPr>
            <a:r>
              <a:rPr lang="en-US" sz="1100" dirty="0">
                <a:solidFill>
                  <a:srgbClr val="455A64"/>
                </a:solidFill>
                <a:latin typeface="Calibri" pitchFamily="34" charset="0"/>
                <a:ea typeface="Calibri" pitchFamily="34" charset="-122"/>
                <a:cs typeface="Calibri" pitchFamily="34" charset="-120"/>
              </a:rPr>
              <a:t>Break rates per 100 rolls </a:t>
            </a:r>
            <a:r>
              <a:rPr lang="en-US" sz="1100" dirty="0" err="1">
                <a:solidFill>
                  <a:srgbClr val="455A64"/>
                </a:solidFill>
                <a:latin typeface="Calibri" pitchFamily="34" charset="0"/>
                <a:ea typeface="Calibri" pitchFamily="34" charset="-122"/>
                <a:cs typeface="Calibri" pitchFamily="34" charset="-120"/>
              </a:rPr>
              <a:t>componds</a:t>
            </a:r>
            <a:r>
              <a:rPr lang="en-US" sz="1100" dirty="0">
                <a:solidFill>
                  <a:srgbClr val="455A64"/>
                </a:solidFill>
                <a:latin typeface="Calibri" pitchFamily="34" charset="0"/>
                <a:ea typeface="Calibri" pitchFamily="34" charset="-122"/>
                <a:cs typeface="Calibri" pitchFamily="34" charset="-120"/>
              </a:rPr>
              <a:t> across a production year</a:t>
            </a:r>
            <a:endParaRPr lang="en-US" sz="1100" dirty="0"/>
          </a:p>
        </p:txBody>
      </p:sp>
      <p:sp>
        <p:nvSpPr>
          <p:cNvPr id="13" name="Text 11"/>
          <p:cNvSpPr/>
          <p:nvPr/>
        </p:nvSpPr>
        <p:spPr>
          <a:xfrm>
            <a:off x="411480" y="2999232"/>
            <a:ext cx="6695563" cy="448058"/>
          </a:xfrm>
          <a:prstGeom prst="rect">
            <a:avLst/>
          </a:prstGeom>
          <a:noFill/>
          <a:ln/>
        </p:spPr>
        <p:txBody>
          <a:bodyPr wrap="square" lIns="0" tIns="0" rIns="0" bIns="0" rtlCol="0" anchor="ctr"/>
          <a:lstStyle/>
          <a:p>
            <a:pPr marL="0" indent="0">
              <a:buNone/>
            </a:pPr>
            <a:r>
              <a:rPr lang="en-US" sz="1800" b="1" dirty="0">
                <a:solidFill>
                  <a:srgbClr val="1A1A2E"/>
                </a:solidFill>
                <a:latin typeface="Calibri" pitchFamily="34" charset="0"/>
                <a:ea typeface="Calibri" pitchFamily="34" charset="-122"/>
                <a:cs typeface="Calibri" pitchFamily="34" charset="-120"/>
              </a:rPr>
              <a:t>When a break happens was it the machine or the paper?</a:t>
            </a:r>
            <a:endParaRPr lang="en-US" sz="1800" dirty="0"/>
          </a:p>
        </p:txBody>
      </p:sp>
      <p:sp>
        <p:nvSpPr>
          <p:cNvPr id="14" name="Text 12"/>
          <p:cNvSpPr/>
          <p:nvPr/>
        </p:nvSpPr>
        <p:spPr>
          <a:xfrm>
            <a:off x="411480" y="3679011"/>
            <a:ext cx="5974452" cy="418886"/>
          </a:xfrm>
          <a:prstGeom prst="rect">
            <a:avLst/>
          </a:prstGeom>
          <a:noFill/>
          <a:ln/>
        </p:spPr>
        <p:txBody>
          <a:bodyPr wrap="square" lIns="0" tIns="0" rIns="0" bIns="0" rtlCol="0" anchor="ctr"/>
          <a:lstStyle/>
          <a:p>
            <a:pPr marL="0" indent="0">
              <a:buNone/>
            </a:pPr>
            <a:r>
              <a:rPr lang="en-US" sz="1300" dirty="0">
                <a:solidFill>
                  <a:srgbClr val="455A64"/>
                </a:solidFill>
                <a:latin typeface="Calibri" pitchFamily="34" charset="0"/>
                <a:ea typeface="Calibri" pitchFamily="34" charset="-122"/>
                <a:cs typeface="Calibri" pitchFamily="34" charset="-120"/>
              </a:rPr>
              <a:t>Getting paper classification wrong means blaming the supplier with real commercial consequences.</a:t>
            </a:r>
            <a:endParaRPr lang="en-US" sz="1300" dirty="0"/>
          </a:p>
        </p:txBody>
      </p:sp>
      <p:sp>
        <p:nvSpPr>
          <p:cNvPr id="15" name="Text 12">
            <a:extLst>
              <a:ext uri="{FF2B5EF4-FFF2-40B4-BE49-F238E27FC236}">
                <a16:creationId xmlns:a16="http://schemas.microsoft.com/office/drawing/2014/main" id="{5E63F7F9-A182-4FA5-1BB1-5493BCF89951}"/>
              </a:ext>
            </a:extLst>
          </p:cNvPr>
          <p:cNvSpPr/>
          <p:nvPr/>
        </p:nvSpPr>
        <p:spPr>
          <a:xfrm>
            <a:off x="411481" y="4222562"/>
            <a:ext cx="5974452" cy="533161"/>
          </a:xfrm>
          <a:prstGeom prst="rect">
            <a:avLst/>
          </a:prstGeom>
          <a:noFill/>
          <a:ln/>
        </p:spPr>
        <p:txBody>
          <a:bodyPr wrap="square" lIns="0" tIns="0" rIns="0" bIns="0" rtlCol="0" anchor="ctr"/>
          <a:lstStyle/>
          <a:p>
            <a:pPr marL="0" indent="0">
              <a:buNone/>
            </a:pPr>
            <a:r>
              <a:rPr lang="en-US" sz="1300" dirty="0">
                <a:solidFill>
                  <a:srgbClr val="455A64"/>
                </a:solidFill>
                <a:latin typeface="Calibri" pitchFamily="34" charset="0"/>
                <a:ea typeface="Calibri" pitchFamily="34" charset="-122"/>
                <a:cs typeface="Calibri" pitchFamily="34" charset="-120"/>
              </a:rPr>
              <a:t>Getting machine classification wrong means not resolving machine problems timely, resulting in recurring breaks.</a:t>
            </a:r>
            <a:endParaRPr lang="en-US" sz="1300" dirty="0"/>
          </a:p>
        </p:txBody>
      </p:sp>
      <p:sp>
        <p:nvSpPr>
          <p:cNvPr id="16" name="Text 6">
            <a:extLst>
              <a:ext uri="{FF2B5EF4-FFF2-40B4-BE49-F238E27FC236}">
                <a16:creationId xmlns:a16="http://schemas.microsoft.com/office/drawing/2014/main" id="{471326F4-DE24-BD50-0A5B-26E036A6EC5F}"/>
              </a:ext>
            </a:extLst>
          </p:cNvPr>
          <p:cNvSpPr/>
          <p:nvPr/>
        </p:nvSpPr>
        <p:spPr>
          <a:xfrm>
            <a:off x="411480" y="1255046"/>
            <a:ext cx="1512277" cy="822960"/>
          </a:xfrm>
          <a:prstGeom prst="rect">
            <a:avLst/>
          </a:prstGeom>
          <a:noFill/>
          <a:ln/>
        </p:spPr>
        <p:txBody>
          <a:bodyPr wrap="square" lIns="0" tIns="0" rIns="0" bIns="0" rtlCol="0" anchor="ctr"/>
          <a:lstStyle/>
          <a:p>
            <a:pPr marL="0" indent="0" algn="ctr">
              <a:buNone/>
            </a:pPr>
            <a:endParaRPr lang="en-US" sz="5200" dirty="0"/>
          </a:p>
        </p:txBody>
      </p:sp>
      <p:sp>
        <p:nvSpPr>
          <p:cNvPr id="17" name="Text 6">
            <a:extLst>
              <a:ext uri="{FF2B5EF4-FFF2-40B4-BE49-F238E27FC236}">
                <a16:creationId xmlns:a16="http://schemas.microsoft.com/office/drawing/2014/main" id="{CE8F3A4F-8B9E-0529-EDB7-6D1866FAB904}"/>
              </a:ext>
            </a:extLst>
          </p:cNvPr>
          <p:cNvSpPr/>
          <p:nvPr/>
        </p:nvSpPr>
        <p:spPr>
          <a:xfrm>
            <a:off x="455398" y="1934929"/>
            <a:ext cx="1718016" cy="45719"/>
          </a:xfrm>
          <a:prstGeom prst="rect">
            <a:avLst/>
          </a:prstGeom>
          <a:noFill/>
          <a:ln/>
        </p:spPr>
        <p:txBody>
          <a:bodyPr wrap="square" lIns="0" tIns="0" rIns="0" bIns="0" rtlCol="0" anchor="ctr"/>
          <a:lstStyle/>
          <a:p>
            <a:pPr algn="ctr"/>
            <a:r>
              <a:rPr lang="en-US" sz="2000" b="1" dirty="0">
                <a:solidFill>
                  <a:srgbClr val="1565C0"/>
                </a:solidFill>
                <a:latin typeface="Calibri" pitchFamily="34" charset="0"/>
                <a:ea typeface="Calibri" pitchFamily="34" charset="-122"/>
                <a:cs typeface="Calibri" pitchFamily="34" charset="-120"/>
              </a:rPr>
              <a:t>€335 - €743</a:t>
            </a:r>
            <a:endParaRPr lang="de-DE" sz="2000" dirty="0"/>
          </a:p>
          <a:p>
            <a:pPr marL="0" indent="0" algn="ctr">
              <a:buNone/>
            </a:pPr>
            <a:endParaRPr lang="en-US" sz="5200" dirty="0"/>
          </a:p>
        </p:txBody>
      </p:sp>
      <p:pic>
        <p:nvPicPr>
          <p:cNvPr id="19" name="Picture 18">
            <a:extLst>
              <a:ext uri="{FF2B5EF4-FFF2-40B4-BE49-F238E27FC236}">
                <a16:creationId xmlns:a16="http://schemas.microsoft.com/office/drawing/2014/main" id="{0529BAD8-37BB-F328-0779-EBCB4853C43F}"/>
              </a:ext>
            </a:extLst>
          </p:cNvPr>
          <p:cNvPicPr>
            <a:picLocks noChangeAspect="1"/>
          </p:cNvPicPr>
          <p:nvPr/>
        </p:nvPicPr>
        <p:blipFill>
          <a:blip r:embed="rId3"/>
          <a:stretch>
            <a:fillRect/>
          </a:stretch>
        </p:blipFill>
        <p:spPr>
          <a:xfrm>
            <a:off x="7152763" y="1022956"/>
            <a:ext cx="1808357" cy="38141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D8A984-BB9A-E9B0-A7AE-4E1DC6F40E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6BD297-2A7E-4C55-EA8F-99D7B338881C}"/>
              </a:ext>
            </a:extLst>
          </p:cNvPr>
          <p:cNvSpPr/>
          <p:nvPr/>
        </p:nvSpPr>
        <p:spPr>
          <a:xfrm>
            <a:off x="457200" y="47026"/>
            <a:ext cx="8229600" cy="502920"/>
          </a:xfrm>
          <a:prstGeom prst="rect">
            <a:avLst/>
          </a:prstGeom>
          <a:noFill/>
          <a:ln/>
        </p:spPr>
        <p:txBody>
          <a:bodyPr wrap="square" lIns="0" tIns="0" rIns="0" bIns="0" rtlCol="0" anchor="ctr"/>
          <a:lstStyle/>
          <a:p>
            <a:pPr marL="0" indent="0" algn="l">
              <a:buNone/>
            </a:pPr>
            <a:r>
              <a:rPr lang="en-US" sz="2600" b="1" dirty="0">
                <a:solidFill>
                  <a:srgbClr val="1A1A2E"/>
                </a:solidFill>
                <a:latin typeface="Calibri" pitchFamily="34" charset="0"/>
                <a:ea typeface="Calibri" pitchFamily="34" charset="-122"/>
                <a:cs typeface="Calibri" pitchFamily="34" charset="-120"/>
              </a:rPr>
              <a:t>A Recorded Web Break Event</a:t>
            </a:r>
            <a:endParaRPr lang="en-US" sz="2600" dirty="0"/>
          </a:p>
        </p:txBody>
      </p:sp>
      <p:sp>
        <p:nvSpPr>
          <p:cNvPr id="3" name="Shape 1">
            <a:extLst>
              <a:ext uri="{FF2B5EF4-FFF2-40B4-BE49-F238E27FC236}">
                <a16:creationId xmlns:a16="http://schemas.microsoft.com/office/drawing/2014/main" id="{C492E916-0C8F-096B-2F4B-A9F6DC3CB5B0}"/>
              </a:ext>
            </a:extLst>
          </p:cNvPr>
          <p:cNvSpPr/>
          <p:nvPr/>
        </p:nvSpPr>
        <p:spPr>
          <a:xfrm>
            <a:off x="457200" y="488006"/>
            <a:ext cx="8229600" cy="27432"/>
          </a:xfrm>
          <a:prstGeom prst="rect">
            <a:avLst/>
          </a:prstGeom>
          <a:solidFill>
            <a:srgbClr val="1565C0"/>
          </a:solidFill>
          <a:ln w="12700">
            <a:solidFill>
              <a:srgbClr val="1565C0"/>
            </a:solidFill>
            <a:prstDash val="solid"/>
          </a:ln>
        </p:spPr>
        <p:txBody>
          <a:bodyPr/>
          <a:lstStyle/>
          <a:p>
            <a:endParaRPr lang="de-DE"/>
          </a:p>
        </p:txBody>
      </p:sp>
      <p:pic>
        <p:nvPicPr>
          <p:cNvPr id="34" name="Aufzeichnung 2026-05-09 143357">
            <a:hlinkClick r:id="" action="ppaction://media"/>
            <a:extLst>
              <a:ext uri="{FF2B5EF4-FFF2-40B4-BE49-F238E27FC236}">
                <a16:creationId xmlns:a16="http://schemas.microsoft.com/office/drawing/2014/main" id="{14306F89-2ED4-3C6D-8E6D-899C4A4BC03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655532"/>
            <a:ext cx="9144000" cy="2068513"/>
          </a:xfrm>
          <a:prstGeom prst="rect">
            <a:avLst/>
          </a:prstGeom>
        </p:spPr>
      </p:pic>
      <p:pic>
        <p:nvPicPr>
          <p:cNvPr id="5" name="Picture 4">
            <a:extLst>
              <a:ext uri="{FF2B5EF4-FFF2-40B4-BE49-F238E27FC236}">
                <a16:creationId xmlns:a16="http://schemas.microsoft.com/office/drawing/2014/main" id="{BD68C4D6-42E3-76AF-B2B0-BDD5C80D3F82}"/>
              </a:ext>
            </a:extLst>
          </p:cNvPr>
          <p:cNvPicPr>
            <a:picLocks noChangeAspect="1"/>
          </p:cNvPicPr>
          <p:nvPr/>
        </p:nvPicPr>
        <p:blipFill>
          <a:blip r:embed="rId6"/>
          <a:srcRect b="35411"/>
          <a:stretch>
            <a:fillRect/>
          </a:stretch>
        </p:blipFill>
        <p:spPr>
          <a:xfrm>
            <a:off x="78104" y="2829631"/>
            <a:ext cx="3585443" cy="2227434"/>
          </a:xfrm>
          <a:prstGeom prst="rect">
            <a:avLst/>
          </a:prstGeom>
        </p:spPr>
      </p:pic>
      <p:pic>
        <p:nvPicPr>
          <p:cNvPr id="7" name="Picture 6">
            <a:extLst>
              <a:ext uri="{FF2B5EF4-FFF2-40B4-BE49-F238E27FC236}">
                <a16:creationId xmlns:a16="http://schemas.microsoft.com/office/drawing/2014/main" id="{004847AD-B449-1C9C-7773-822C2641FCE3}"/>
              </a:ext>
            </a:extLst>
          </p:cNvPr>
          <p:cNvPicPr>
            <a:picLocks noChangeAspect="1"/>
          </p:cNvPicPr>
          <p:nvPr/>
        </p:nvPicPr>
        <p:blipFill>
          <a:blip r:embed="rId6"/>
          <a:srcRect t="62815"/>
          <a:stretch>
            <a:fillRect/>
          </a:stretch>
        </p:blipFill>
        <p:spPr>
          <a:xfrm>
            <a:off x="3718289" y="2829631"/>
            <a:ext cx="5347607" cy="2127048"/>
          </a:xfrm>
          <a:prstGeom prst="rect">
            <a:avLst/>
          </a:prstGeom>
        </p:spPr>
      </p:pic>
      <p:sp>
        <p:nvSpPr>
          <p:cNvPr id="8" name="TextBox 7">
            <a:extLst>
              <a:ext uri="{FF2B5EF4-FFF2-40B4-BE49-F238E27FC236}">
                <a16:creationId xmlns:a16="http://schemas.microsoft.com/office/drawing/2014/main" id="{47577B6F-7710-148C-0DAE-39FD45C57B36}"/>
              </a:ext>
            </a:extLst>
          </p:cNvPr>
          <p:cNvSpPr txBox="1"/>
          <p:nvPr/>
        </p:nvSpPr>
        <p:spPr>
          <a:xfrm>
            <a:off x="3796393" y="4932079"/>
            <a:ext cx="5347607" cy="215444"/>
          </a:xfrm>
          <a:prstGeom prst="rect">
            <a:avLst/>
          </a:prstGeom>
          <a:noFill/>
        </p:spPr>
        <p:txBody>
          <a:bodyPr wrap="square" rtlCol="0">
            <a:spAutoFit/>
          </a:bodyPr>
          <a:lstStyle/>
          <a:p>
            <a:pPr algn="r"/>
            <a:r>
              <a:rPr lang="en-US" sz="800" dirty="0"/>
              <a:t>© 2026 Bertelsmann Marketing Services. Confidential.</a:t>
            </a:r>
            <a:endParaRPr lang="de-DE" sz="800" dirty="0"/>
          </a:p>
        </p:txBody>
      </p:sp>
    </p:spTree>
    <p:extLst>
      <p:ext uri="{BB962C8B-B14F-4D97-AF65-F5344CB8AC3E}">
        <p14:creationId xmlns:p14="http://schemas.microsoft.com/office/powerpoint/2010/main" val="310231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26"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4"/>
                </p:tgtEl>
              </p:cMediaNode>
            </p:video>
            <p:seq concurrent="1" nextAc="seek">
              <p:cTn id="8" restart="whenNotActive" fill="hold" evtFilter="cancelBubble" nodeType="interactiveSeq">
                <p:stCondLst>
                  <p:cond evt="onClick" delay="0">
                    <p:tgtEl>
                      <p:spTgt spid="3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4"/>
                                        </p:tgtEl>
                                      </p:cBhvr>
                                    </p:cmd>
                                  </p:childTnLst>
                                </p:cTn>
                              </p:par>
                            </p:childTnLst>
                          </p:cTn>
                        </p:par>
                      </p:childTnLst>
                    </p:cTn>
                  </p:par>
                </p:childTnLst>
              </p:cTn>
              <p:nextCondLst>
                <p:cond evt="onClick" delay="0">
                  <p:tgtEl>
                    <p:spTgt spid="3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1A2E"/>
                </a:solidFill>
                <a:latin typeface="Calibri" pitchFamily="34" charset="0"/>
                <a:ea typeface="Calibri" pitchFamily="34" charset="-122"/>
                <a:cs typeface="Calibri" pitchFamily="34" charset="-120"/>
              </a:rPr>
              <a:t>The Dataset</a:t>
            </a:r>
            <a:endParaRPr lang="en-US" sz="2600" dirty="0"/>
          </a:p>
        </p:txBody>
      </p:sp>
      <p:sp>
        <p:nvSpPr>
          <p:cNvPr id="3" name="Shape 1"/>
          <p:cNvSpPr/>
          <p:nvPr/>
        </p:nvSpPr>
        <p:spPr>
          <a:xfrm>
            <a:off x="457200" y="786384"/>
            <a:ext cx="8229600" cy="27432"/>
          </a:xfrm>
          <a:prstGeom prst="rect">
            <a:avLst/>
          </a:prstGeom>
          <a:solidFill>
            <a:srgbClr val="1565C0"/>
          </a:solidFill>
          <a:ln w="12700">
            <a:solidFill>
              <a:srgbClr val="1565C0"/>
            </a:solidFill>
            <a:prstDash val="solid"/>
          </a:ln>
        </p:spPr>
        <p:txBody>
          <a:bodyPr/>
          <a:lstStyle/>
          <a:p>
            <a:endParaRPr lang="de-DE"/>
          </a:p>
        </p:txBody>
      </p:sp>
      <p:sp>
        <p:nvSpPr>
          <p:cNvPr id="4" name="Shape 2"/>
          <p:cNvSpPr/>
          <p:nvPr/>
        </p:nvSpPr>
        <p:spPr>
          <a:xfrm>
            <a:off x="274320" y="100584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5" name="Shape 3"/>
          <p:cNvSpPr/>
          <p:nvPr/>
        </p:nvSpPr>
        <p:spPr>
          <a:xfrm>
            <a:off x="274320" y="1005840"/>
            <a:ext cx="2651760" cy="201168"/>
          </a:xfrm>
          <a:prstGeom prst="rect">
            <a:avLst/>
          </a:prstGeom>
          <a:solidFill>
            <a:srgbClr val="1565C0"/>
          </a:solidFill>
          <a:ln w="12700">
            <a:solidFill>
              <a:srgbClr val="1565C0"/>
            </a:solidFill>
            <a:prstDash val="solid"/>
          </a:ln>
        </p:spPr>
        <p:txBody>
          <a:bodyPr/>
          <a:lstStyle/>
          <a:p>
            <a:endParaRPr lang="de-DE"/>
          </a:p>
        </p:txBody>
      </p:sp>
      <p:sp>
        <p:nvSpPr>
          <p:cNvPr id="6" name="Text 4"/>
          <p:cNvSpPr/>
          <p:nvPr/>
        </p:nvSpPr>
        <p:spPr>
          <a:xfrm>
            <a:off x="274320" y="1280160"/>
            <a:ext cx="2651760" cy="594360"/>
          </a:xfrm>
          <a:prstGeom prst="rect">
            <a:avLst/>
          </a:prstGeom>
          <a:noFill/>
          <a:ln/>
        </p:spPr>
        <p:txBody>
          <a:bodyPr wrap="square" lIns="0" tIns="0" rIns="0" bIns="0" rtlCol="0" anchor="ctr"/>
          <a:lstStyle/>
          <a:p>
            <a:pPr marL="0" indent="0" algn="ctr">
              <a:buNone/>
            </a:pPr>
            <a:r>
              <a:rPr lang="en-US" sz="2800" b="1" dirty="0">
                <a:solidFill>
                  <a:srgbClr val="1565C0"/>
                </a:solidFill>
                <a:latin typeface="Calibri" pitchFamily="34" charset="0"/>
                <a:ea typeface="Calibri" pitchFamily="34" charset="-122"/>
                <a:cs typeface="Calibri" pitchFamily="34" charset="-120"/>
              </a:rPr>
              <a:t>14,073</a:t>
            </a:r>
            <a:endParaRPr lang="en-US" sz="2800" dirty="0"/>
          </a:p>
        </p:txBody>
      </p:sp>
      <p:sp>
        <p:nvSpPr>
          <p:cNvPr id="7" name="Text 5"/>
          <p:cNvSpPr/>
          <p:nvPr/>
        </p:nvSpPr>
        <p:spPr>
          <a:xfrm>
            <a:off x="274320" y="185623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Total Events </a:t>
            </a:r>
            <a:endParaRPr lang="en-US" sz="1200" dirty="0"/>
          </a:p>
        </p:txBody>
      </p:sp>
      <p:sp>
        <p:nvSpPr>
          <p:cNvPr id="8" name="Text 6"/>
          <p:cNvSpPr/>
          <p:nvPr/>
        </p:nvSpPr>
        <p:spPr>
          <a:xfrm>
            <a:off x="274320" y="214884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JSON files, one per break</a:t>
            </a:r>
            <a:endParaRPr lang="en-US" sz="1000" dirty="0"/>
          </a:p>
        </p:txBody>
      </p:sp>
      <p:sp>
        <p:nvSpPr>
          <p:cNvPr id="9" name="Shape 7"/>
          <p:cNvSpPr/>
          <p:nvPr/>
        </p:nvSpPr>
        <p:spPr>
          <a:xfrm>
            <a:off x="3154680" y="100584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10" name="Shape 8"/>
          <p:cNvSpPr/>
          <p:nvPr/>
        </p:nvSpPr>
        <p:spPr>
          <a:xfrm>
            <a:off x="3154680" y="1005840"/>
            <a:ext cx="2651760" cy="201168"/>
          </a:xfrm>
          <a:prstGeom prst="rect">
            <a:avLst/>
          </a:prstGeom>
          <a:solidFill>
            <a:srgbClr val="455A64"/>
          </a:solidFill>
          <a:ln w="12700">
            <a:solidFill>
              <a:srgbClr val="455A64"/>
            </a:solidFill>
            <a:prstDash val="solid"/>
          </a:ln>
        </p:spPr>
        <p:txBody>
          <a:bodyPr/>
          <a:lstStyle/>
          <a:p>
            <a:endParaRPr lang="de-DE"/>
          </a:p>
        </p:txBody>
      </p:sp>
      <p:sp>
        <p:nvSpPr>
          <p:cNvPr id="11" name="Text 9"/>
          <p:cNvSpPr/>
          <p:nvPr/>
        </p:nvSpPr>
        <p:spPr>
          <a:xfrm>
            <a:off x="3154680" y="1280160"/>
            <a:ext cx="2651760" cy="594360"/>
          </a:xfrm>
          <a:prstGeom prst="rect">
            <a:avLst/>
          </a:prstGeom>
          <a:noFill/>
          <a:ln/>
        </p:spPr>
        <p:txBody>
          <a:bodyPr wrap="square" lIns="0" tIns="0" rIns="0" bIns="0" rtlCol="0" anchor="ctr"/>
          <a:lstStyle/>
          <a:p>
            <a:pPr marL="0" indent="0" algn="ctr">
              <a:buNone/>
            </a:pPr>
            <a:r>
              <a:rPr lang="en-US" sz="2800" b="1" dirty="0">
                <a:solidFill>
                  <a:srgbClr val="455A64"/>
                </a:solidFill>
                <a:latin typeface="Calibri" pitchFamily="34" charset="0"/>
                <a:ea typeface="Calibri" pitchFamily="34" charset="-122"/>
                <a:cs typeface="Calibri" pitchFamily="34" charset="-120"/>
              </a:rPr>
              <a:t>11,822</a:t>
            </a:r>
            <a:endParaRPr lang="en-US" sz="2800" dirty="0"/>
          </a:p>
        </p:txBody>
      </p:sp>
      <p:sp>
        <p:nvSpPr>
          <p:cNvPr id="12" name="Text 10"/>
          <p:cNvSpPr/>
          <p:nvPr/>
        </p:nvSpPr>
        <p:spPr>
          <a:xfrm>
            <a:off x="3154680" y="185623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Machine-Caused</a:t>
            </a:r>
            <a:endParaRPr lang="en-US" sz="1200" dirty="0"/>
          </a:p>
        </p:txBody>
      </p:sp>
      <p:sp>
        <p:nvSpPr>
          <p:cNvPr id="13" name="Text 11"/>
          <p:cNvSpPr/>
          <p:nvPr/>
        </p:nvSpPr>
        <p:spPr>
          <a:xfrm>
            <a:off x="3154680" y="214884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84% of dataset</a:t>
            </a:r>
            <a:endParaRPr lang="en-US" sz="1000" dirty="0"/>
          </a:p>
        </p:txBody>
      </p:sp>
      <p:sp>
        <p:nvSpPr>
          <p:cNvPr id="14" name="Shape 12"/>
          <p:cNvSpPr/>
          <p:nvPr/>
        </p:nvSpPr>
        <p:spPr>
          <a:xfrm>
            <a:off x="6035040" y="100584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15" name="Shape 13"/>
          <p:cNvSpPr/>
          <p:nvPr/>
        </p:nvSpPr>
        <p:spPr>
          <a:xfrm>
            <a:off x="6035040" y="1005840"/>
            <a:ext cx="2651760" cy="201168"/>
          </a:xfrm>
          <a:prstGeom prst="rect">
            <a:avLst/>
          </a:prstGeom>
          <a:solidFill>
            <a:srgbClr val="E53935"/>
          </a:solidFill>
          <a:ln w="12700">
            <a:solidFill>
              <a:srgbClr val="E53935"/>
            </a:solidFill>
            <a:prstDash val="solid"/>
          </a:ln>
        </p:spPr>
        <p:txBody>
          <a:bodyPr/>
          <a:lstStyle/>
          <a:p>
            <a:endParaRPr lang="de-DE"/>
          </a:p>
        </p:txBody>
      </p:sp>
      <p:sp>
        <p:nvSpPr>
          <p:cNvPr id="16" name="Text 14"/>
          <p:cNvSpPr/>
          <p:nvPr/>
        </p:nvSpPr>
        <p:spPr>
          <a:xfrm>
            <a:off x="6035040" y="1280160"/>
            <a:ext cx="2651760" cy="594360"/>
          </a:xfrm>
          <a:prstGeom prst="rect">
            <a:avLst/>
          </a:prstGeom>
          <a:noFill/>
          <a:ln/>
        </p:spPr>
        <p:txBody>
          <a:bodyPr wrap="square" lIns="0" tIns="0" rIns="0" bIns="0" rtlCol="0" anchor="ctr"/>
          <a:lstStyle/>
          <a:p>
            <a:pPr marL="0" indent="0" algn="ctr">
              <a:buNone/>
            </a:pPr>
            <a:r>
              <a:rPr lang="en-US" sz="2800" b="1" dirty="0">
                <a:solidFill>
                  <a:srgbClr val="E53935"/>
                </a:solidFill>
                <a:latin typeface="Calibri" pitchFamily="34" charset="0"/>
                <a:ea typeface="Calibri" pitchFamily="34" charset="-122"/>
                <a:cs typeface="Calibri" pitchFamily="34" charset="-120"/>
              </a:rPr>
              <a:t>2,251</a:t>
            </a:r>
            <a:endParaRPr lang="en-US" sz="2800" dirty="0"/>
          </a:p>
        </p:txBody>
      </p:sp>
      <p:sp>
        <p:nvSpPr>
          <p:cNvPr id="17" name="Text 15"/>
          <p:cNvSpPr/>
          <p:nvPr/>
        </p:nvSpPr>
        <p:spPr>
          <a:xfrm>
            <a:off x="6035040" y="185623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Paper-Caused</a:t>
            </a:r>
            <a:endParaRPr lang="en-US" sz="1200" dirty="0"/>
          </a:p>
        </p:txBody>
      </p:sp>
      <p:sp>
        <p:nvSpPr>
          <p:cNvPr id="18" name="Text 16"/>
          <p:cNvSpPr/>
          <p:nvPr/>
        </p:nvSpPr>
        <p:spPr>
          <a:xfrm>
            <a:off x="6035040" y="214884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16% minority class</a:t>
            </a:r>
            <a:endParaRPr lang="en-US" sz="1000" dirty="0"/>
          </a:p>
        </p:txBody>
      </p:sp>
      <p:sp>
        <p:nvSpPr>
          <p:cNvPr id="19" name="Shape 17"/>
          <p:cNvSpPr/>
          <p:nvPr/>
        </p:nvSpPr>
        <p:spPr>
          <a:xfrm>
            <a:off x="274320" y="274320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dirty="0"/>
          </a:p>
        </p:txBody>
      </p:sp>
      <p:sp>
        <p:nvSpPr>
          <p:cNvPr id="20" name="Shape 18"/>
          <p:cNvSpPr/>
          <p:nvPr/>
        </p:nvSpPr>
        <p:spPr>
          <a:xfrm>
            <a:off x="274320" y="2743200"/>
            <a:ext cx="2651760" cy="201168"/>
          </a:xfrm>
          <a:prstGeom prst="rect">
            <a:avLst/>
          </a:prstGeom>
          <a:solidFill>
            <a:srgbClr val="2E7D32"/>
          </a:solidFill>
          <a:ln w="12700">
            <a:solidFill>
              <a:srgbClr val="2E7D32"/>
            </a:solidFill>
            <a:prstDash val="solid"/>
          </a:ln>
        </p:spPr>
        <p:txBody>
          <a:bodyPr/>
          <a:lstStyle/>
          <a:p>
            <a:endParaRPr lang="de-DE"/>
          </a:p>
        </p:txBody>
      </p:sp>
      <p:sp>
        <p:nvSpPr>
          <p:cNvPr id="21" name="Text 19"/>
          <p:cNvSpPr/>
          <p:nvPr/>
        </p:nvSpPr>
        <p:spPr>
          <a:xfrm>
            <a:off x="274320" y="3017520"/>
            <a:ext cx="2651760" cy="594360"/>
          </a:xfrm>
          <a:prstGeom prst="rect">
            <a:avLst/>
          </a:prstGeom>
          <a:noFill/>
          <a:ln/>
        </p:spPr>
        <p:txBody>
          <a:bodyPr wrap="square" lIns="0" tIns="0" rIns="0" bIns="0" rtlCol="0" anchor="ctr"/>
          <a:lstStyle/>
          <a:p>
            <a:pPr marL="0" indent="0" algn="ctr">
              <a:buNone/>
            </a:pPr>
            <a:r>
              <a:rPr lang="en-US" sz="2800" b="1" dirty="0">
                <a:solidFill>
                  <a:srgbClr val="2E7D32"/>
                </a:solidFill>
                <a:latin typeface="Calibri" pitchFamily="34" charset="0"/>
                <a:ea typeface="Calibri" pitchFamily="34" charset="-122"/>
                <a:cs typeface="Calibri" pitchFamily="34" charset="-120"/>
              </a:rPr>
              <a:t>300, 10</a:t>
            </a:r>
            <a:endParaRPr lang="en-US" sz="2800" dirty="0"/>
          </a:p>
        </p:txBody>
      </p:sp>
      <p:sp>
        <p:nvSpPr>
          <p:cNvPr id="22" name="Text 20"/>
          <p:cNvSpPr/>
          <p:nvPr/>
        </p:nvSpPr>
        <p:spPr>
          <a:xfrm>
            <a:off x="274320" y="359359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Frames per Event, channels per frame</a:t>
            </a:r>
            <a:endParaRPr lang="en-US" sz="1200" dirty="0"/>
          </a:p>
        </p:txBody>
      </p:sp>
      <p:sp>
        <p:nvSpPr>
          <p:cNvPr id="23" name="Text 21"/>
          <p:cNvSpPr/>
          <p:nvPr/>
        </p:nvSpPr>
        <p:spPr>
          <a:xfrm>
            <a:off x="274320" y="388620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pre-break window</a:t>
            </a:r>
            <a:endParaRPr lang="en-US" sz="1000" dirty="0"/>
          </a:p>
        </p:txBody>
      </p:sp>
      <p:sp>
        <p:nvSpPr>
          <p:cNvPr id="24" name="Shape 22"/>
          <p:cNvSpPr/>
          <p:nvPr/>
        </p:nvSpPr>
        <p:spPr>
          <a:xfrm>
            <a:off x="3154680" y="274320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dirty="0"/>
          </a:p>
        </p:txBody>
      </p:sp>
      <p:sp>
        <p:nvSpPr>
          <p:cNvPr id="25" name="Shape 23"/>
          <p:cNvSpPr/>
          <p:nvPr/>
        </p:nvSpPr>
        <p:spPr>
          <a:xfrm>
            <a:off x="3154680" y="2743200"/>
            <a:ext cx="2651760" cy="201168"/>
          </a:xfrm>
          <a:prstGeom prst="rect">
            <a:avLst/>
          </a:prstGeom>
          <a:solidFill>
            <a:srgbClr val="7B1FA2"/>
          </a:solidFill>
          <a:ln w="12700">
            <a:solidFill>
              <a:srgbClr val="7B1FA2"/>
            </a:solidFill>
            <a:prstDash val="solid"/>
          </a:ln>
        </p:spPr>
        <p:txBody>
          <a:bodyPr/>
          <a:lstStyle/>
          <a:p>
            <a:endParaRPr lang="de-DE"/>
          </a:p>
        </p:txBody>
      </p:sp>
      <p:sp>
        <p:nvSpPr>
          <p:cNvPr id="26" name="Text 24"/>
          <p:cNvSpPr/>
          <p:nvPr/>
        </p:nvSpPr>
        <p:spPr>
          <a:xfrm>
            <a:off x="3154680" y="3017520"/>
            <a:ext cx="2651760" cy="594360"/>
          </a:xfrm>
          <a:prstGeom prst="rect">
            <a:avLst/>
          </a:prstGeom>
          <a:noFill/>
          <a:ln/>
        </p:spPr>
        <p:txBody>
          <a:bodyPr wrap="square" lIns="0" tIns="0" rIns="0" bIns="0" rtlCol="0" anchor="ctr"/>
          <a:lstStyle/>
          <a:p>
            <a:pPr marL="0" indent="0" algn="ctr">
              <a:buNone/>
            </a:pPr>
            <a:r>
              <a:rPr lang="en-US" sz="2800" b="1" dirty="0">
                <a:solidFill>
                  <a:srgbClr val="7B1FA2"/>
                </a:solidFill>
                <a:latin typeface="Calibri" pitchFamily="34" charset="0"/>
                <a:ea typeface="Calibri" pitchFamily="34" charset="-122"/>
                <a:cs typeface="Calibri" pitchFamily="34" charset="-120"/>
              </a:rPr>
              <a:t>AUC</a:t>
            </a:r>
            <a:endParaRPr lang="en-US" sz="2800" dirty="0"/>
          </a:p>
        </p:txBody>
      </p:sp>
      <p:sp>
        <p:nvSpPr>
          <p:cNvPr id="27" name="Text 25"/>
          <p:cNvSpPr/>
          <p:nvPr/>
        </p:nvSpPr>
        <p:spPr>
          <a:xfrm>
            <a:off x="3154680" y="359359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Evaluation Metric</a:t>
            </a:r>
            <a:endParaRPr lang="en-US" sz="1200" dirty="0"/>
          </a:p>
        </p:txBody>
      </p:sp>
      <p:sp>
        <p:nvSpPr>
          <p:cNvPr id="28" name="Text 26"/>
          <p:cNvSpPr/>
          <p:nvPr/>
        </p:nvSpPr>
        <p:spPr>
          <a:xfrm>
            <a:off x="3154680" y="388620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primary</a:t>
            </a:r>
            <a:endParaRPr lang="en-US" sz="1000" dirty="0"/>
          </a:p>
        </p:txBody>
      </p:sp>
      <p:sp>
        <p:nvSpPr>
          <p:cNvPr id="29" name="Shape 27"/>
          <p:cNvSpPr/>
          <p:nvPr/>
        </p:nvSpPr>
        <p:spPr>
          <a:xfrm>
            <a:off x="6035040" y="2743200"/>
            <a:ext cx="2651760" cy="150876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30" name="Shape 28"/>
          <p:cNvSpPr/>
          <p:nvPr/>
        </p:nvSpPr>
        <p:spPr>
          <a:xfrm>
            <a:off x="6035040" y="2743200"/>
            <a:ext cx="2651760" cy="201168"/>
          </a:xfrm>
          <a:prstGeom prst="rect">
            <a:avLst/>
          </a:prstGeom>
          <a:solidFill>
            <a:srgbClr val="F9A825"/>
          </a:solidFill>
          <a:ln w="12700">
            <a:solidFill>
              <a:srgbClr val="F9A825"/>
            </a:solidFill>
            <a:prstDash val="solid"/>
          </a:ln>
        </p:spPr>
        <p:txBody>
          <a:bodyPr/>
          <a:lstStyle/>
          <a:p>
            <a:endParaRPr lang="de-DE"/>
          </a:p>
        </p:txBody>
      </p:sp>
      <p:sp>
        <p:nvSpPr>
          <p:cNvPr id="31" name="Text 29"/>
          <p:cNvSpPr/>
          <p:nvPr/>
        </p:nvSpPr>
        <p:spPr>
          <a:xfrm>
            <a:off x="6035040" y="3017520"/>
            <a:ext cx="2651760" cy="594360"/>
          </a:xfrm>
          <a:prstGeom prst="rect">
            <a:avLst/>
          </a:prstGeom>
          <a:noFill/>
          <a:ln/>
        </p:spPr>
        <p:txBody>
          <a:bodyPr wrap="square" lIns="0" tIns="0" rIns="0" bIns="0" rtlCol="0" anchor="ctr"/>
          <a:lstStyle/>
          <a:p>
            <a:pPr marL="0" indent="0" algn="ctr">
              <a:buNone/>
            </a:pPr>
            <a:r>
              <a:rPr lang="en-US" sz="2800" b="1" dirty="0">
                <a:solidFill>
                  <a:srgbClr val="F9A825"/>
                </a:solidFill>
                <a:latin typeface="Calibri" pitchFamily="34" charset="0"/>
                <a:ea typeface="Calibri" pitchFamily="34" charset="-122"/>
                <a:cs typeface="Calibri" pitchFamily="34" charset="-120"/>
              </a:rPr>
              <a:t>3-Fold</a:t>
            </a:r>
            <a:endParaRPr lang="en-US" sz="2800" dirty="0"/>
          </a:p>
        </p:txBody>
      </p:sp>
      <p:sp>
        <p:nvSpPr>
          <p:cNvPr id="32" name="Text 30"/>
          <p:cNvSpPr/>
          <p:nvPr/>
        </p:nvSpPr>
        <p:spPr>
          <a:xfrm>
            <a:off x="6035040" y="3593592"/>
            <a:ext cx="2651760" cy="27432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Cross-Validation</a:t>
            </a:r>
            <a:endParaRPr lang="en-US" sz="1200" dirty="0"/>
          </a:p>
        </p:txBody>
      </p:sp>
      <p:sp>
        <p:nvSpPr>
          <p:cNvPr id="33" name="Text 31"/>
          <p:cNvSpPr/>
          <p:nvPr/>
        </p:nvSpPr>
        <p:spPr>
          <a:xfrm>
            <a:off x="6035040" y="3886200"/>
            <a:ext cx="2651760" cy="256032"/>
          </a:xfrm>
          <a:prstGeom prst="rect">
            <a:avLst/>
          </a:prstGeom>
          <a:noFill/>
          <a:ln/>
        </p:spPr>
        <p:txBody>
          <a:bodyPr wrap="square" lIns="0" tIns="0" rIns="0" bIns="0"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stratified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rgbClr val="1A1A2E"/>
                </a:solidFill>
                <a:latin typeface="Calibri" pitchFamily="34" charset="0"/>
                <a:ea typeface="Calibri" pitchFamily="34" charset="-122"/>
                <a:cs typeface="Calibri" pitchFamily="34" charset="-120"/>
              </a:rPr>
              <a:t>Three Research Questions</a:t>
            </a:r>
            <a:endParaRPr lang="en-US" sz="2600" dirty="0"/>
          </a:p>
        </p:txBody>
      </p:sp>
      <p:sp>
        <p:nvSpPr>
          <p:cNvPr id="3" name="Shape 1"/>
          <p:cNvSpPr/>
          <p:nvPr/>
        </p:nvSpPr>
        <p:spPr>
          <a:xfrm>
            <a:off x="457200" y="786384"/>
            <a:ext cx="8229600" cy="27432"/>
          </a:xfrm>
          <a:prstGeom prst="rect">
            <a:avLst/>
          </a:prstGeom>
          <a:solidFill>
            <a:srgbClr val="1565C0"/>
          </a:solidFill>
          <a:ln w="12700">
            <a:solidFill>
              <a:srgbClr val="1565C0"/>
            </a:solidFill>
            <a:prstDash val="solid"/>
          </a:ln>
        </p:spPr>
        <p:txBody>
          <a:bodyPr/>
          <a:lstStyle/>
          <a:p>
            <a:endParaRPr lang="de-DE"/>
          </a:p>
        </p:txBody>
      </p:sp>
      <p:sp>
        <p:nvSpPr>
          <p:cNvPr id="4" name="Shape 2"/>
          <p:cNvSpPr/>
          <p:nvPr/>
        </p:nvSpPr>
        <p:spPr>
          <a:xfrm>
            <a:off x="457200" y="1051560"/>
            <a:ext cx="8229600" cy="100584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dirty="0"/>
          </a:p>
        </p:txBody>
      </p:sp>
      <p:sp>
        <p:nvSpPr>
          <p:cNvPr id="5" name="Shape 3"/>
          <p:cNvSpPr/>
          <p:nvPr/>
        </p:nvSpPr>
        <p:spPr>
          <a:xfrm>
            <a:off x="457200" y="1051560"/>
            <a:ext cx="1005840" cy="1005840"/>
          </a:xfrm>
          <a:prstGeom prst="rect">
            <a:avLst/>
          </a:prstGeom>
          <a:solidFill>
            <a:srgbClr val="1565C0"/>
          </a:solidFill>
          <a:ln w="12700">
            <a:solidFill>
              <a:srgbClr val="1565C0"/>
            </a:solidFill>
            <a:prstDash val="solid"/>
          </a:ln>
        </p:spPr>
        <p:txBody>
          <a:bodyPr/>
          <a:lstStyle/>
          <a:p>
            <a:endParaRPr lang="de-DE"/>
          </a:p>
        </p:txBody>
      </p:sp>
      <p:sp>
        <p:nvSpPr>
          <p:cNvPr id="6" name="Text 4"/>
          <p:cNvSpPr/>
          <p:nvPr/>
        </p:nvSpPr>
        <p:spPr>
          <a:xfrm>
            <a:off x="457200" y="1280160"/>
            <a:ext cx="10058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RQ1</a:t>
            </a:r>
            <a:endParaRPr lang="en-US" sz="1800" dirty="0"/>
          </a:p>
        </p:txBody>
      </p:sp>
      <p:sp>
        <p:nvSpPr>
          <p:cNvPr id="7" name="Text 5"/>
          <p:cNvSpPr/>
          <p:nvPr/>
        </p:nvSpPr>
        <p:spPr>
          <a:xfrm>
            <a:off x="1600200" y="1188720"/>
            <a:ext cx="6949440" cy="731520"/>
          </a:xfrm>
          <a:prstGeom prst="rect">
            <a:avLst/>
          </a:prstGeom>
          <a:noFill/>
          <a:ln/>
        </p:spPr>
        <p:txBody>
          <a:bodyPr wrap="square" lIns="0" tIns="0" rIns="0" bIns="0" rtlCol="0" anchor="ctr"/>
          <a:lstStyle/>
          <a:p>
            <a:pPr marL="0" indent="0" algn="l">
              <a:buNone/>
            </a:pPr>
            <a:r>
              <a:rPr lang="en-US" sz="1400" dirty="0">
                <a:solidFill>
                  <a:srgbClr val="455A64"/>
                </a:solidFill>
                <a:latin typeface="Calibri" pitchFamily="34" charset="0"/>
                <a:ea typeface="Calibri" pitchFamily="34" charset="-122"/>
                <a:cs typeface="Calibri" pitchFamily="34" charset="-120"/>
              </a:rPr>
              <a:t>Can deep learning architectures classify web break causes from raw time series under heavy imbalance?</a:t>
            </a:r>
            <a:endParaRPr lang="en-US" sz="1400" dirty="0"/>
          </a:p>
        </p:txBody>
      </p:sp>
      <p:sp>
        <p:nvSpPr>
          <p:cNvPr id="8" name="Shape 6"/>
          <p:cNvSpPr/>
          <p:nvPr/>
        </p:nvSpPr>
        <p:spPr>
          <a:xfrm>
            <a:off x="457200" y="2240280"/>
            <a:ext cx="8229600" cy="100584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9" name="Shape 7"/>
          <p:cNvSpPr/>
          <p:nvPr/>
        </p:nvSpPr>
        <p:spPr>
          <a:xfrm>
            <a:off x="457200" y="2240280"/>
            <a:ext cx="1005840" cy="1005840"/>
          </a:xfrm>
          <a:prstGeom prst="rect">
            <a:avLst/>
          </a:prstGeom>
          <a:solidFill>
            <a:srgbClr val="C00000"/>
          </a:solidFill>
          <a:ln w="12700">
            <a:solidFill>
              <a:srgbClr val="7B1FA2"/>
            </a:solidFill>
            <a:prstDash val="solid"/>
          </a:ln>
        </p:spPr>
        <p:txBody>
          <a:bodyPr/>
          <a:lstStyle/>
          <a:p>
            <a:endParaRPr lang="de-DE"/>
          </a:p>
        </p:txBody>
      </p:sp>
      <p:sp>
        <p:nvSpPr>
          <p:cNvPr id="10" name="Text 8"/>
          <p:cNvSpPr/>
          <p:nvPr/>
        </p:nvSpPr>
        <p:spPr>
          <a:xfrm>
            <a:off x="457200" y="2468880"/>
            <a:ext cx="10058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RQ2</a:t>
            </a:r>
            <a:endParaRPr lang="en-US" sz="1800" dirty="0"/>
          </a:p>
        </p:txBody>
      </p:sp>
      <p:sp>
        <p:nvSpPr>
          <p:cNvPr id="11" name="Text 9"/>
          <p:cNvSpPr/>
          <p:nvPr/>
        </p:nvSpPr>
        <p:spPr>
          <a:xfrm>
            <a:off x="1600200" y="2377440"/>
            <a:ext cx="6949440" cy="731520"/>
          </a:xfrm>
          <a:prstGeom prst="rect">
            <a:avLst/>
          </a:prstGeom>
          <a:noFill/>
          <a:ln/>
        </p:spPr>
        <p:txBody>
          <a:bodyPr wrap="square" lIns="0" tIns="0" rIns="0" bIns="0" rtlCol="0" anchor="ctr"/>
          <a:lstStyle/>
          <a:p>
            <a:pPr marL="0" indent="0" algn="l">
              <a:buNone/>
            </a:pPr>
            <a:r>
              <a:rPr lang="en-US" sz="1400" dirty="0">
                <a:solidFill>
                  <a:srgbClr val="455A64"/>
                </a:solidFill>
                <a:latin typeface="Calibri" pitchFamily="34" charset="0"/>
                <a:ea typeface="Calibri" pitchFamily="34" charset="-122"/>
                <a:cs typeface="Calibri" pitchFamily="34" charset="-120"/>
              </a:rPr>
              <a:t>Do foundation models and LLMs transfer to this specialised industrial task?</a:t>
            </a:r>
            <a:endParaRPr lang="en-US" sz="1400" dirty="0"/>
          </a:p>
        </p:txBody>
      </p:sp>
      <p:sp>
        <p:nvSpPr>
          <p:cNvPr id="12" name="Shape 10"/>
          <p:cNvSpPr/>
          <p:nvPr/>
        </p:nvSpPr>
        <p:spPr>
          <a:xfrm>
            <a:off x="457200" y="3429000"/>
            <a:ext cx="8229600" cy="100584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13" name="Shape 11"/>
          <p:cNvSpPr/>
          <p:nvPr/>
        </p:nvSpPr>
        <p:spPr>
          <a:xfrm>
            <a:off x="457200" y="3429000"/>
            <a:ext cx="1005840" cy="1005840"/>
          </a:xfrm>
          <a:prstGeom prst="rect">
            <a:avLst/>
          </a:prstGeom>
          <a:solidFill>
            <a:srgbClr val="2E7D32"/>
          </a:solidFill>
          <a:ln w="12700">
            <a:solidFill>
              <a:srgbClr val="2E7D32"/>
            </a:solidFill>
            <a:prstDash val="solid"/>
          </a:ln>
        </p:spPr>
        <p:txBody>
          <a:bodyPr/>
          <a:lstStyle/>
          <a:p>
            <a:endParaRPr lang="de-DE"/>
          </a:p>
        </p:txBody>
      </p:sp>
      <p:sp>
        <p:nvSpPr>
          <p:cNvPr id="14" name="Text 12"/>
          <p:cNvSpPr/>
          <p:nvPr/>
        </p:nvSpPr>
        <p:spPr>
          <a:xfrm>
            <a:off x="457200" y="3657600"/>
            <a:ext cx="10058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RQ3</a:t>
            </a:r>
            <a:endParaRPr lang="en-US" sz="1800" dirty="0"/>
          </a:p>
        </p:txBody>
      </p:sp>
      <p:sp>
        <p:nvSpPr>
          <p:cNvPr id="15" name="Text 13"/>
          <p:cNvSpPr/>
          <p:nvPr/>
        </p:nvSpPr>
        <p:spPr>
          <a:xfrm>
            <a:off x="1600200" y="3566160"/>
            <a:ext cx="6949440" cy="731520"/>
          </a:xfrm>
          <a:prstGeom prst="rect">
            <a:avLst/>
          </a:prstGeom>
          <a:noFill/>
          <a:ln/>
        </p:spPr>
        <p:txBody>
          <a:bodyPr wrap="square" lIns="0" tIns="0" rIns="0" bIns="0" rtlCol="0" anchor="ctr"/>
          <a:lstStyle/>
          <a:p>
            <a:r>
              <a:rPr lang="en-US" sz="1400" dirty="0">
                <a:solidFill>
                  <a:srgbClr val="455A64"/>
                </a:solidFill>
                <a:latin typeface="Calibri" pitchFamily="34" charset="0"/>
                <a:ea typeface="Calibri" pitchFamily="34" charset="-122"/>
                <a:cs typeface="Calibri" pitchFamily="34" charset="-120"/>
              </a:rPr>
              <a:t>Does converting the raw time series into a tabular feature representation with domain understanding outperform deep learning 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8503920" cy="430887"/>
          </a:xfrm>
          <a:prstGeom prst="rect">
            <a:avLst/>
          </a:prstGeom>
          <a:noFill/>
        </p:spPr>
        <p:txBody>
          <a:bodyPr wrap="square">
            <a:spAutoFit/>
          </a:bodyPr>
          <a:lstStyle/>
          <a:p>
            <a:pPr algn="l"/>
            <a:r>
              <a:rPr lang="de-DE" sz="2200" b="1" i="0" dirty="0" err="1">
                <a:solidFill>
                  <a:srgbClr val="1A1A2E"/>
                </a:solidFill>
              </a:rPr>
              <a:t>Overview</a:t>
            </a:r>
            <a:r>
              <a:rPr lang="de-DE" sz="2200" b="1" i="0" dirty="0">
                <a:solidFill>
                  <a:srgbClr val="1A1A2E"/>
                </a:solidFill>
              </a:rPr>
              <a:t>: </a:t>
            </a:r>
            <a:r>
              <a:rPr sz="2200" b="1" i="0" dirty="0">
                <a:solidFill>
                  <a:srgbClr val="1A1A2E"/>
                </a:solidFill>
              </a:rPr>
              <a:t>Four Families, Nine Models</a:t>
            </a:r>
          </a:p>
        </p:txBody>
      </p:sp>
      <p:sp>
        <p:nvSpPr>
          <p:cNvPr id="3" name="Rectangle 2"/>
          <p:cNvSpPr/>
          <p:nvPr/>
        </p:nvSpPr>
        <p:spPr>
          <a:xfrm>
            <a:off x="320040" y="659756"/>
            <a:ext cx="8503920" cy="27432"/>
          </a:xfrm>
          <a:prstGeom prst="rect">
            <a:avLst/>
          </a:prstGeom>
          <a:solidFill>
            <a:srgbClr val="1565C0"/>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914400"/>
            <a:ext cx="4206240" cy="384048"/>
          </a:xfrm>
          <a:prstGeom prst="rect">
            <a:avLst/>
          </a:prstGeom>
          <a:solidFill>
            <a:srgbClr val="1565C0"/>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923544"/>
            <a:ext cx="4206240" cy="365760"/>
          </a:xfrm>
          <a:prstGeom prst="rect">
            <a:avLst/>
          </a:prstGeom>
          <a:noFill/>
        </p:spPr>
        <p:txBody>
          <a:bodyPr wrap="square">
            <a:spAutoFit/>
          </a:bodyPr>
          <a:lstStyle/>
          <a:p>
            <a:pPr algn="ctr"/>
            <a:r>
              <a:rPr sz="1200" b="1" i="0">
                <a:solidFill>
                  <a:srgbClr val="FFFFFF"/>
                </a:solidFill>
              </a:rPr>
              <a:t>Deep Learning</a:t>
            </a:r>
          </a:p>
        </p:txBody>
      </p:sp>
      <p:sp>
        <p:nvSpPr>
          <p:cNvPr id="6" name="TextBox 5"/>
          <p:cNvSpPr txBox="1"/>
          <p:nvPr/>
        </p:nvSpPr>
        <p:spPr>
          <a:xfrm>
            <a:off x="411479" y="1353312"/>
            <a:ext cx="2286000" cy="256032"/>
          </a:xfrm>
          <a:prstGeom prst="rect">
            <a:avLst/>
          </a:prstGeom>
          <a:noFill/>
        </p:spPr>
        <p:txBody>
          <a:bodyPr wrap="square">
            <a:spAutoFit/>
          </a:bodyPr>
          <a:lstStyle/>
          <a:p>
            <a:pPr algn="l"/>
            <a:r>
              <a:rPr sz="950" b="1" i="0">
                <a:solidFill>
                  <a:srgbClr val="90A4AE"/>
                </a:solidFill>
              </a:rPr>
              <a:t>Model</a:t>
            </a:r>
          </a:p>
        </p:txBody>
      </p:sp>
      <p:sp>
        <p:nvSpPr>
          <p:cNvPr id="7" name="TextBox 6"/>
          <p:cNvSpPr txBox="1"/>
          <p:nvPr/>
        </p:nvSpPr>
        <p:spPr>
          <a:xfrm>
            <a:off x="3520440" y="1353312"/>
            <a:ext cx="914400" cy="256032"/>
          </a:xfrm>
          <a:prstGeom prst="rect">
            <a:avLst/>
          </a:prstGeom>
          <a:noFill/>
        </p:spPr>
        <p:txBody>
          <a:bodyPr wrap="square">
            <a:spAutoFit/>
          </a:bodyPr>
          <a:lstStyle/>
          <a:p>
            <a:pPr algn="ctr"/>
            <a:r>
              <a:rPr sz="950" b="1" i="0">
                <a:solidFill>
                  <a:srgbClr val="90A4AE"/>
                </a:solidFill>
              </a:rPr>
              <a:t>AUC</a:t>
            </a:r>
          </a:p>
        </p:txBody>
      </p:sp>
      <p:sp>
        <p:nvSpPr>
          <p:cNvPr id="8" name="Rectangle 7"/>
          <p:cNvSpPr/>
          <p:nvPr/>
        </p:nvSpPr>
        <p:spPr>
          <a:xfrm>
            <a:off x="320040" y="1645920"/>
            <a:ext cx="420624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1737360"/>
            <a:ext cx="2926080" cy="274320"/>
          </a:xfrm>
          <a:prstGeom prst="rect">
            <a:avLst/>
          </a:prstGeom>
          <a:noFill/>
        </p:spPr>
        <p:txBody>
          <a:bodyPr wrap="square">
            <a:spAutoFit/>
          </a:bodyPr>
          <a:lstStyle/>
          <a:p>
            <a:pPr algn="l"/>
            <a:r>
              <a:rPr sz="1100" b="0" i="0" dirty="0">
                <a:solidFill>
                  <a:srgbClr val="455A64"/>
                </a:solidFill>
              </a:rPr>
              <a:t>CNN-FCN</a:t>
            </a:r>
          </a:p>
        </p:txBody>
      </p:sp>
      <p:sp>
        <p:nvSpPr>
          <p:cNvPr id="10" name="TextBox 9"/>
          <p:cNvSpPr txBox="1"/>
          <p:nvPr/>
        </p:nvSpPr>
        <p:spPr>
          <a:xfrm>
            <a:off x="3520440" y="1737360"/>
            <a:ext cx="914400" cy="274320"/>
          </a:xfrm>
          <a:prstGeom prst="rect">
            <a:avLst/>
          </a:prstGeom>
          <a:noFill/>
        </p:spPr>
        <p:txBody>
          <a:bodyPr wrap="square">
            <a:spAutoFit/>
          </a:bodyPr>
          <a:lstStyle/>
          <a:p>
            <a:pPr algn="ctr"/>
            <a:r>
              <a:rPr sz="1300" b="1" i="0">
                <a:solidFill>
                  <a:srgbClr val="1565C0"/>
                </a:solidFill>
              </a:rPr>
              <a:t>0.68</a:t>
            </a:r>
          </a:p>
        </p:txBody>
      </p:sp>
      <p:sp>
        <p:nvSpPr>
          <p:cNvPr id="11" name="Rectangle 10"/>
          <p:cNvSpPr/>
          <p:nvPr/>
        </p:nvSpPr>
        <p:spPr>
          <a:xfrm>
            <a:off x="320040" y="2157984"/>
            <a:ext cx="420624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79" y="2249424"/>
            <a:ext cx="2926080" cy="274320"/>
          </a:xfrm>
          <a:prstGeom prst="rect">
            <a:avLst/>
          </a:prstGeom>
          <a:noFill/>
        </p:spPr>
        <p:txBody>
          <a:bodyPr wrap="square">
            <a:spAutoFit/>
          </a:bodyPr>
          <a:lstStyle/>
          <a:p>
            <a:pPr algn="l"/>
            <a:r>
              <a:rPr sz="1100" b="0" i="0">
                <a:solidFill>
                  <a:srgbClr val="455A64"/>
                </a:solidFill>
              </a:rPr>
              <a:t>InceptionTime</a:t>
            </a:r>
          </a:p>
        </p:txBody>
      </p:sp>
      <p:sp>
        <p:nvSpPr>
          <p:cNvPr id="13" name="TextBox 12"/>
          <p:cNvSpPr txBox="1"/>
          <p:nvPr/>
        </p:nvSpPr>
        <p:spPr>
          <a:xfrm>
            <a:off x="3520440" y="2249424"/>
            <a:ext cx="914400" cy="274320"/>
          </a:xfrm>
          <a:prstGeom prst="rect">
            <a:avLst/>
          </a:prstGeom>
          <a:noFill/>
        </p:spPr>
        <p:txBody>
          <a:bodyPr wrap="square">
            <a:spAutoFit/>
          </a:bodyPr>
          <a:lstStyle/>
          <a:p>
            <a:pPr algn="ctr"/>
            <a:r>
              <a:rPr sz="1300" b="1" i="0">
                <a:solidFill>
                  <a:srgbClr val="1565C0"/>
                </a:solidFill>
              </a:rPr>
              <a:t>0.73</a:t>
            </a:r>
          </a:p>
        </p:txBody>
      </p:sp>
      <p:sp>
        <p:nvSpPr>
          <p:cNvPr id="14" name="Rectangle 13"/>
          <p:cNvSpPr/>
          <p:nvPr/>
        </p:nvSpPr>
        <p:spPr>
          <a:xfrm>
            <a:off x="320040" y="2670048"/>
            <a:ext cx="420624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761488"/>
            <a:ext cx="2926080" cy="274320"/>
          </a:xfrm>
          <a:prstGeom prst="rect">
            <a:avLst/>
          </a:prstGeom>
          <a:noFill/>
        </p:spPr>
        <p:txBody>
          <a:bodyPr wrap="square">
            <a:spAutoFit/>
          </a:bodyPr>
          <a:lstStyle/>
          <a:p>
            <a:pPr algn="l"/>
            <a:r>
              <a:rPr sz="1100" b="0" i="0">
                <a:solidFill>
                  <a:srgbClr val="455A64"/>
                </a:solidFill>
              </a:rPr>
              <a:t>ConvTimeNet</a:t>
            </a:r>
          </a:p>
        </p:txBody>
      </p:sp>
      <p:sp>
        <p:nvSpPr>
          <p:cNvPr id="16" name="TextBox 15"/>
          <p:cNvSpPr txBox="1"/>
          <p:nvPr/>
        </p:nvSpPr>
        <p:spPr>
          <a:xfrm>
            <a:off x="3520440" y="2761488"/>
            <a:ext cx="914400" cy="274320"/>
          </a:xfrm>
          <a:prstGeom prst="rect">
            <a:avLst/>
          </a:prstGeom>
          <a:noFill/>
        </p:spPr>
        <p:txBody>
          <a:bodyPr wrap="square">
            <a:spAutoFit/>
          </a:bodyPr>
          <a:lstStyle/>
          <a:p>
            <a:pPr algn="ctr"/>
            <a:r>
              <a:rPr sz="1300" b="1" i="0">
                <a:solidFill>
                  <a:srgbClr val="1565C0"/>
                </a:solidFill>
              </a:rPr>
              <a:t>0.70</a:t>
            </a:r>
          </a:p>
        </p:txBody>
      </p:sp>
      <p:sp>
        <p:nvSpPr>
          <p:cNvPr id="17" name="Rectangle 16"/>
          <p:cNvSpPr/>
          <p:nvPr/>
        </p:nvSpPr>
        <p:spPr>
          <a:xfrm>
            <a:off x="320040" y="3182112"/>
            <a:ext cx="420624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79" y="3273552"/>
            <a:ext cx="2926080" cy="261610"/>
          </a:xfrm>
          <a:prstGeom prst="rect">
            <a:avLst/>
          </a:prstGeom>
          <a:noFill/>
        </p:spPr>
        <p:txBody>
          <a:bodyPr wrap="square">
            <a:spAutoFit/>
          </a:bodyPr>
          <a:lstStyle/>
          <a:p>
            <a:pPr algn="l"/>
            <a:r>
              <a:rPr lang="de-DE" sz="1100" b="0" i="0" dirty="0">
                <a:solidFill>
                  <a:srgbClr val="455A64"/>
                </a:solidFill>
              </a:rPr>
              <a:t> RNN : </a:t>
            </a:r>
            <a:r>
              <a:rPr sz="1100" b="0" i="0" dirty="0">
                <a:solidFill>
                  <a:srgbClr val="455A64"/>
                </a:solidFill>
              </a:rPr>
              <a:t>LSTM-FCN</a:t>
            </a:r>
          </a:p>
        </p:txBody>
      </p:sp>
      <p:sp>
        <p:nvSpPr>
          <p:cNvPr id="19" name="TextBox 18"/>
          <p:cNvSpPr txBox="1"/>
          <p:nvPr/>
        </p:nvSpPr>
        <p:spPr>
          <a:xfrm>
            <a:off x="3520440" y="3273552"/>
            <a:ext cx="914400" cy="274320"/>
          </a:xfrm>
          <a:prstGeom prst="rect">
            <a:avLst/>
          </a:prstGeom>
          <a:noFill/>
        </p:spPr>
        <p:txBody>
          <a:bodyPr wrap="square">
            <a:spAutoFit/>
          </a:bodyPr>
          <a:lstStyle/>
          <a:p>
            <a:pPr algn="ctr"/>
            <a:r>
              <a:rPr sz="1300" b="1" i="0">
                <a:solidFill>
                  <a:srgbClr val="1565C0"/>
                </a:solidFill>
              </a:rPr>
              <a:t>0.70</a:t>
            </a:r>
          </a:p>
        </p:txBody>
      </p:sp>
      <p:sp>
        <p:nvSpPr>
          <p:cNvPr id="20" name="Rectangle 19"/>
          <p:cNvSpPr/>
          <p:nvPr/>
        </p:nvSpPr>
        <p:spPr>
          <a:xfrm>
            <a:off x="320039" y="3694176"/>
            <a:ext cx="420624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78" y="3785615"/>
            <a:ext cx="2926080" cy="261610"/>
          </a:xfrm>
          <a:prstGeom prst="rect">
            <a:avLst/>
          </a:prstGeom>
          <a:noFill/>
        </p:spPr>
        <p:txBody>
          <a:bodyPr wrap="square">
            <a:spAutoFit/>
          </a:bodyPr>
          <a:lstStyle/>
          <a:p>
            <a:pPr algn="l"/>
            <a:r>
              <a:rPr lang="de-DE" sz="1100" b="0" i="0" dirty="0">
                <a:solidFill>
                  <a:srgbClr val="455A64"/>
                </a:solidFill>
              </a:rPr>
              <a:t>Attention </a:t>
            </a:r>
            <a:r>
              <a:rPr lang="de-DE" sz="1100" b="0" i="0" dirty="0" err="1">
                <a:solidFill>
                  <a:srgbClr val="455A64"/>
                </a:solidFill>
              </a:rPr>
              <a:t>based</a:t>
            </a:r>
            <a:r>
              <a:rPr lang="de-DE" sz="1100" b="0" i="0" dirty="0">
                <a:solidFill>
                  <a:srgbClr val="455A64"/>
                </a:solidFill>
              </a:rPr>
              <a:t>: </a:t>
            </a:r>
            <a:r>
              <a:rPr sz="1100" b="0" i="0" dirty="0">
                <a:solidFill>
                  <a:srgbClr val="455A64"/>
                </a:solidFill>
              </a:rPr>
              <a:t>TST</a:t>
            </a:r>
          </a:p>
        </p:txBody>
      </p:sp>
      <p:sp>
        <p:nvSpPr>
          <p:cNvPr id="22" name="TextBox 21"/>
          <p:cNvSpPr txBox="1"/>
          <p:nvPr/>
        </p:nvSpPr>
        <p:spPr>
          <a:xfrm>
            <a:off x="3520439" y="3785615"/>
            <a:ext cx="914400" cy="274320"/>
          </a:xfrm>
          <a:prstGeom prst="rect">
            <a:avLst/>
          </a:prstGeom>
          <a:noFill/>
        </p:spPr>
        <p:txBody>
          <a:bodyPr wrap="square">
            <a:spAutoFit/>
          </a:bodyPr>
          <a:lstStyle/>
          <a:p>
            <a:pPr algn="ctr"/>
            <a:r>
              <a:rPr sz="1300" b="1" i="0">
                <a:solidFill>
                  <a:srgbClr val="1565C0"/>
                </a:solidFill>
              </a:rPr>
              <a:t>0.67</a:t>
            </a:r>
          </a:p>
        </p:txBody>
      </p:sp>
      <p:sp>
        <p:nvSpPr>
          <p:cNvPr id="23" name="Rectangle 22"/>
          <p:cNvSpPr/>
          <p:nvPr/>
        </p:nvSpPr>
        <p:spPr>
          <a:xfrm>
            <a:off x="320040" y="4206240"/>
            <a:ext cx="4206240" cy="45720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79" y="4297680"/>
            <a:ext cx="2926080" cy="261610"/>
          </a:xfrm>
          <a:prstGeom prst="rect">
            <a:avLst/>
          </a:prstGeom>
          <a:noFill/>
        </p:spPr>
        <p:txBody>
          <a:bodyPr wrap="square">
            <a:spAutoFit/>
          </a:bodyPr>
          <a:lstStyle/>
          <a:p>
            <a:pPr algn="l"/>
            <a:r>
              <a:rPr lang="de-DE" sz="1100" b="1" i="0" dirty="0">
                <a:solidFill>
                  <a:srgbClr val="2E7D32"/>
                </a:solidFill>
              </a:rPr>
              <a:t>Prototype </a:t>
            </a:r>
            <a:r>
              <a:rPr lang="de-DE" sz="1100" b="1" i="0" dirty="0" err="1">
                <a:solidFill>
                  <a:srgbClr val="2E7D32"/>
                </a:solidFill>
              </a:rPr>
              <a:t>based</a:t>
            </a:r>
            <a:r>
              <a:rPr lang="de-DE" sz="1100" b="1" i="0" dirty="0">
                <a:solidFill>
                  <a:srgbClr val="2E7D32"/>
                </a:solidFill>
              </a:rPr>
              <a:t> : </a:t>
            </a:r>
            <a:r>
              <a:rPr sz="1100" b="1" i="0" dirty="0" err="1">
                <a:solidFill>
                  <a:srgbClr val="2E7D32"/>
                </a:solidFill>
              </a:rPr>
              <a:t>TapNet</a:t>
            </a:r>
            <a:endParaRPr sz="1100" b="1" i="0" dirty="0">
              <a:solidFill>
                <a:srgbClr val="2E7D32"/>
              </a:solidFill>
            </a:endParaRPr>
          </a:p>
        </p:txBody>
      </p:sp>
      <p:sp>
        <p:nvSpPr>
          <p:cNvPr id="25" name="TextBox 24"/>
          <p:cNvSpPr txBox="1"/>
          <p:nvPr/>
        </p:nvSpPr>
        <p:spPr>
          <a:xfrm>
            <a:off x="3520440" y="4297680"/>
            <a:ext cx="914400" cy="274320"/>
          </a:xfrm>
          <a:prstGeom prst="rect">
            <a:avLst/>
          </a:prstGeom>
          <a:noFill/>
        </p:spPr>
        <p:txBody>
          <a:bodyPr wrap="square">
            <a:spAutoFit/>
          </a:bodyPr>
          <a:lstStyle/>
          <a:p>
            <a:pPr algn="ctr"/>
            <a:r>
              <a:rPr sz="1300" b="1" i="0">
                <a:solidFill>
                  <a:srgbClr val="2E7D32"/>
                </a:solidFill>
              </a:rPr>
              <a:t>0.77</a:t>
            </a:r>
          </a:p>
        </p:txBody>
      </p:sp>
      <p:sp>
        <p:nvSpPr>
          <p:cNvPr id="26" name="Rectangle 25"/>
          <p:cNvSpPr/>
          <p:nvPr/>
        </p:nvSpPr>
        <p:spPr>
          <a:xfrm>
            <a:off x="4663440" y="914400"/>
            <a:ext cx="1554480" cy="384048"/>
          </a:xfrm>
          <a:prstGeom prst="rect">
            <a:avLst/>
          </a:prstGeom>
          <a:solidFill>
            <a:srgbClr val="6A1B9A"/>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40" y="923544"/>
            <a:ext cx="1554480" cy="365760"/>
          </a:xfrm>
          <a:prstGeom prst="rect">
            <a:avLst/>
          </a:prstGeom>
          <a:solidFill>
            <a:srgbClr val="C00000"/>
          </a:solidFill>
        </p:spPr>
        <p:txBody>
          <a:bodyPr wrap="square">
            <a:spAutoFit/>
          </a:bodyPr>
          <a:lstStyle/>
          <a:p>
            <a:pPr algn="ctr"/>
            <a:r>
              <a:rPr sz="1200" b="1" i="0">
                <a:solidFill>
                  <a:srgbClr val="FFFFFF"/>
                </a:solidFill>
              </a:rPr>
              <a:t>Foundation Model</a:t>
            </a:r>
          </a:p>
        </p:txBody>
      </p:sp>
      <p:sp>
        <p:nvSpPr>
          <p:cNvPr id="28" name="Rectangle 27"/>
          <p:cNvSpPr/>
          <p:nvPr/>
        </p:nvSpPr>
        <p:spPr>
          <a:xfrm>
            <a:off x="4663440" y="1645920"/>
            <a:ext cx="155448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09159" y="1673352"/>
            <a:ext cx="1463039" cy="201168"/>
          </a:xfrm>
          <a:prstGeom prst="rect">
            <a:avLst/>
          </a:prstGeom>
          <a:noFill/>
        </p:spPr>
        <p:txBody>
          <a:bodyPr wrap="square">
            <a:spAutoFit/>
          </a:bodyPr>
          <a:lstStyle/>
          <a:p>
            <a:pPr algn="ctr"/>
            <a:r>
              <a:rPr sz="1000" b="0" i="0">
                <a:solidFill>
                  <a:srgbClr val="455A64"/>
                </a:solidFill>
              </a:rPr>
              <a:t>Chronos-2</a:t>
            </a:r>
          </a:p>
        </p:txBody>
      </p:sp>
      <p:sp>
        <p:nvSpPr>
          <p:cNvPr id="30" name="TextBox 29"/>
          <p:cNvSpPr txBox="1"/>
          <p:nvPr/>
        </p:nvSpPr>
        <p:spPr>
          <a:xfrm>
            <a:off x="4709159" y="1883664"/>
            <a:ext cx="1463039" cy="201168"/>
          </a:xfrm>
          <a:prstGeom prst="rect">
            <a:avLst/>
          </a:prstGeom>
          <a:noFill/>
        </p:spPr>
        <p:txBody>
          <a:bodyPr wrap="square">
            <a:spAutoFit/>
          </a:bodyPr>
          <a:lstStyle/>
          <a:p>
            <a:pPr algn="ctr"/>
            <a:r>
              <a:rPr sz="1100" b="1" i="0">
                <a:solidFill>
                  <a:srgbClr val="6A1B9A"/>
                </a:solidFill>
              </a:rPr>
              <a:t>0.66</a:t>
            </a:r>
          </a:p>
        </p:txBody>
      </p:sp>
      <p:sp>
        <p:nvSpPr>
          <p:cNvPr id="31" name="Rectangle 30"/>
          <p:cNvSpPr/>
          <p:nvPr/>
        </p:nvSpPr>
        <p:spPr>
          <a:xfrm>
            <a:off x="6355080" y="914400"/>
            <a:ext cx="1097280" cy="384048"/>
          </a:xfrm>
          <a:prstGeom prst="rect">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923544"/>
            <a:ext cx="1097280" cy="365760"/>
          </a:xfrm>
          <a:prstGeom prst="rect">
            <a:avLst/>
          </a:prstGeom>
          <a:noFill/>
        </p:spPr>
        <p:txBody>
          <a:bodyPr wrap="square">
            <a:spAutoFit/>
          </a:bodyPr>
          <a:lstStyle/>
          <a:p>
            <a:pPr algn="ctr"/>
            <a:r>
              <a:rPr sz="1200" b="1" i="0">
                <a:solidFill>
                  <a:srgbClr val="FFFFFF"/>
                </a:solidFill>
              </a:rPr>
              <a:t>LLM</a:t>
            </a:r>
          </a:p>
        </p:txBody>
      </p:sp>
      <p:sp>
        <p:nvSpPr>
          <p:cNvPr id="33" name="Rectangle 32"/>
          <p:cNvSpPr/>
          <p:nvPr/>
        </p:nvSpPr>
        <p:spPr>
          <a:xfrm>
            <a:off x="6355080" y="1645920"/>
            <a:ext cx="1097280" cy="457200"/>
          </a:xfrm>
          <a:prstGeom prst="rect">
            <a:avLst/>
          </a:prstGeom>
          <a:solidFill>
            <a:srgbClr val="F5F7FA"/>
          </a:solidFill>
          <a:ln w="1016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1673352"/>
            <a:ext cx="1005839" cy="201168"/>
          </a:xfrm>
          <a:prstGeom prst="rect">
            <a:avLst/>
          </a:prstGeom>
          <a:noFill/>
        </p:spPr>
        <p:txBody>
          <a:bodyPr wrap="square">
            <a:spAutoFit/>
          </a:bodyPr>
          <a:lstStyle/>
          <a:p>
            <a:pPr algn="ctr"/>
            <a:r>
              <a:rPr sz="1000" b="0" i="0">
                <a:solidFill>
                  <a:srgbClr val="455A64"/>
                </a:solidFill>
              </a:rPr>
              <a:t>GPT-4o</a:t>
            </a:r>
          </a:p>
        </p:txBody>
      </p:sp>
      <p:sp>
        <p:nvSpPr>
          <p:cNvPr id="35" name="TextBox 34"/>
          <p:cNvSpPr txBox="1"/>
          <p:nvPr/>
        </p:nvSpPr>
        <p:spPr>
          <a:xfrm>
            <a:off x="6400800" y="1883664"/>
            <a:ext cx="1005839" cy="201168"/>
          </a:xfrm>
          <a:prstGeom prst="rect">
            <a:avLst/>
          </a:prstGeom>
          <a:noFill/>
        </p:spPr>
        <p:txBody>
          <a:bodyPr wrap="square">
            <a:spAutoFit/>
          </a:bodyPr>
          <a:lstStyle/>
          <a:p>
            <a:pPr algn="ctr"/>
            <a:r>
              <a:rPr sz="1100" b="1" i="0">
                <a:solidFill>
                  <a:srgbClr val="C62828"/>
                </a:solidFill>
              </a:rPr>
              <a:t>F1: 0.22</a:t>
            </a:r>
          </a:p>
        </p:txBody>
      </p:sp>
      <p:sp>
        <p:nvSpPr>
          <p:cNvPr id="36" name="Rectangle 35"/>
          <p:cNvSpPr/>
          <p:nvPr/>
        </p:nvSpPr>
        <p:spPr>
          <a:xfrm>
            <a:off x="7589520" y="914400"/>
            <a:ext cx="1325880" cy="384048"/>
          </a:xfrm>
          <a:prstGeom prst="rect">
            <a:avLst/>
          </a:prstGeom>
          <a:solidFill>
            <a:srgbClr val="2E7D32"/>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89520" y="923544"/>
            <a:ext cx="1325880" cy="276999"/>
          </a:xfrm>
          <a:prstGeom prst="rect">
            <a:avLst/>
          </a:prstGeom>
          <a:noFill/>
        </p:spPr>
        <p:txBody>
          <a:bodyPr wrap="square">
            <a:spAutoFit/>
          </a:bodyPr>
          <a:lstStyle/>
          <a:p>
            <a:pPr algn="ctr"/>
            <a:r>
              <a:rPr lang="de-DE" sz="1200" b="1" i="0" dirty="0">
                <a:solidFill>
                  <a:srgbClr val="FFFFFF"/>
                </a:solidFill>
              </a:rPr>
              <a:t>Gradient Boosting</a:t>
            </a:r>
            <a:endParaRPr sz="1200" b="1" i="0" dirty="0">
              <a:solidFill>
                <a:srgbClr val="FFFFFF"/>
              </a:solidFill>
            </a:endParaRPr>
          </a:p>
        </p:txBody>
      </p:sp>
      <p:sp>
        <p:nvSpPr>
          <p:cNvPr id="38" name="Rectangle 37"/>
          <p:cNvSpPr/>
          <p:nvPr/>
        </p:nvSpPr>
        <p:spPr>
          <a:xfrm>
            <a:off x="7589520" y="1645920"/>
            <a:ext cx="1325880" cy="457200"/>
          </a:xfrm>
          <a:prstGeom prst="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1673352"/>
            <a:ext cx="1234439" cy="201168"/>
          </a:xfrm>
          <a:prstGeom prst="rect">
            <a:avLst/>
          </a:prstGeom>
          <a:noFill/>
        </p:spPr>
        <p:txBody>
          <a:bodyPr wrap="square">
            <a:spAutoFit/>
          </a:bodyPr>
          <a:lstStyle/>
          <a:p>
            <a:pPr algn="ctr"/>
            <a:r>
              <a:rPr sz="1000" b="1" i="0">
                <a:solidFill>
                  <a:srgbClr val="2E7D32"/>
                </a:solidFill>
              </a:rPr>
              <a:t>XGBoost</a:t>
            </a:r>
          </a:p>
        </p:txBody>
      </p:sp>
      <p:sp>
        <p:nvSpPr>
          <p:cNvPr id="40" name="TextBox 39"/>
          <p:cNvSpPr txBox="1"/>
          <p:nvPr/>
        </p:nvSpPr>
        <p:spPr>
          <a:xfrm>
            <a:off x="7635240" y="1883664"/>
            <a:ext cx="1234439" cy="201168"/>
          </a:xfrm>
          <a:prstGeom prst="rect">
            <a:avLst/>
          </a:prstGeom>
          <a:noFill/>
        </p:spPr>
        <p:txBody>
          <a:bodyPr wrap="square">
            <a:spAutoFit/>
          </a:bodyPr>
          <a:lstStyle/>
          <a:p>
            <a:pPr algn="ctr"/>
            <a:r>
              <a:rPr sz="1100" b="1" i="0">
                <a:solidFill>
                  <a:srgbClr val="2E7D32"/>
                </a:solidFill>
              </a:rPr>
              <a:t>0.86 ★</a:t>
            </a:r>
          </a:p>
        </p:txBody>
      </p:sp>
      <p:sp>
        <p:nvSpPr>
          <p:cNvPr id="41" name="TextBox 40"/>
          <p:cNvSpPr txBox="1"/>
          <p:nvPr/>
        </p:nvSpPr>
        <p:spPr>
          <a:xfrm>
            <a:off x="320040" y="4754880"/>
            <a:ext cx="8503920" cy="230832"/>
          </a:xfrm>
          <a:prstGeom prst="rect">
            <a:avLst/>
          </a:prstGeom>
          <a:noFill/>
        </p:spPr>
        <p:txBody>
          <a:bodyPr wrap="square">
            <a:spAutoFit/>
          </a:bodyPr>
          <a:lstStyle/>
          <a:p>
            <a:pPr algn="ctr"/>
            <a:r>
              <a:rPr sz="900" b="0" i="1" dirty="0">
                <a:solidFill>
                  <a:srgbClr val="90A4AE"/>
                </a:solidFill>
              </a:rPr>
              <a:t>AUC = ROC-AUC (primary metric, mean across 3 folds)  ·  ★ = best result  ·  GPT-4o evaluated on F1 only</a:t>
            </a:r>
            <a:r>
              <a:rPr lang="de-DE" sz="900" b="0" i="1" dirty="0">
                <a:solidFill>
                  <a:srgbClr val="90A4AE"/>
                </a:solidFill>
              </a:rPr>
              <a:t>;</a:t>
            </a:r>
            <a:r>
              <a:rPr sz="900" b="0" i="1" dirty="0">
                <a:solidFill>
                  <a:srgbClr val="90A4AE"/>
                </a:solidFill>
              </a:rPr>
              <a:t> no probability output</a:t>
            </a:r>
          </a:p>
        </p:txBody>
      </p:sp>
    </p:spTree>
    <p:extLst>
      <p:ext uri="{BB962C8B-B14F-4D97-AF65-F5344CB8AC3E}">
        <p14:creationId xmlns:p14="http://schemas.microsoft.com/office/powerpoint/2010/main" val="93020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688699"/>
            <a:ext cx="529596" cy="439765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482600"/>
            <a:ext cx="315230" cy="425168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Rectangle 63">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482600"/>
            <a:ext cx="8200127" cy="4043958"/>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5B0B2AC9-AB9D-A628-29AA-7FA6C2411460}"/>
              </a:ext>
            </a:extLst>
          </p:cNvPr>
          <p:cNvPicPr>
            <a:picLocks noChangeAspect="1"/>
          </p:cNvPicPr>
          <p:nvPr/>
        </p:nvPicPr>
        <p:blipFill>
          <a:blip r:embed="rId3"/>
          <a:srcRect r="2" b="2454"/>
          <a:stretch>
            <a:fillRect/>
          </a:stretch>
        </p:blipFill>
        <p:spPr>
          <a:xfrm>
            <a:off x="5026413" y="849573"/>
            <a:ext cx="3363225" cy="3605228"/>
          </a:xfrm>
          <a:prstGeom prst="rect">
            <a:avLst/>
          </a:prstGeom>
        </p:spPr>
      </p:pic>
      <p:cxnSp>
        <p:nvCxnSpPr>
          <p:cNvPr id="66" name="Straight Connector 65">
            <a:extLst>
              <a:ext uri="{FF2B5EF4-FFF2-40B4-BE49-F238E27FC236}">
                <a16:creationId xmlns:a16="http://schemas.microsoft.com/office/drawing/2014/main" id="{02E9B2EE-76CA-47F3-9977-3F2FCB7FD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72000" y="1304429"/>
            <a:ext cx="0" cy="24003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BD71105-DA58-2772-086F-E66483291B71}"/>
              </a:ext>
            </a:extLst>
          </p:cNvPr>
          <p:cNvPicPr>
            <a:picLocks noChangeAspect="1"/>
          </p:cNvPicPr>
          <p:nvPr/>
        </p:nvPicPr>
        <p:blipFill>
          <a:blip r:embed="rId4"/>
          <a:srcRect r="4" b="1722"/>
          <a:stretch>
            <a:fillRect/>
          </a:stretch>
        </p:blipFill>
        <p:spPr>
          <a:xfrm>
            <a:off x="704213" y="849572"/>
            <a:ext cx="3558202" cy="3605227"/>
          </a:xfrm>
          <a:prstGeom prst="rect">
            <a:avLst/>
          </a:prstGeom>
        </p:spPr>
      </p:pic>
    </p:spTree>
    <p:extLst>
      <p:ext uri="{BB962C8B-B14F-4D97-AF65-F5344CB8AC3E}">
        <p14:creationId xmlns:p14="http://schemas.microsoft.com/office/powerpoint/2010/main" val="291268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688699"/>
            <a:ext cx="529596" cy="439765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482600"/>
            <a:ext cx="315230" cy="425168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Rectangle 28">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482600"/>
            <a:ext cx="8200127" cy="4043958"/>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15C0AA47-4C6D-A196-ED54-DEFE4BD80EC3}"/>
              </a:ext>
            </a:extLst>
          </p:cNvPr>
          <p:cNvPicPr>
            <a:picLocks noChangeAspect="1"/>
          </p:cNvPicPr>
          <p:nvPr/>
        </p:nvPicPr>
        <p:blipFill>
          <a:blip r:embed="rId3"/>
          <a:stretch>
            <a:fillRect/>
          </a:stretch>
        </p:blipFill>
        <p:spPr>
          <a:xfrm>
            <a:off x="965364" y="849572"/>
            <a:ext cx="3192803" cy="3518241"/>
          </a:xfrm>
          <a:prstGeom prst="rect">
            <a:avLst/>
          </a:prstGeom>
        </p:spPr>
      </p:pic>
      <p:cxnSp>
        <p:nvCxnSpPr>
          <p:cNvPr id="31" name="Straight Connector 30">
            <a:extLst>
              <a:ext uri="{FF2B5EF4-FFF2-40B4-BE49-F238E27FC236}">
                <a16:creationId xmlns:a16="http://schemas.microsoft.com/office/drawing/2014/main" id="{02E9B2EE-76CA-47F3-9977-3F2FCB7FD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72000" y="1304429"/>
            <a:ext cx="0" cy="24003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B0D802A-3C68-1611-45B5-B11BE00F3ACE}"/>
              </a:ext>
            </a:extLst>
          </p:cNvPr>
          <p:cNvPicPr>
            <a:picLocks noChangeAspect="1"/>
          </p:cNvPicPr>
          <p:nvPr/>
        </p:nvPicPr>
        <p:blipFill>
          <a:blip r:embed="rId4"/>
          <a:stretch>
            <a:fillRect/>
          </a:stretch>
        </p:blipFill>
        <p:spPr>
          <a:xfrm>
            <a:off x="4956708" y="839500"/>
            <a:ext cx="3413643" cy="3528313"/>
          </a:xfrm>
          <a:prstGeom prst="rect">
            <a:avLst/>
          </a:prstGeom>
        </p:spPr>
      </p:pic>
    </p:spTree>
    <p:extLst>
      <p:ext uri="{BB962C8B-B14F-4D97-AF65-F5344CB8AC3E}">
        <p14:creationId xmlns:p14="http://schemas.microsoft.com/office/powerpoint/2010/main" val="3184460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61C135-8BA1-EDFB-9236-433BBD412E15}"/>
            </a:ext>
          </a:extLst>
        </p:cNvPr>
        <p:cNvGrpSpPr/>
        <p:nvPr/>
      </p:nvGrpSpPr>
      <p:grpSpPr>
        <a:xfrm>
          <a:off x="0" y="0"/>
          <a:ext cx="0" cy="0"/>
          <a:chOff x="0" y="0"/>
          <a:chExt cx="0" cy="0"/>
        </a:xfrm>
      </p:grpSpPr>
      <p:sp>
        <p:nvSpPr>
          <p:cNvPr id="25"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688699"/>
            <a:ext cx="529596" cy="439765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482600"/>
            <a:ext cx="315230" cy="425168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Rectangle 28">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482600"/>
            <a:ext cx="8200127" cy="4043958"/>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F8130B05-F1C8-3EA2-2AEA-3F6231B0FE13}"/>
              </a:ext>
            </a:extLst>
          </p:cNvPr>
          <p:cNvPicPr>
            <a:picLocks noChangeAspect="1"/>
          </p:cNvPicPr>
          <p:nvPr/>
        </p:nvPicPr>
        <p:blipFill>
          <a:blip r:embed="rId3"/>
          <a:stretch>
            <a:fillRect/>
          </a:stretch>
        </p:blipFill>
        <p:spPr>
          <a:xfrm>
            <a:off x="1185592" y="616942"/>
            <a:ext cx="2994666" cy="3814862"/>
          </a:xfrm>
          <a:prstGeom prst="rect">
            <a:avLst/>
          </a:prstGeom>
        </p:spPr>
      </p:pic>
      <p:cxnSp>
        <p:nvCxnSpPr>
          <p:cNvPr id="31" name="Straight Connector 30">
            <a:extLst>
              <a:ext uri="{FF2B5EF4-FFF2-40B4-BE49-F238E27FC236}">
                <a16:creationId xmlns:a16="http://schemas.microsoft.com/office/drawing/2014/main" id="{02E9B2EE-76CA-47F3-9977-3F2FCB7FD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72000" y="1304429"/>
            <a:ext cx="0" cy="24003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BEDCAE9-ECFF-A905-7452-BB8E0B3FD01C}"/>
              </a:ext>
            </a:extLst>
          </p:cNvPr>
          <p:cNvPicPr>
            <a:picLocks noChangeAspect="1"/>
          </p:cNvPicPr>
          <p:nvPr/>
        </p:nvPicPr>
        <p:blipFill>
          <a:blip r:embed="rId4"/>
          <a:stretch>
            <a:fillRect/>
          </a:stretch>
        </p:blipFill>
        <p:spPr>
          <a:xfrm>
            <a:off x="4938465" y="616942"/>
            <a:ext cx="3399944" cy="3756845"/>
          </a:xfrm>
          <a:prstGeom prst="rect">
            <a:avLst/>
          </a:prstGeom>
        </p:spPr>
      </p:pic>
    </p:spTree>
    <p:extLst>
      <p:ext uri="{BB962C8B-B14F-4D97-AF65-F5344CB8AC3E}">
        <p14:creationId xmlns:p14="http://schemas.microsoft.com/office/powerpoint/2010/main" val="117368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C20661-D968-FF3C-F4FF-CF3A6CE7BDD5}"/>
            </a:ext>
          </a:extLst>
        </p:cNvPr>
        <p:cNvGrpSpPr/>
        <p:nvPr/>
      </p:nvGrpSpPr>
      <p:grpSpPr>
        <a:xfrm>
          <a:off x="0" y="0"/>
          <a:ext cx="0" cy="0"/>
          <a:chOff x="0" y="0"/>
          <a:chExt cx="0" cy="0"/>
        </a:xfrm>
      </p:grpSpPr>
      <p:sp>
        <p:nvSpPr>
          <p:cNvPr id="36"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688699"/>
            <a:ext cx="529596" cy="439765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482600"/>
            <a:ext cx="315230" cy="425168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Rectangle 39">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482600"/>
            <a:ext cx="8200127" cy="4043958"/>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CE9C6136-9E58-C1D6-8747-9DDB7624181B}"/>
              </a:ext>
            </a:extLst>
          </p:cNvPr>
          <p:cNvPicPr>
            <a:picLocks noChangeAspect="1"/>
          </p:cNvPicPr>
          <p:nvPr/>
        </p:nvPicPr>
        <p:blipFill>
          <a:blip r:embed="rId3"/>
          <a:stretch>
            <a:fillRect/>
          </a:stretch>
        </p:blipFill>
        <p:spPr>
          <a:xfrm>
            <a:off x="963823" y="631922"/>
            <a:ext cx="7216353" cy="3824667"/>
          </a:xfrm>
          <a:prstGeom prst="rect">
            <a:avLst/>
          </a:prstGeom>
        </p:spPr>
      </p:pic>
    </p:spTree>
    <p:extLst>
      <p:ext uri="{BB962C8B-B14F-4D97-AF65-F5344CB8AC3E}">
        <p14:creationId xmlns:p14="http://schemas.microsoft.com/office/powerpoint/2010/main" val="68911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0CFB124C-4B0C-4A81-8633-17257B151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504" y="427383"/>
            <a:ext cx="6320991" cy="4237485"/>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E455F667-9BDD-D01B-DBEE-F1C3888398AD}"/>
              </a:ext>
            </a:extLst>
          </p:cNvPr>
          <p:cNvPicPr>
            <a:picLocks noChangeAspect="1"/>
          </p:cNvPicPr>
          <p:nvPr/>
        </p:nvPicPr>
        <p:blipFill>
          <a:blip r:embed="rId3"/>
          <a:srcRect l="-1" r="163" b="10103"/>
          <a:stretch>
            <a:fillRect/>
          </a:stretch>
        </p:blipFill>
        <p:spPr>
          <a:xfrm>
            <a:off x="568709" y="221942"/>
            <a:ext cx="8292409" cy="4793941"/>
          </a:xfrm>
          <a:prstGeom prst="rect">
            <a:avLst/>
          </a:prstGeom>
        </p:spPr>
      </p:pic>
    </p:spTree>
    <p:extLst>
      <p:ext uri="{BB962C8B-B14F-4D97-AF65-F5344CB8AC3E}">
        <p14:creationId xmlns:p14="http://schemas.microsoft.com/office/powerpoint/2010/main" val="2636717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AutoShape 2" descr="Wie XGBoost Merkmale verarbeitet">
            <a:extLst>
              <a:ext uri="{FF2B5EF4-FFF2-40B4-BE49-F238E27FC236}">
                <a16:creationId xmlns:a16="http://schemas.microsoft.com/office/drawing/2014/main" id="{F3F0193C-32EF-A116-0966-475E65E44C1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8" name="Picture 7">
            <a:extLst>
              <a:ext uri="{FF2B5EF4-FFF2-40B4-BE49-F238E27FC236}">
                <a16:creationId xmlns:a16="http://schemas.microsoft.com/office/drawing/2014/main" id="{FEBBCE40-DD43-0885-0761-F9961D61960A}"/>
              </a:ext>
            </a:extLst>
          </p:cNvPr>
          <p:cNvPicPr>
            <a:picLocks noChangeAspect="1"/>
          </p:cNvPicPr>
          <p:nvPr/>
        </p:nvPicPr>
        <p:blipFill>
          <a:blip r:embed="rId3"/>
          <a:srcRect r="27537" b="22146"/>
          <a:stretch>
            <a:fillRect/>
          </a:stretch>
        </p:blipFill>
        <p:spPr>
          <a:xfrm>
            <a:off x="1219199" y="93216"/>
            <a:ext cx="6400801" cy="4957068"/>
          </a:xfrm>
          <a:prstGeom prst="rect">
            <a:avLst/>
          </a:prstGeom>
        </p:spPr>
      </p:pic>
    </p:spTree>
    <p:extLst>
      <p:ext uri="{BB962C8B-B14F-4D97-AF65-F5344CB8AC3E}">
        <p14:creationId xmlns:p14="http://schemas.microsoft.com/office/powerpoint/2010/main" val="2911599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What Drives the Model - Feature Importance</a:t>
            </a:r>
            <a:endParaRPr lang="en-US" sz="2400" dirty="0"/>
          </a:p>
        </p:txBody>
      </p:sp>
      <p:sp>
        <p:nvSpPr>
          <p:cNvPr id="3" name="Shape 1"/>
          <p:cNvSpPr/>
          <p:nvPr/>
        </p:nvSpPr>
        <p:spPr>
          <a:xfrm>
            <a:off x="457200" y="731520"/>
            <a:ext cx="8229600" cy="27432"/>
          </a:xfrm>
          <a:prstGeom prst="rect">
            <a:avLst/>
          </a:prstGeom>
          <a:solidFill>
            <a:srgbClr val="1565C0"/>
          </a:solidFill>
          <a:ln w="12700">
            <a:solidFill>
              <a:srgbClr val="1565C0"/>
            </a:solidFill>
            <a:prstDash val="solid"/>
          </a:ln>
        </p:spPr>
        <p:txBody>
          <a:bodyPr/>
          <a:lstStyle/>
          <a:p>
            <a:endParaRPr lang="de-DE"/>
          </a:p>
        </p:txBody>
      </p:sp>
      <p:graphicFrame>
        <p:nvGraphicFramePr>
          <p:cNvPr id="4" name="Chart 0"/>
          <p:cNvGraphicFramePr/>
          <p:nvPr/>
        </p:nvGraphicFramePr>
        <p:xfrm>
          <a:off x="274320" y="804672"/>
          <a:ext cx="59436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92240" y="1097280"/>
            <a:ext cx="365760" cy="365760"/>
          </a:xfrm>
          <a:prstGeom prst="rect">
            <a:avLst/>
          </a:prstGeom>
          <a:solidFill>
            <a:srgbClr val="FF9800"/>
          </a:solidFill>
          <a:ln w="12700">
            <a:solidFill>
              <a:srgbClr val="FF9800"/>
            </a:solidFill>
            <a:prstDash val="solid"/>
          </a:ln>
        </p:spPr>
        <p:txBody>
          <a:bodyPr/>
          <a:lstStyle/>
          <a:p>
            <a:endParaRPr lang="de-DE"/>
          </a:p>
        </p:txBody>
      </p:sp>
      <p:sp>
        <p:nvSpPr>
          <p:cNvPr id="6" name="Text 3"/>
          <p:cNvSpPr/>
          <p:nvPr/>
        </p:nvSpPr>
        <p:spPr>
          <a:xfrm>
            <a:off x="6967728" y="1097280"/>
            <a:ext cx="1828800" cy="457200"/>
          </a:xfrm>
          <a:prstGeom prst="rect">
            <a:avLst/>
          </a:prstGeom>
          <a:noFill/>
          <a:ln/>
        </p:spPr>
        <p:txBody>
          <a:bodyPr wrap="square" lIns="0" tIns="0" rIns="0" bIns="0" rtlCol="0" anchor="t"/>
          <a:lstStyle/>
          <a:p>
            <a:pPr marL="0" indent="0" algn="l">
              <a:buNone/>
            </a:pPr>
            <a:r>
              <a:rPr lang="en-US" sz="1100" dirty="0">
                <a:solidFill>
                  <a:srgbClr val="455A64"/>
                </a:solidFill>
                <a:latin typeface="Calibri" pitchFamily="34" charset="0"/>
                <a:ea typeface="Calibri" pitchFamily="34" charset="-122"/>
                <a:cs typeface="Calibri" pitchFamily="34" charset="-120"/>
              </a:rPr>
              <a:t>Categorical metadata</a:t>
            </a:r>
            <a:endParaRPr lang="en-US" sz="1100" dirty="0"/>
          </a:p>
          <a:p>
            <a:pPr marL="0" indent="0" algn="l">
              <a:buNone/>
            </a:pPr>
            <a:r>
              <a:rPr lang="en-US" sz="1100" dirty="0">
                <a:solidFill>
                  <a:srgbClr val="455A64"/>
                </a:solidFill>
                <a:latin typeface="Calibri" pitchFamily="34" charset="0"/>
                <a:ea typeface="Calibri" pitchFamily="34" charset="-122"/>
                <a:cs typeface="Calibri" pitchFamily="34" charset="-120"/>
              </a:rPr>
              <a:t>(grade, printer)</a:t>
            </a:r>
            <a:endParaRPr lang="en-US" sz="1100" dirty="0"/>
          </a:p>
        </p:txBody>
      </p:sp>
      <p:sp>
        <p:nvSpPr>
          <p:cNvPr id="7" name="Shape 4"/>
          <p:cNvSpPr/>
          <p:nvPr/>
        </p:nvSpPr>
        <p:spPr>
          <a:xfrm>
            <a:off x="6492240" y="2103120"/>
            <a:ext cx="365760" cy="365760"/>
          </a:xfrm>
          <a:prstGeom prst="rect">
            <a:avLst/>
          </a:prstGeom>
          <a:solidFill>
            <a:srgbClr val="4CAF50"/>
          </a:solidFill>
          <a:ln w="12700">
            <a:solidFill>
              <a:srgbClr val="4CAF50"/>
            </a:solidFill>
            <a:prstDash val="solid"/>
          </a:ln>
        </p:spPr>
        <p:txBody>
          <a:bodyPr/>
          <a:lstStyle/>
          <a:p>
            <a:endParaRPr lang="de-DE"/>
          </a:p>
        </p:txBody>
      </p:sp>
      <p:sp>
        <p:nvSpPr>
          <p:cNvPr id="8" name="Text 5"/>
          <p:cNvSpPr/>
          <p:nvPr/>
        </p:nvSpPr>
        <p:spPr>
          <a:xfrm>
            <a:off x="6967728" y="2103120"/>
            <a:ext cx="1828800" cy="457200"/>
          </a:xfrm>
          <a:prstGeom prst="rect">
            <a:avLst/>
          </a:prstGeom>
          <a:noFill/>
          <a:ln/>
        </p:spPr>
        <p:txBody>
          <a:bodyPr wrap="square" lIns="0" tIns="0" rIns="0" bIns="0" rtlCol="0" anchor="t"/>
          <a:lstStyle/>
          <a:p>
            <a:pPr marL="0" indent="0" algn="l">
              <a:buNone/>
            </a:pPr>
            <a:r>
              <a:rPr lang="en-US" sz="1100" dirty="0">
                <a:solidFill>
                  <a:srgbClr val="455A64"/>
                </a:solidFill>
                <a:latin typeface="Calibri" pitchFamily="34" charset="0"/>
                <a:ea typeface="Calibri" pitchFamily="34" charset="-122"/>
                <a:cs typeface="Calibri" pitchFamily="34" charset="-120"/>
              </a:rPr>
              <a:t>Camera time-series</a:t>
            </a:r>
            <a:endParaRPr lang="en-US" sz="1100" dirty="0"/>
          </a:p>
          <a:p>
            <a:pPr marL="0" indent="0" algn="l">
              <a:buNone/>
            </a:pPr>
            <a:r>
              <a:rPr lang="en-US" sz="1100" dirty="0">
                <a:solidFill>
                  <a:srgbClr val="455A64"/>
                </a:solidFill>
                <a:latin typeface="Calibri" pitchFamily="34" charset="0"/>
                <a:ea typeface="Calibri" pitchFamily="34" charset="-122"/>
                <a:cs typeface="Calibri" pitchFamily="34" charset="-120"/>
              </a:rPr>
              <a:t>features</a:t>
            </a:r>
            <a:endParaRPr lang="en-US" sz="1100" dirty="0"/>
          </a:p>
        </p:txBody>
      </p:sp>
      <p:sp>
        <p:nvSpPr>
          <p:cNvPr id="9" name="Shape 6"/>
          <p:cNvSpPr/>
          <p:nvPr/>
        </p:nvSpPr>
        <p:spPr>
          <a:xfrm>
            <a:off x="6492240" y="3108960"/>
            <a:ext cx="365760" cy="365760"/>
          </a:xfrm>
          <a:prstGeom prst="rect">
            <a:avLst/>
          </a:prstGeom>
          <a:solidFill>
            <a:srgbClr val="2196F3"/>
          </a:solidFill>
          <a:ln w="12700">
            <a:solidFill>
              <a:srgbClr val="2196F3"/>
            </a:solidFill>
            <a:prstDash val="solid"/>
          </a:ln>
        </p:spPr>
        <p:txBody>
          <a:bodyPr/>
          <a:lstStyle/>
          <a:p>
            <a:endParaRPr lang="de-DE"/>
          </a:p>
        </p:txBody>
      </p:sp>
      <p:sp>
        <p:nvSpPr>
          <p:cNvPr id="10" name="Text 7"/>
          <p:cNvSpPr/>
          <p:nvPr/>
        </p:nvSpPr>
        <p:spPr>
          <a:xfrm>
            <a:off x="6967728" y="3108960"/>
            <a:ext cx="1828800" cy="457200"/>
          </a:xfrm>
          <a:prstGeom prst="rect">
            <a:avLst/>
          </a:prstGeom>
          <a:noFill/>
          <a:ln/>
        </p:spPr>
        <p:txBody>
          <a:bodyPr wrap="square" lIns="0" tIns="0" rIns="0" bIns="0" rtlCol="0" anchor="t"/>
          <a:lstStyle/>
          <a:p>
            <a:pPr marL="0" indent="0" algn="l">
              <a:buNone/>
            </a:pPr>
            <a:r>
              <a:rPr lang="en-US" sz="1100" dirty="0">
                <a:solidFill>
                  <a:srgbClr val="455A64"/>
                </a:solidFill>
                <a:latin typeface="Calibri" pitchFamily="34" charset="0"/>
                <a:ea typeface="Calibri" pitchFamily="34" charset="-122"/>
                <a:cs typeface="Calibri" pitchFamily="34" charset="-120"/>
              </a:rPr>
              <a:t>Numeric metadata</a:t>
            </a:r>
            <a:endParaRPr lang="en-US" sz="1100" dirty="0"/>
          </a:p>
          <a:p>
            <a:pPr marL="0" indent="0" algn="l">
              <a:buNone/>
            </a:pPr>
            <a:r>
              <a:rPr lang="en-US" sz="1100" dirty="0">
                <a:solidFill>
                  <a:srgbClr val="455A64"/>
                </a:solidFill>
                <a:latin typeface="Calibri" pitchFamily="34" charset="0"/>
                <a:ea typeface="Calibri" pitchFamily="34" charset="-122"/>
                <a:cs typeface="Calibri" pitchFamily="34" charset="-120"/>
              </a:rPr>
              <a:t>(speed, pap_len...)</a:t>
            </a:r>
            <a:endParaRPr lang="en-US" sz="1100" dirty="0"/>
          </a:p>
        </p:txBody>
      </p:sp>
      <p:sp>
        <p:nvSpPr>
          <p:cNvPr id="11" name="Text 8"/>
          <p:cNvSpPr/>
          <p:nvPr/>
        </p:nvSpPr>
        <p:spPr>
          <a:xfrm>
            <a:off x="274320" y="4782312"/>
            <a:ext cx="8595360" cy="292608"/>
          </a:xfrm>
          <a:prstGeom prst="rect">
            <a:avLst/>
          </a:prstGeom>
          <a:noFill/>
          <a:ln/>
        </p:spPr>
        <p:txBody>
          <a:bodyPr wrap="square" lIns="0" tIns="0" rIns="0" bIns="0" rtlCol="0" anchor="t"/>
          <a:lstStyle/>
          <a:p>
            <a:pPr marL="0" indent="0" algn="ctr">
              <a:buNone/>
            </a:pPr>
            <a:r>
              <a:rPr lang="en-US" sz="1100" b="1" dirty="0">
                <a:solidFill>
                  <a:srgbClr val="2E7D32"/>
                </a:solidFill>
                <a:latin typeface="Calibri" pitchFamily="34" charset="0"/>
                <a:ea typeface="Calibri" pitchFamily="34" charset="-122"/>
                <a:cs typeface="Calibri" pitchFamily="34" charset="-120"/>
              </a:rPr>
              <a:t>grade_unknown and cam1_max_tear rank equal at importance 0.031 - confirming both metadata and camera signal drive the model.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192206"/>
            <a:ext cx="9144000" cy="427793"/>
          </a:xfrm>
          <a:prstGeom prst="rect">
            <a:avLst/>
          </a:prstGeom>
          <a:solidFill>
            <a:schemeClr val="bg1"/>
          </a:solidFill>
          <a:ln>
            <a:noFill/>
          </a:ln>
        </p:spPr>
        <p:txBody>
          <a:bodyPr lIns="280000" anchor="ctr"/>
          <a:lstStyle/>
          <a:p>
            <a:r>
              <a:rPr lang="en-US" sz="2000" b="1" dirty="0"/>
              <a:t>Conclusion: Three Questions, Three Answers</a:t>
            </a:r>
          </a:p>
        </p:txBody>
      </p:sp>
      <p:sp>
        <p:nvSpPr>
          <p:cNvPr id="3" name="RQ1"/>
          <p:cNvSpPr/>
          <p:nvPr/>
        </p:nvSpPr>
        <p:spPr>
          <a:xfrm>
            <a:off x="198500" y="797092"/>
            <a:ext cx="2850000" cy="776506"/>
          </a:xfrm>
          <a:prstGeom prst="rect">
            <a:avLst/>
          </a:prstGeom>
          <a:solidFill>
            <a:srgbClr val="E3F2FD"/>
          </a:solidFill>
          <a:ln w="18000">
            <a:solidFill>
              <a:srgbClr val="1565C0"/>
            </a:solidFill>
          </a:ln>
        </p:spPr>
        <p:txBody>
          <a:bodyPr lIns="160000" rIns="160000" anchor="ctr"/>
          <a:lstStyle/>
          <a:p>
            <a:r>
              <a:rPr lang="en-US" sz="1000" b="1" dirty="0">
                <a:solidFill>
                  <a:srgbClr val="1565C0"/>
                </a:solidFill>
              </a:rPr>
              <a:t>RQ1 - Deep Learning</a:t>
            </a:r>
          </a:p>
          <a:p>
            <a:r>
              <a:rPr lang="en-US" sz="1100" b="1" dirty="0">
                <a:solidFill>
                  <a:srgbClr val="F9A825"/>
                </a:solidFill>
              </a:rPr>
              <a:t>Partially works</a:t>
            </a:r>
          </a:p>
          <a:p>
            <a:r>
              <a:rPr lang="en-US" sz="950" dirty="0">
                <a:solidFill>
                  <a:srgbClr val="455A64"/>
                </a:solidFill>
              </a:rPr>
              <a:t>TapNet 0.77 - best DL, limited by metadata access</a:t>
            </a:r>
          </a:p>
        </p:txBody>
      </p:sp>
      <p:sp>
        <p:nvSpPr>
          <p:cNvPr id="4" name="RQ2"/>
          <p:cNvSpPr/>
          <p:nvPr/>
        </p:nvSpPr>
        <p:spPr>
          <a:xfrm>
            <a:off x="3147000" y="826911"/>
            <a:ext cx="2850000" cy="745178"/>
          </a:xfrm>
          <a:prstGeom prst="rect">
            <a:avLst/>
          </a:prstGeom>
          <a:solidFill>
            <a:srgbClr val="FFEBEE"/>
          </a:solidFill>
          <a:ln w="18000">
            <a:solidFill>
              <a:srgbClr val="C0504D"/>
            </a:solidFill>
          </a:ln>
        </p:spPr>
        <p:txBody>
          <a:bodyPr lIns="160000" rIns="160000" anchor="ctr"/>
          <a:lstStyle/>
          <a:p>
            <a:r>
              <a:rPr lang="en-US" sz="1000" b="1" dirty="0">
                <a:solidFill>
                  <a:srgbClr val="C0504D"/>
                </a:solidFill>
              </a:rPr>
              <a:t>RQ2 - Pre-trained Models</a:t>
            </a:r>
          </a:p>
          <a:p>
            <a:r>
              <a:rPr lang="en-US" sz="1100" b="1" dirty="0">
                <a:solidFill>
                  <a:srgbClr val="C0504D"/>
                </a:solidFill>
              </a:rPr>
              <a:t>Do not transfer</a:t>
            </a:r>
          </a:p>
          <a:p>
            <a:r>
              <a:rPr lang="en-US" sz="950" dirty="0">
                <a:solidFill>
                  <a:srgbClr val="455A64"/>
                </a:solidFill>
              </a:rPr>
              <a:t>Chronos 0.66 / GPT-4o below CNN - architectural mismatch</a:t>
            </a:r>
          </a:p>
        </p:txBody>
      </p:sp>
      <p:sp>
        <p:nvSpPr>
          <p:cNvPr id="5" name="RQ3"/>
          <p:cNvSpPr/>
          <p:nvPr/>
        </p:nvSpPr>
        <p:spPr>
          <a:xfrm>
            <a:off x="6095500" y="816750"/>
            <a:ext cx="2850000" cy="745178"/>
          </a:xfrm>
          <a:prstGeom prst="rect">
            <a:avLst/>
          </a:prstGeom>
          <a:solidFill>
            <a:srgbClr val="E8F5E9"/>
          </a:solidFill>
          <a:ln w="18000">
            <a:solidFill>
              <a:srgbClr val="2E7D32"/>
            </a:solidFill>
          </a:ln>
        </p:spPr>
        <p:txBody>
          <a:bodyPr lIns="160000" rIns="160000" anchor="ctr"/>
          <a:lstStyle/>
          <a:p>
            <a:r>
              <a:rPr lang="en-US" sz="1000" b="1" dirty="0">
                <a:solidFill>
                  <a:srgbClr val="2E7D32"/>
                </a:solidFill>
              </a:rPr>
              <a:t>RQ3 - Domain Knowledge</a:t>
            </a:r>
          </a:p>
          <a:p>
            <a:r>
              <a:rPr lang="en-US" sz="1100" b="1" dirty="0">
                <a:solidFill>
                  <a:srgbClr val="2E7D32"/>
                </a:solidFill>
              </a:rPr>
              <a:t>Wins decisively</a:t>
            </a:r>
          </a:p>
          <a:p>
            <a:r>
              <a:rPr lang="en-US" sz="950" dirty="0">
                <a:solidFill>
                  <a:srgbClr val="455A64"/>
                </a:solidFill>
              </a:rPr>
              <a:t>XGBoost 0.86 - representation beats algorithm</a:t>
            </a:r>
          </a:p>
        </p:txBody>
      </p:sp>
      <p:sp>
        <p:nvSpPr>
          <p:cNvPr id="10" name="Banner"/>
          <p:cNvSpPr/>
          <p:nvPr/>
        </p:nvSpPr>
        <p:spPr>
          <a:xfrm>
            <a:off x="1859887" y="4511000"/>
            <a:ext cx="4906825" cy="380000"/>
          </a:xfrm>
          <a:prstGeom prst="rect">
            <a:avLst/>
          </a:prstGeom>
          <a:solidFill>
            <a:srgbClr val="1565C0"/>
          </a:solidFill>
          <a:ln>
            <a:noFill/>
          </a:ln>
        </p:spPr>
        <p:txBody>
          <a:bodyPr lIns="220000" anchor="ctr"/>
          <a:lstStyle/>
          <a:p>
            <a:r>
              <a:rPr lang="en-US" sz="1400" dirty="0">
                <a:solidFill>
                  <a:schemeClr val="bg1"/>
                </a:solidFill>
              </a:rPr>
              <a:t>0.86 goes into production today. The ceiling is making it scale.</a:t>
            </a:r>
          </a:p>
        </p:txBody>
      </p:sp>
      <p:sp>
        <p:nvSpPr>
          <p:cNvPr id="11" name="Shape 1">
            <a:extLst>
              <a:ext uri="{FF2B5EF4-FFF2-40B4-BE49-F238E27FC236}">
                <a16:creationId xmlns:a16="http://schemas.microsoft.com/office/drawing/2014/main" id="{73E67257-4D8C-C2D6-2331-2E301E60E100}"/>
              </a:ext>
            </a:extLst>
          </p:cNvPr>
          <p:cNvSpPr/>
          <p:nvPr/>
        </p:nvSpPr>
        <p:spPr>
          <a:xfrm>
            <a:off x="198500" y="632500"/>
            <a:ext cx="8229600" cy="27432"/>
          </a:xfrm>
          <a:prstGeom prst="rect">
            <a:avLst/>
          </a:prstGeom>
          <a:solidFill>
            <a:srgbClr val="1565C0"/>
          </a:solidFill>
          <a:ln w="12700">
            <a:solidFill>
              <a:srgbClr val="1565C0"/>
            </a:solidFill>
            <a:prstDash val="solid"/>
          </a:ln>
        </p:spPr>
        <p:txBody>
          <a:bodyPr/>
          <a:lstStyle/>
          <a:p>
            <a:endParaRPr lang="de-DE"/>
          </a:p>
        </p:txBody>
      </p:sp>
      <p:sp>
        <p:nvSpPr>
          <p:cNvPr id="16" name="Shape 2">
            <a:extLst>
              <a:ext uri="{FF2B5EF4-FFF2-40B4-BE49-F238E27FC236}">
                <a16:creationId xmlns:a16="http://schemas.microsoft.com/office/drawing/2014/main" id="{75C0CF21-2CDA-EAD7-0A13-94D6EDC3C5FC}"/>
              </a:ext>
            </a:extLst>
          </p:cNvPr>
          <p:cNvSpPr/>
          <p:nvPr/>
        </p:nvSpPr>
        <p:spPr>
          <a:xfrm>
            <a:off x="1325994" y="1948315"/>
            <a:ext cx="2386784" cy="93484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17" name="Text 3">
            <a:extLst>
              <a:ext uri="{FF2B5EF4-FFF2-40B4-BE49-F238E27FC236}">
                <a16:creationId xmlns:a16="http://schemas.microsoft.com/office/drawing/2014/main" id="{68C5531D-844C-A5A2-8D9B-B1C801099944}"/>
              </a:ext>
            </a:extLst>
          </p:cNvPr>
          <p:cNvSpPr/>
          <p:nvPr/>
        </p:nvSpPr>
        <p:spPr>
          <a:xfrm>
            <a:off x="1463153" y="2085475"/>
            <a:ext cx="2229413" cy="192022"/>
          </a:xfrm>
          <a:prstGeom prst="rect">
            <a:avLst/>
          </a:prstGeom>
          <a:noFill/>
          <a:ln/>
        </p:spPr>
        <p:txBody>
          <a:bodyPr wrap="square" lIns="0" tIns="0" rIns="0" bIns="0" rtlCol="0" anchor="t"/>
          <a:lstStyle/>
          <a:p>
            <a:pPr marL="0" indent="0" algn="l">
              <a:buNone/>
            </a:pPr>
            <a:r>
              <a:rPr lang="en-US" sz="1300" b="1" dirty="0" err="1">
                <a:solidFill>
                  <a:srgbClr val="455A64"/>
                </a:solidFill>
                <a:latin typeface="Calibri" pitchFamily="34" charset="0"/>
                <a:ea typeface="Calibri" pitchFamily="34" charset="-122"/>
                <a:cs typeface="Calibri" pitchFamily="34" charset="-120"/>
              </a:rPr>
              <a:t>TapNet</a:t>
            </a:r>
            <a:r>
              <a:rPr lang="en-US" sz="1300" b="1" dirty="0">
                <a:solidFill>
                  <a:srgbClr val="455A64"/>
                </a:solidFill>
                <a:latin typeface="Calibri" pitchFamily="34" charset="0"/>
                <a:ea typeface="Calibri" pitchFamily="34" charset="-122"/>
                <a:cs typeface="Calibri" pitchFamily="34" charset="-120"/>
              </a:rPr>
              <a:t>  -  No Metadata</a:t>
            </a:r>
            <a:endParaRPr lang="en-US" sz="1300" dirty="0"/>
          </a:p>
        </p:txBody>
      </p:sp>
      <p:sp>
        <p:nvSpPr>
          <p:cNvPr id="18" name="Text 4">
            <a:extLst>
              <a:ext uri="{FF2B5EF4-FFF2-40B4-BE49-F238E27FC236}">
                <a16:creationId xmlns:a16="http://schemas.microsoft.com/office/drawing/2014/main" id="{9F8FBC08-F8F7-7F9E-E108-6FA3E01E5318}"/>
              </a:ext>
            </a:extLst>
          </p:cNvPr>
          <p:cNvSpPr/>
          <p:nvPr/>
        </p:nvSpPr>
        <p:spPr>
          <a:xfrm>
            <a:off x="1463153" y="2478667"/>
            <a:ext cx="1311420" cy="429521"/>
          </a:xfrm>
          <a:prstGeom prst="rect">
            <a:avLst/>
          </a:prstGeom>
          <a:noFill/>
          <a:ln/>
        </p:spPr>
        <p:txBody>
          <a:bodyPr wrap="square" lIns="0" tIns="0" rIns="0" bIns="0" rtlCol="0" anchor="t"/>
          <a:lstStyle/>
          <a:p>
            <a:pPr marL="0" indent="0" algn="ctr">
              <a:buNone/>
            </a:pPr>
            <a:r>
              <a:rPr lang="en-US" b="1" dirty="0">
                <a:solidFill>
                  <a:srgbClr val="455A64"/>
                </a:solidFill>
                <a:latin typeface="Calibri" pitchFamily="34" charset="0"/>
                <a:ea typeface="Calibri" pitchFamily="34" charset="-122"/>
                <a:cs typeface="Calibri" pitchFamily="34" charset="-120"/>
              </a:rPr>
              <a:t>0.77</a:t>
            </a:r>
            <a:endParaRPr lang="en-US" dirty="0"/>
          </a:p>
        </p:txBody>
      </p:sp>
      <p:sp>
        <p:nvSpPr>
          <p:cNvPr id="21" name="Text 7">
            <a:extLst>
              <a:ext uri="{FF2B5EF4-FFF2-40B4-BE49-F238E27FC236}">
                <a16:creationId xmlns:a16="http://schemas.microsoft.com/office/drawing/2014/main" id="{05DE65E5-E2A3-CEBA-F0B5-674CACF3C01B}"/>
              </a:ext>
            </a:extLst>
          </p:cNvPr>
          <p:cNvSpPr/>
          <p:nvPr/>
        </p:nvSpPr>
        <p:spPr>
          <a:xfrm>
            <a:off x="4846591" y="1917648"/>
            <a:ext cx="1311420" cy="416680"/>
          </a:xfrm>
          <a:prstGeom prst="rect">
            <a:avLst/>
          </a:prstGeom>
          <a:noFill/>
          <a:ln/>
        </p:spPr>
        <p:txBody>
          <a:bodyPr wrap="square" lIns="0" tIns="0" rIns="0" bIns="0" rtlCol="0" anchor="t"/>
          <a:lstStyle/>
          <a:p>
            <a:pPr marL="0" indent="0" algn="ctr">
              <a:buNone/>
            </a:pPr>
            <a:r>
              <a:rPr lang="en-US" b="1" dirty="0">
                <a:solidFill>
                  <a:srgbClr val="1565C0"/>
                </a:solidFill>
                <a:latin typeface="Calibri" pitchFamily="34" charset="0"/>
                <a:ea typeface="Calibri" pitchFamily="34" charset="-122"/>
                <a:cs typeface="Calibri" pitchFamily="34" charset="-120"/>
              </a:rPr>
              <a:t>0.81</a:t>
            </a:r>
            <a:endParaRPr lang="en-US" dirty="0"/>
          </a:p>
        </p:txBody>
      </p:sp>
      <p:sp>
        <p:nvSpPr>
          <p:cNvPr id="22" name="Shape 8">
            <a:extLst>
              <a:ext uri="{FF2B5EF4-FFF2-40B4-BE49-F238E27FC236}">
                <a16:creationId xmlns:a16="http://schemas.microsoft.com/office/drawing/2014/main" id="{56EE5BA5-9E8C-BEC2-474B-155867455AA4}"/>
              </a:ext>
            </a:extLst>
          </p:cNvPr>
          <p:cNvSpPr/>
          <p:nvPr/>
        </p:nvSpPr>
        <p:spPr>
          <a:xfrm>
            <a:off x="7145378" y="2255238"/>
            <a:ext cx="760623" cy="269616"/>
          </a:xfrm>
          <a:prstGeom prst="rect">
            <a:avLst/>
          </a:prstGeom>
          <a:solidFill>
            <a:srgbClr val="1565C0"/>
          </a:solidFill>
          <a:ln w="12700">
            <a:solidFill>
              <a:srgbClr val="1565C0"/>
            </a:solidFill>
            <a:prstDash val="solid"/>
          </a:ln>
        </p:spPr>
        <p:txBody>
          <a:bodyPr/>
          <a:lstStyle/>
          <a:p>
            <a:endParaRPr lang="de-DE"/>
          </a:p>
        </p:txBody>
      </p:sp>
      <p:sp>
        <p:nvSpPr>
          <p:cNvPr id="23" name="Text 9">
            <a:extLst>
              <a:ext uri="{FF2B5EF4-FFF2-40B4-BE49-F238E27FC236}">
                <a16:creationId xmlns:a16="http://schemas.microsoft.com/office/drawing/2014/main" id="{0FD1485F-CD73-C104-FCC1-E044A73C7F57}"/>
              </a:ext>
            </a:extLst>
          </p:cNvPr>
          <p:cNvSpPr/>
          <p:nvPr/>
        </p:nvSpPr>
        <p:spPr>
          <a:xfrm>
            <a:off x="7233375" y="2240667"/>
            <a:ext cx="584631" cy="230185"/>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+0.04</a:t>
            </a:r>
            <a:endParaRPr lang="en-US" sz="1800" dirty="0"/>
          </a:p>
        </p:txBody>
      </p:sp>
      <p:sp>
        <p:nvSpPr>
          <p:cNvPr id="24" name="Shape 10">
            <a:extLst>
              <a:ext uri="{FF2B5EF4-FFF2-40B4-BE49-F238E27FC236}">
                <a16:creationId xmlns:a16="http://schemas.microsoft.com/office/drawing/2014/main" id="{07489CED-02B9-4DD1-8597-FA2067EDB482}"/>
              </a:ext>
            </a:extLst>
          </p:cNvPr>
          <p:cNvSpPr/>
          <p:nvPr/>
        </p:nvSpPr>
        <p:spPr>
          <a:xfrm>
            <a:off x="1325994" y="3272753"/>
            <a:ext cx="2386784" cy="934840"/>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25" name="Text 11">
            <a:extLst>
              <a:ext uri="{FF2B5EF4-FFF2-40B4-BE49-F238E27FC236}">
                <a16:creationId xmlns:a16="http://schemas.microsoft.com/office/drawing/2014/main" id="{DADA7E5A-C518-FA4A-7101-6526B519A709}"/>
              </a:ext>
            </a:extLst>
          </p:cNvPr>
          <p:cNvSpPr/>
          <p:nvPr/>
        </p:nvSpPr>
        <p:spPr>
          <a:xfrm>
            <a:off x="1463153" y="3409913"/>
            <a:ext cx="2229413" cy="192022"/>
          </a:xfrm>
          <a:prstGeom prst="rect">
            <a:avLst/>
          </a:prstGeom>
          <a:noFill/>
          <a:ln/>
        </p:spPr>
        <p:txBody>
          <a:bodyPr wrap="square" lIns="0" tIns="0" rIns="0" bIns="0" rtlCol="0" anchor="t"/>
          <a:lstStyle/>
          <a:p>
            <a:pPr marL="0" indent="0" algn="l">
              <a:buNone/>
            </a:pPr>
            <a:r>
              <a:rPr lang="en-US" sz="1300" b="1" dirty="0">
                <a:solidFill>
                  <a:srgbClr val="455A64"/>
                </a:solidFill>
                <a:latin typeface="Calibri" pitchFamily="34" charset="0"/>
                <a:ea typeface="Calibri" pitchFamily="34" charset="-122"/>
                <a:cs typeface="Calibri" pitchFamily="34" charset="-120"/>
              </a:rPr>
              <a:t>XGBoost  -  No Metadata</a:t>
            </a:r>
            <a:endParaRPr lang="en-US" sz="1300" dirty="0"/>
          </a:p>
        </p:txBody>
      </p:sp>
      <p:sp>
        <p:nvSpPr>
          <p:cNvPr id="26" name="Text 12">
            <a:extLst>
              <a:ext uri="{FF2B5EF4-FFF2-40B4-BE49-F238E27FC236}">
                <a16:creationId xmlns:a16="http://schemas.microsoft.com/office/drawing/2014/main" id="{7846579D-E646-AB85-BEC3-B96BD270DD31}"/>
              </a:ext>
            </a:extLst>
          </p:cNvPr>
          <p:cNvSpPr/>
          <p:nvPr/>
        </p:nvSpPr>
        <p:spPr>
          <a:xfrm>
            <a:off x="1463153" y="3803105"/>
            <a:ext cx="1311420" cy="429521"/>
          </a:xfrm>
          <a:prstGeom prst="rect">
            <a:avLst/>
          </a:prstGeom>
          <a:noFill/>
          <a:ln/>
        </p:spPr>
        <p:txBody>
          <a:bodyPr wrap="square" lIns="0" tIns="0" rIns="0" bIns="0" rtlCol="0" anchor="t"/>
          <a:lstStyle/>
          <a:p>
            <a:pPr marL="0" indent="0" algn="ctr">
              <a:buNone/>
            </a:pPr>
            <a:r>
              <a:rPr lang="en-US" b="1" dirty="0">
                <a:solidFill>
                  <a:srgbClr val="455A64"/>
                </a:solidFill>
                <a:latin typeface="Calibri" pitchFamily="34" charset="0"/>
                <a:ea typeface="Calibri" pitchFamily="34" charset="-122"/>
                <a:cs typeface="Calibri" pitchFamily="34" charset="-120"/>
              </a:rPr>
              <a:t>0.79</a:t>
            </a:r>
            <a:endParaRPr lang="en-US" dirty="0"/>
          </a:p>
        </p:txBody>
      </p:sp>
      <p:sp>
        <p:nvSpPr>
          <p:cNvPr id="27" name="Shape 13">
            <a:extLst>
              <a:ext uri="{FF2B5EF4-FFF2-40B4-BE49-F238E27FC236}">
                <a16:creationId xmlns:a16="http://schemas.microsoft.com/office/drawing/2014/main" id="{4377F2A2-F7B4-AB7A-3825-13BDE5FCC64F}"/>
              </a:ext>
            </a:extLst>
          </p:cNvPr>
          <p:cNvSpPr/>
          <p:nvPr/>
        </p:nvSpPr>
        <p:spPr>
          <a:xfrm>
            <a:off x="4572000" y="3291740"/>
            <a:ext cx="2386784" cy="915853"/>
          </a:xfrm>
          <a:prstGeom prst="rect">
            <a:avLst/>
          </a:prstGeom>
          <a:solidFill>
            <a:srgbClr val="E8F5E9"/>
          </a:solidFill>
          <a:ln w="38100">
            <a:solidFill>
              <a:srgbClr val="2E7D32"/>
            </a:solidFill>
            <a:prstDash val="solid"/>
          </a:ln>
          <a:effectLst>
            <a:outerShdw blurRad="101600" dist="38100" dir="8100000" algn="bl" rotWithShape="0">
              <a:srgbClr val="000000">
                <a:alpha val="10000"/>
              </a:srgbClr>
            </a:outerShdw>
          </a:effectLst>
        </p:spPr>
        <p:txBody>
          <a:bodyPr/>
          <a:lstStyle/>
          <a:p>
            <a:endParaRPr lang="de-DE"/>
          </a:p>
        </p:txBody>
      </p:sp>
      <p:sp>
        <p:nvSpPr>
          <p:cNvPr id="28" name="Text 14">
            <a:extLst>
              <a:ext uri="{FF2B5EF4-FFF2-40B4-BE49-F238E27FC236}">
                <a16:creationId xmlns:a16="http://schemas.microsoft.com/office/drawing/2014/main" id="{16DA6DD4-011E-4E82-6E4E-7F92FAAA47EA}"/>
              </a:ext>
            </a:extLst>
          </p:cNvPr>
          <p:cNvSpPr/>
          <p:nvPr/>
        </p:nvSpPr>
        <p:spPr>
          <a:xfrm>
            <a:off x="4709159" y="3428900"/>
            <a:ext cx="2229413" cy="186281"/>
          </a:xfrm>
          <a:prstGeom prst="rect">
            <a:avLst/>
          </a:prstGeom>
          <a:noFill/>
          <a:ln/>
        </p:spPr>
        <p:txBody>
          <a:bodyPr wrap="square" lIns="0" tIns="0" rIns="0" bIns="0" rtlCol="0" anchor="t"/>
          <a:lstStyle/>
          <a:p>
            <a:pPr marL="0" indent="0" algn="l">
              <a:buNone/>
            </a:pPr>
            <a:r>
              <a:rPr lang="en-US" sz="1300" b="1" dirty="0">
                <a:solidFill>
                  <a:srgbClr val="455A64"/>
                </a:solidFill>
                <a:latin typeface="Calibri" pitchFamily="34" charset="0"/>
                <a:ea typeface="Calibri" pitchFamily="34" charset="-122"/>
                <a:cs typeface="Calibri" pitchFamily="34" charset="-120"/>
              </a:rPr>
              <a:t>XGBoost  -  With Metadata</a:t>
            </a:r>
            <a:endParaRPr lang="en-US" sz="1300" dirty="0"/>
          </a:p>
        </p:txBody>
      </p:sp>
      <p:sp>
        <p:nvSpPr>
          <p:cNvPr id="29" name="Text 15">
            <a:extLst>
              <a:ext uri="{FF2B5EF4-FFF2-40B4-BE49-F238E27FC236}">
                <a16:creationId xmlns:a16="http://schemas.microsoft.com/office/drawing/2014/main" id="{884DEC5B-B5B5-1271-8750-41334D7DE08D}"/>
              </a:ext>
            </a:extLst>
          </p:cNvPr>
          <p:cNvSpPr/>
          <p:nvPr/>
        </p:nvSpPr>
        <p:spPr>
          <a:xfrm>
            <a:off x="4709159" y="3822093"/>
            <a:ext cx="1311420" cy="416680"/>
          </a:xfrm>
          <a:prstGeom prst="rect">
            <a:avLst/>
          </a:prstGeom>
          <a:noFill/>
          <a:ln/>
        </p:spPr>
        <p:txBody>
          <a:bodyPr wrap="square" lIns="0" tIns="0" rIns="0" bIns="0" rtlCol="0" anchor="t"/>
          <a:lstStyle/>
          <a:p>
            <a:pPr marL="0" indent="0" algn="ctr">
              <a:buNone/>
            </a:pPr>
            <a:r>
              <a:rPr lang="en-US" b="1" dirty="0">
                <a:solidFill>
                  <a:srgbClr val="2E7D32"/>
                </a:solidFill>
                <a:latin typeface="Calibri" pitchFamily="34" charset="0"/>
                <a:ea typeface="Calibri" pitchFamily="34" charset="-122"/>
                <a:cs typeface="Calibri" pitchFamily="34" charset="-120"/>
              </a:rPr>
              <a:t>0.86</a:t>
            </a:r>
            <a:endParaRPr lang="en-US" dirty="0"/>
          </a:p>
        </p:txBody>
      </p:sp>
      <p:sp>
        <p:nvSpPr>
          <p:cNvPr id="30" name="Shape 16">
            <a:extLst>
              <a:ext uri="{FF2B5EF4-FFF2-40B4-BE49-F238E27FC236}">
                <a16:creationId xmlns:a16="http://schemas.microsoft.com/office/drawing/2014/main" id="{FD2A0603-7664-A211-915B-9C65CED094A4}"/>
              </a:ext>
            </a:extLst>
          </p:cNvPr>
          <p:cNvSpPr/>
          <p:nvPr/>
        </p:nvSpPr>
        <p:spPr>
          <a:xfrm>
            <a:off x="7145378" y="3606814"/>
            <a:ext cx="760623" cy="269616"/>
          </a:xfrm>
          <a:prstGeom prst="rect">
            <a:avLst/>
          </a:prstGeom>
          <a:solidFill>
            <a:srgbClr val="2E7D32"/>
          </a:solidFill>
          <a:ln w="12700">
            <a:solidFill>
              <a:srgbClr val="2E7D32"/>
            </a:solidFill>
            <a:prstDash val="solid"/>
          </a:ln>
        </p:spPr>
        <p:txBody>
          <a:bodyPr/>
          <a:lstStyle/>
          <a:p>
            <a:endParaRPr lang="de-DE"/>
          </a:p>
        </p:txBody>
      </p:sp>
      <p:sp>
        <p:nvSpPr>
          <p:cNvPr id="31" name="Text 17">
            <a:extLst>
              <a:ext uri="{FF2B5EF4-FFF2-40B4-BE49-F238E27FC236}">
                <a16:creationId xmlns:a16="http://schemas.microsoft.com/office/drawing/2014/main" id="{7C5906DF-5F0C-810C-6B40-47E06FFC10D4}"/>
              </a:ext>
            </a:extLst>
          </p:cNvPr>
          <p:cNvSpPr/>
          <p:nvPr/>
        </p:nvSpPr>
        <p:spPr>
          <a:xfrm>
            <a:off x="7096216" y="3590527"/>
            <a:ext cx="760623" cy="245106"/>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+0.07</a:t>
            </a:r>
            <a:endParaRPr lang="en-US" sz="1800" dirty="0"/>
          </a:p>
        </p:txBody>
      </p:sp>
      <p:sp>
        <p:nvSpPr>
          <p:cNvPr id="32" name="Shape 5">
            <a:extLst>
              <a:ext uri="{FF2B5EF4-FFF2-40B4-BE49-F238E27FC236}">
                <a16:creationId xmlns:a16="http://schemas.microsoft.com/office/drawing/2014/main" id="{0EF58604-F7B9-1EAE-D440-2E246A660C3E}"/>
              </a:ext>
            </a:extLst>
          </p:cNvPr>
          <p:cNvSpPr/>
          <p:nvPr/>
        </p:nvSpPr>
        <p:spPr>
          <a:xfrm>
            <a:off x="4572000" y="1973348"/>
            <a:ext cx="2320684" cy="906891"/>
          </a:xfrm>
          <a:prstGeom prst="rect">
            <a:avLst/>
          </a:prstGeom>
          <a:solidFill>
            <a:srgbClr val="F5F7FA"/>
          </a:solidFill>
          <a:ln w="12700">
            <a:solidFill>
              <a:srgbClr val="D0D7DE"/>
            </a:solidFill>
            <a:prstDash val="solid"/>
          </a:ln>
          <a:effectLst>
            <a:outerShdw blurRad="101600" dist="38100" dir="8100000" algn="bl" rotWithShape="0">
              <a:srgbClr val="000000">
                <a:alpha val="10000"/>
              </a:srgbClr>
            </a:outerShdw>
          </a:effectLst>
        </p:spPr>
        <p:txBody>
          <a:bodyPr/>
          <a:lstStyle/>
          <a:p>
            <a:endParaRPr lang="de-DE"/>
          </a:p>
        </p:txBody>
      </p:sp>
      <p:sp>
        <p:nvSpPr>
          <p:cNvPr id="33" name="Text 6">
            <a:extLst>
              <a:ext uri="{FF2B5EF4-FFF2-40B4-BE49-F238E27FC236}">
                <a16:creationId xmlns:a16="http://schemas.microsoft.com/office/drawing/2014/main" id="{07AE363A-F304-750D-7E00-863ACDCE316D}"/>
              </a:ext>
            </a:extLst>
          </p:cNvPr>
          <p:cNvSpPr/>
          <p:nvPr/>
        </p:nvSpPr>
        <p:spPr>
          <a:xfrm>
            <a:off x="4709159" y="2122739"/>
            <a:ext cx="2229413" cy="192022"/>
          </a:xfrm>
          <a:prstGeom prst="rect">
            <a:avLst/>
          </a:prstGeom>
          <a:noFill/>
          <a:ln/>
        </p:spPr>
        <p:txBody>
          <a:bodyPr wrap="square" lIns="0" tIns="0" rIns="0" bIns="0" rtlCol="0" anchor="t"/>
          <a:lstStyle/>
          <a:p>
            <a:pPr marL="0" indent="0" algn="l">
              <a:buNone/>
            </a:pPr>
            <a:r>
              <a:rPr lang="en-US" sz="1300" b="1" dirty="0" err="1">
                <a:solidFill>
                  <a:srgbClr val="455A64"/>
                </a:solidFill>
                <a:latin typeface="Calibri" pitchFamily="34" charset="0"/>
                <a:ea typeface="Calibri" pitchFamily="34" charset="-122"/>
                <a:cs typeface="Calibri" pitchFamily="34" charset="-120"/>
              </a:rPr>
              <a:t>TapNet</a:t>
            </a:r>
            <a:r>
              <a:rPr lang="en-US" sz="1300" b="1" dirty="0">
                <a:solidFill>
                  <a:srgbClr val="455A64"/>
                </a:solidFill>
                <a:latin typeface="Calibri" pitchFamily="34" charset="0"/>
                <a:ea typeface="Calibri" pitchFamily="34" charset="-122"/>
                <a:cs typeface="Calibri" pitchFamily="34" charset="-120"/>
              </a:rPr>
              <a:t>  -  With Metadata</a:t>
            </a:r>
            <a:endParaRPr lang="en-US" sz="1300" dirty="0"/>
          </a:p>
        </p:txBody>
      </p:sp>
      <p:sp>
        <p:nvSpPr>
          <p:cNvPr id="34" name="Text 7">
            <a:extLst>
              <a:ext uri="{FF2B5EF4-FFF2-40B4-BE49-F238E27FC236}">
                <a16:creationId xmlns:a16="http://schemas.microsoft.com/office/drawing/2014/main" id="{60AD11A1-C43F-5F55-7B08-FEBB071DC8E0}"/>
              </a:ext>
            </a:extLst>
          </p:cNvPr>
          <p:cNvSpPr/>
          <p:nvPr/>
        </p:nvSpPr>
        <p:spPr>
          <a:xfrm>
            <a:off x="4709159" y="2503701"/>
            <a:ext cx="1311420" cy="416680"/>
          </a:xfrm>
          <a:prstGeom prst="rect">
            <a:avLst/>
          </a:prstGeom>
          <a:noFill/>
          <a:ln/>
        </p:spPr>
        <p:txBody>
          <a:bodyPr wrap="square" lIns="0" tIns="0" rIns="0" bIns="0" rtlCol="0" anchor="t"/>
          <a:lstStyle/>
          <a:p>
            <a:pPr marL="0" indent="0" algn="ctr">
              <a:buNone/>
            </a:pPr>
            <a:r>
              <a:rPr lang="en-US" b="1" dirty="0">
                <a:solidFill>
                  <a:srgbClr val="1565C0"/>
                </a:solidFill>
                <a:latin typeface="Calibri" pitchFamily="34" charset="0"/>
                <a:ea typeface="Calibri" pitchFamily="34" charset="-122"/>
                <a:cs typeface="Calibri" pitchFamily="34" charset="-120"/>
              </a:rPr>
              <a:t>0.81</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From Research to Production</a:t>
            </a:r>
            <a:endParaRPr lang="en-US" sz="2400" dirty="0"/>
          </a:p>
        </p:txBody>
      </p:sp>
      <p:sp>
        <p:nvSpPr>
          <p:cNvPr id="3" name="Shape 1"/>
          <p:cNvSpPr/>
          <p:nvPr/>
        </p:nvSpPr>
        <p:spPr>
          <a:xfrm>
            <a:off x="457200" y="731520"/>
            <a:ext cx="8229600" cy="27432"/>
          </a:xfrm>
          <a:prstGeom prst="rect">
            <a:avLst/>
          </a:prstGeom>
          <a:solidFill>
            <a:srgbClr val="1565C0"/>
          </a:solidFill>
          <a:ln w="12700">
            <a:solidFill>
              <a:srgbClr val="1565C0"/>
            </a:solidFill>
            <a:prstDash val="solid"/>
          </a:ln>
        </p:spPr>
        <p:txBody>
          <a:bodyPr/>
          <a:lstStyle/>
          <a:p>
            <a:endParaRPr lang="de-DE"/>
          </a:p>
        </p:txBody>
      </p:sp>
      <p:sp>
        <p:nvSpPr>
          <p:cNvPr id="4" name="Shape 2"/>
          <p:cNvSpPr/>
          <p:nvPr/>
        </p:nvSpPr>
        <p:spPr>
          <a:xfrm>
            <a:off x="274320" y="960120"/>
            <a:ext cx="1737360" cy="2560320"/>
          </a:xfrm>
          <a:prstGeom prst="rect">
            <a:avLst/>
          </a:prstGeom>
          <a:solidFill>
            <a:srgbClr val="F0F4FF"/>
          </a:solidFill>
          <a:ln w="25400">
            <a:solidFill>
              <a:srgbClr val="1565C0"/>
            </a:solidFill>
            <a:prstDash val="solid"/>
          </a:ln>
        </p:spPr>
        <p:txBody>
          <a:bodyPr/>
          <a:lstStyle/>
          <a:p>
            <a:endParaRPr lang="de-DE"/>
          </a:p>
        </p:txBody>
      </p:sp>
      <p:sp>
        <p:nvSpPr>
          <p:cNvPr id="5" name="Text 3"/>
          <p:cNvSpPr/>
          <p:nvPr/>
        </p:nvSpPr>
        <p:spPr>
          <a:xfrm>
            <a:off x="274320" y="1280160"/>
            <a:ext cx="1737360" cy="548640"/>
          </a:xfrm>
          <a:prstGeom prst="rect">
            <a:avLst/>
          </a:prstGeom>
          <a:noFill/>
          <a:ln/>
        </p:spPr>
        <p:txBody>
          <a:bodyPr wrap="square" lIns="0" tIns="0" rIns="0" bIns="0" rtlCol="0" anchor="t"/>
          <a:lstStyle/>
          <a:p>
            <a:pPr marL="0" indent="0" algn="ctr">
              <a:buNone/>
            </a:pPr>
            <a:r>
              <a:rPr lang="en-US" sz="1300" b="1" dirty="0">
                <a:solidFill>
                  <a:srgbClr val="1565C0"/>
                </a:solidFill>
                <a:latin typeface="Calibri" pitchFamily="34" charset="0"/>
                <a:ea typeface="Calibri" pitchFamily="34" charset="-122"/>
                <a:cs typeface="Calibri" pitchFamily="34" charset="-120"/>
              </a:rPr>
              <a:t>New Break</a:t>
            </a:r>
            <a:endParaRPr lang="en-US" sz="1300" dirty="0"/>
          </a:p>
          <a:p>
            <a:pPr marL="0" indent="0" algn="ctr">
              <a:buNone/>
            </a:pPr>
            <a:r>
              <a:rPr lang="en-US" sz="1300" b="1" dirty="0">
                <a:solidFill>
                  <a:srgbClr val="1565C0"/>
                </a:solidFill>
                <a:latin typeface="Calibri" pitchFamily="34" charset="0"/>
                <a:ea typeface="Calibri" pitchFamily="34" charset="-122"/>
                <a:cs typeface="Calibri" pitchFamily="34" charset="-120"/>
              </a:rPr>
              <a:t>Event</a:t>
            </a:r>
            <a:endParaRPr lang="en-US" sz="1300" dirty="0"/>
          </a:p>
        </p:txBody>
      </p:sp>
      <p:sp>
        <p:nvSpPr>
          <p:cNvPr id="6" name="Text 4"/>
          <p:cNvSpPr/>
          <p:nvPr/>
        </p:nvSpPr>
        <p:spPr>
          <a:xfrm>
            <a:off x="274320" y="1920240"/>
            <a:ext cx="1737360" cy="731520"/>
          </a:xfrm>
          <a:prstGeom prst="rect">
            <a:avLst/>
          </a:prstGeom>
          <a:noFill/>
          <a:ln/>
        </p:spPr>
        <p:txBody>
          <a:bodyPr wrap="square" lIns="0" tIns="0" rIns="0" bIns="0" rtlCol="0" anchor="t"/>
          <a:lstStyle/>
          <a:p>
            <a:pPr marL="0" indent="0" algn="ctr">
              <a:buNone/>
            </a:pPr>
            <a:r>
              <a:rPr lang="en-US" sz="1100" dirty="0">
                <a:solidFill>
                  <a:srgbClr val="455A64"/>
                </a:solidFill>
                <a:latin typeface="Calibri" pitchFamily="34" charset="0"/>
                <a:ea typeface="Calibri" pitchFamily="34" charset="-122"/>
                <a:cs typeface="Calibri" pitchFamily="34" charset="-120"/>
              </a:rPr>
              <a:t>300 frames</a:t>
            </a:r>
            <a:endParaRPr lang="en-US" sz="1100" dirty="0"/>
          </a:p>
          <a:p>
            <a:pPr marL="0" indent="0" algn="ctr">
              <a:buNone/>
            </a:pPr>
            <a:r>
              <a:rPr lang="en-US" sz="1100" dirty="0">
                <a:solidFill>
                  <a:srgbClr val="455A64"/>
                </a:solidFill>
                <a:latin typeface="Calibri" pitchFamily="34" charset="0"/>
                <a:ea typeface="Calibri" pitchFamily="34" charset="-122"/>
                <a:cs typeface="Calibri" pitchFamily="34" charset="-120"/>
              </a:rPr>
              <a:t>10 channels</a:t>
            </a:r>
            <a:endParaRPr lang="en-US" sz="1100" dirty="0"/>
          </a:p>
          <a:p>
            <a:pPr marL="0" indent="0" algn="ctr">
              <a:buNone/>
            </a:pPr>
            <a:r>
              <a:rPr lang="en-US" sz="1100" dirty="0">
                <a:solidFill>
                  <a:srgbClr val="455A64"/>
                </a:solidFill>
                <a:latin typeface="Calibri" pitchFamily="34" charset="0"/>
                <a:ea typeface="Calibri" pitchFamily="34" charset="-122"/>
                <a:cs typeface="Calibri" pitchFamily="34" charset="-120"/>
              </a:rPr>
              <a:t>+ metadata</a:t>
            </a:r>
            <a:endParaRPr lang="en-US" sz="1100" dirty="0"/>
          </a:p>
        </p:txBody>
      </p:sp>
      <p:sp>
        <p:nvSpPr>
          <p:cNvPr id="7" name="Shape 5"/>
          <p:cNvSpPr/>
          <p:nvPr/>
        </p:nvSpPr>
        <p:spPr>
          <a:xfrm>
            <a:off x="2029968" y="2148840"/>
            <a:ext cx="365760" cy="91440"/>
          </a:xfrm>
          <a:prstGeom prst="rect">
            <a:avLst/>
          </a:prstGeom>
          <a:solidFill>
            <a:srgbClr val="90A4AE"/>
          </a:solidFill>
          <a:ln w="12700">
            <a:solidFill>
              <a:srgbClr val="90A4AE"/>
            </a:solidFill>
            <a:prstDash val="solid"/>
          </a:ln>
        </p:spPr>
        <p:txBody>
          <a:bodyPr/>
          <a:lstStyle/>
          <a:p>
            <a:endParaRPr lang="de-DE"/>
          </a:p>
        </p:txBody>
      </p:sp>
      <p:sp>
        <p:nvSpPr>
          <p:cNvPr id="8" name="Shape 6"/>
          <p:cNvSpPr/>
          <p:nvPr/>
        </p:nvSpPr>
        <p:spPr>
          <a:xfrm>
            <a:off x="2423160" y="1143000"/>
            <a:ext cx="1828800" cy="2194560"/>
          </a:xfrm>
          <a:prstGeom prst="rect">
            <a:avLst/>
          </a:prstGeom>
          <a:solidFill>
            <a:schemeClr val="accent1">
              <a:lumMod val="20000"/>
              <a:lumOff val="80000"/>
            </a:schemeClr>
          </a:solidFill>
          <a:ln w="38100">
            <a:solidFill>
              <a:schemeClr val="accent5">
                <a:lumMod val="50000"/>
              </a:schemeClr>
            </a:solidFill>
            <a:prstDash val="solid"/>
          </a:ln>
          <a:effectLst>
            <a:outerShdw blurRad="101600" dist="38100" dir="8100000" algn="bl" rotWithShape="0">
              <a:srgbClr val="000000">
                <a:alpha val="10000"/>
              </a:srgbClr>
            </a:outerShdw>
          </a:effectLst>
        </p:spPr>
        <p:txBody>
          <a:bodyPr/>
          <a:lstStyle/>
          <a:p>
            <a:endParaRPr lang="de-DE"/>
          </a:p>
        </p:txBody>
      </p:sp>
      <p:sp>
        <p:nvSpPr>
          <p:cNvPr id="9" name="Text 7"/>
          <p:cNvSpPr/>
          <p:nvPr/>
        </p:nvSpPr>
        <p:spPr>
          <a:xfrm>
            <a:off x="2423160" y="1463040"/>
            <a:ext cx="1828800" cy="914400"/>
          </a:xfrm>
          <a:prstGeom prst="rect">
            <a:avLst/>
          </a:prstGeom>
          <a:noFill/>
          <a:ln/>
        </p:spPr>
        <p:txBody>
          <a:bodyPr wrap="square" lIns="0" tIns="0" rIns="0" bIns="0" rtlCol="0" anchor="t"/>
          <a:lstStyle/>
          <a:p>
            <a:pPr algn="ctr"/>
            <a:r>
              <a:rPr lang="en-US" sz="1300" b="1" dirty="0">
                <a:solidFill>
                  <a:srgbClr val="1565C0"/>
                </a:solidFill>
                <a:latin typeface="Calibri" pitchFamily="34" charset="0"/>
                <a:ea typeface="Calibri" pitchFamily="34" charset="-122"/>
                <a:cs typeface="Calibri" pitchFamily="34" charset="-120"/>
              </a:rPr>
              <a:t>XGBoost</a:t>
            </a:r>
          </a:p>
          <a:p>
            <a:pPr algn="ctr"/>
            <a:r>
              <a:rPr lang="en-US" sz="1300" b="1" dirty="0">
                <a:solidFill>
                  <a:srgbClr val="1565C0"/>
                </a:solidFill>
                <a:latin typeface="Calibri" pitchFamily="34" charset="0"/>
                <a:ea typeface="Calibri" pitchFamily="34" charset="-122"/>
                <a:cs typeface="Calibri" pitchFamily="34" charset="-120"/>
              </a:rPr>
              <a:t>0.86 AUC</a:t>
            </a:r>
          </a:p>
        </p:txBody>
      </p:sp>
      <p:sp>
        <p:nvSpPr>
          <p:cNvPr id="10" name="Text 8"/>
          <p:cNvSpPr/>
          <p:nvPr/>
        </p:nvSpPr>
        <p:spPr>
          <a:xfrm>
            <a:off x="2423160" y="2514600"/>
            <a:ext cx="1828800" cy="457200"/>
          </a:xfrm>
          <a:prstGeom prst="rect">
            <a:avLst/>
          </a:prstGeom>
          <a:noFill/>
          <a:ln/>
        </p:spPr>
        <p:txBody>
          <a:bodyPr wrap="square" lIns="0" tIns="0" rIns="0" bIns="0" rtlCol="0" anchor="t"/>
          <a:lstStyle/>
          <a:p>
            <a:pPr marL="0" indent="0" algn="ctr">
              <a:buNone/>
            </a:pPr>
            <a:r>
              <a:rPr lang="en-US" sz="1100" dirty="0">
                <a:solidFill>
                  <a:srgbClr val="455A64"/>
                </a:solidFill>
                <a:latin typeface="Calibri" pitchFamily="34" charset="0"/>
                <a:ea typeface="Calibri" pitchFamily="34" charset="-122"/>
                <a:cs typeface="Calibri" pitchFamily="34" charset="-120"/>
              </a:rPr>
              <a:t>Probability with confidence score </a:t>
            </a:r>
            <a:endParaRPr lang="en-US" sz="1100" dirty="0"/>
          </a:p>
        </p:txBody>
      </p:sp>
      <p:sp>
        <p:nvSpPr>
          <p:cNvPr id="11" name="Shape 9"/>
          <p:cNvSpPr/>
          <p:nvPr/>
        </p:nvSpPr>
        <p:spPr>
          <a:xfrm>
            <a:off x="4265676" y="2148840"/>
            <a:ext cx="475488" cy="91440"/>
          </a:xfrm>
          <a:prstGeom prst="rect">
            <a:avLst/>
          </a:prstGeom>
          <a:solidFill>
            <a:srgbClr val="90A4AE"/>
          </a:solidFill>
          <a:ln w="12700">
            <a:solidFill>
              <a:srgbClr val="90A4AE"/>
            </a:solidFill>
            <a:prstDash val="solid"/>
          </a:ln>
        </p:spPr>
        <p:txBody>
          <a:bodyPr/>
          <a:lstStyle/>
          <a:p>
            <a:endParaRPr lang="de-DE"/>
          </a:p>
        </p:txBody>
      </p:sp>
      <p:sp>
        <p:nvSpPr>
          <p:cNvPr id="12" name="Shape 10"/>
          <p:cNvSpPr/>
          <p:nvPr/>
        </p:nvSpPr>
        <p:spPr>
          <a:xfrm>
            <a:off x="4754880" y="960120"/>
            <a:ext cx="1261872" cy="2560320"/>
          </a:xfrm>
          <a:prstGeom prst="rect">
            <a:avLst/>
          </a:prstGeom>
          <a:solidFill>
            <a:srgbClr val="FFFFFF"/>
          </a:solidFill>
          <a:ln w="25400">
            <a:solidFill>
              <a:schemeClr val="accent3"/>
            </a:solidFill>
            <a:prstDash val="solid"/>
          </a:ln>
        </p:spPr>
        <p:txBody>
          <a:bodyPr/>
          <a:lstStyle/>
          <a:p>
            <a:endParaRPr lang="de-DE"/>
          </a:p>
        </p:txBody>
      </p:sp>
      <p:sp>
        <p:nvSpPr>
          <p:cNvPr id="13" name="Shape 11"/>
          <p:cNvSpPr/>
          <p:nvPr/>
        </p:nvSpPr>
        <p:spPr>
          <a:xfrm>
            <a:off x="4754880" y="960120"/>
            <a:ext cx="1261872" cy="347472"/>
          </a:xfrm>
          <a:prstGeom prst="rect">
            <a:avLst/>
          </a:prstGeom>
          <a:solidFill>
            <a:schemeClr val="accent3"/>
          </a:solidFill>
          <a:ln w="12700">
            <a:solidFill>
              <a:srgbClr val="1565C0"/>
            </a:solidFill>
            <a:prstDash val="solid"/>
          </a:ln>
        </p:spPr>
        <p:txBody>
          <a:bodyPr/>
          <a:lstStyle/>
          <a:p>
            <a:pPr algn="just"/>
            <a:endParaRPr lang="de-DE" dirty="0"/>
          </a:p>
        </p:txBody>
      </p:sp>
      <p:sp>
        <p:nvSpPr>
          <p:cNvPr id="14" name="Text 12"/>
          <p:cNvSpPr/>
          <p:nvPr/>
        </p:nvSpPr>
        <p:spPr>
          <a:xfrm>
            <a:off x="4754880" y="969264"/>
            <a:ext cx="1261872" cy="329184"/>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Zone 1</a:t>
            </a:r>
            <a:endParaRPr lang="en-US" sz="1100" dirty="0"/>
          </a:p>
        </p:txBody>
      </p:sp>
      <p:sp>
        <p:nvSpPr>
          <p:cNvPr id="15" name="Text 13"/>
          <p:cNvSpPr/>
          <p:nvPr/>
        </p:nvSpPr>
        <p:spPr>
          <a:xfrm>
            <a:off x="4754880" y="1389888"/>
            <a:ext cx="1261872" cy="548640"/>
          </a:xfrm>
          <a:prstGeom prst="rect">
            <a:avLst/>
          </a:prstGeom>
          <a:noFill/>
          <a:ln/>
        </p:spPr>
        <p:txBody>
          <a:bodyPr wrap="square" lIns="0" tIns="0" rIns="0" bIns="0" rtlCol="0" anchor="t"/>
          <a:lstStyle/>
          <a:p>
            <a:pPr algn="ctr"/>
            <a:r>
              <a:rPr lang="en-US" sz="1000" b="1" dirty="0">
                <a:solidFill>
                  <a:schemeClr val="accent3">
                    <a:lumMod val="75000"/>
                  </a:schemeClr>
                </a:solidFill>
                <a:latin typeface="Calibri" pitchFamily="34" charset="0"/>
                <a:ea typeface="Calibri" pitchFamily="34" charset="-122"/>
                <a:cs typeface="Calibri" pitchFamily="34" charset="-120"/>
              </a:rPr>
              <a:t>High confidence</a:t>
            </a:r>
          </a:p>
          <a:p>
            <a:pPr algn="ctr"/>
            <a:r>
              <a:rPr lang="en-US" sz="1000" b="1" dirty="0">
                <a:solidFill>
                  <a:schemeClr val="accent3">
                    <a:lumMod val="75000"/>
                  </a:schemeClr>
                </a:solidFill>
                <a:latin typeface="Calibri" pitchFamily="34" charset="0"/>
                <a:ea typeface="Calibri" pitchFamily="34" charset="-122"/>
                <a:cs typeface="Calibri" pitchFamily="34" charset="-120"/>
              </a:rPr>
              <a:t>MACHINE</a:t>
            </a:r>
          </a:p>
        </p:txBody>
      </p:sp>
      <p:sp>
        <p:nvSpPr>
          <p:cNvPr id="16" name="Text 14"/>
          <p:cNvSpPr/>
          <p:nvPr/>
        </p:nvSpPr>
        <p:spPr>
          <a:xfrm>
            <a:off x="4754880" y="2011680"/>
            <a:ext cx="1261872" cy="594360"/>
          </a:xfrm>
          <a:prstGeom prst="rect">
            <a:avLst/>
          </a:prstGeom>
          <a:noFill/>
          <a:ln/>
        </p:spPr>
        <p:txBody>
          <a:bodyPr wrap="square" lIns="0" tIns="0" rIns="0" bIns="0" rtlCol="0" anchor="t"/>
          <a:lstStyle/>
          <a:p>
            <a:pPr marL="0" indent="0" algn="ctr">
              <a:buNone/>
            </a:pPr>
            <a:r>
              <a:rPr lang="en-US" sz="950" dirty="0">
                <a:solidFill>
                  <a:srgbClr val="455A64"/>
                </a:solidFill>
                <a:latin typeface="Calibri" pitchFamily="34" charset="0"/>
                <a:ea typeface="Calibri" pitchFamily="34" charset="-122"/>
                <a:cs typeface="Calibri" pitchFamily="34" charset="-120"/>
              </a:rPr>
              <a:t>Auto-label</a:t>
            </a:r>
            <a:endParaRPr lang="en-US" sz="950" dirty="0"/>
          </a:p>
          <a:p>
            <a:pPr marL="0" indent="0" algn="ctr">
              <a:buNone/>
            </a:pPr>
            <a:r>
              <a:rPr lang="en-US" sz="950" dirty="0">
                <a:solidFill>
                  <a:srgbClr val="455A64"/>
                </a:solidFill>
                <a:latin typeface="Calibri" pitchFamily="34" charset="0"/>
                <a:ea typeface="Calibri" pitchFamily="34" charset="-122"/>
                <a:cs typeface="Calibri" pitchFamily="34" charset="-120"/>
              </a:rPr>
              <a:t>no intervention</a:t>
            </a:r>
            <a:endParaRPr lang="en-US" sz="950" dirty="0"/>
          </a:p>
        </p:txBody>
      </p:sp>
      <p:sp>
        <p:nvSpPr>
          <p:cNvPr id="17" name="Shape 15"/>
          <p:cNvSpPr/>
          <p:nvPr/>
        </p:nvSpPr>
        <p:spPr>
          <a:xfrm>
            <a:off x="6172200" y="960120"/>
            <a:ext cx="1261872" cy="2560320"/>
          </a:xfrm>
          <a:prstGeom prst="rect">
            <a:avLst/>
          </a:prstGeom>
          <a:solidFill>
            <a:srgbClr val="FFFFFF"/>
          </a:solidFill>
          <a:ln w="25400">
            <a:solidFill>
              <a:srgbClr val="F9A825"/>
            </a:solidFill>
            <a:prstDash val="solid"/>
          </a:ln>
        </p:spPr>
        <p:txBody>
          <a:bodyPr/>
          <a:lstStyle/>
          <a:p>
            <a:endParaRPr lang="de-DE"/>
          </a:p>
        </p:txBody>
      </p:sp>
      <p:sp>
        <p:nvSpPr>
          <p:cNvPr id="18" name="Shape 16"/>
          <p:cNvSpPr/>
          <p:nvPr/>
        </p:nvSpPr>
        <p:spPr>
          <a:xfrm>
            <a:off x="6172200" y="960120"/>
            <a:ext cx="1261872" cy="347472"/>
          </a:xfrm>
          <a:prstGeom prst="rect">
            <a:avLst/>
          </a:prstGeom>
          <a:solidFill>
            <a:srgbClr val="F9A825"/>
          </a:solidFill>
          <a:ln w="12700">
            <a:solidFill>
              <a:srgbClr val="F9A825"/>
            </a:solidFill>
            <a:prstDash val="solid"/>
          </a:ln>
        </p:spPr>
        <p:txBody>
          <a:bodyPr/>
          <a:lstStyle/>
          <a:p>
            <a:endParaRPr lang="de-DE"/>
          </a:p>
        </p:txBody>
      </p:sp>
      <p:sp>
        <p:nvSpPr>
          <p:cNvPr id="19" name="Text 17"/>
          <p:cNvSpPr/>
          <p:nvPr/>
        </p:nvSpPr>
        <p:spPr>
          <a:xfrm>
            <a:off x="6172200" y="969264"/>
            <a:ext cx="1261872" cy="329184"/>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Zone 2</a:t>
            </a:r>
            <a:endParaRPr lang="en-US" sz="1100" dirty="0"/>
          </a:p>
        </p:txBody>
      </p:sp>
      <p:sp>
        <p:nvSpPr>
          <p:cNvPr id="20" name="Text 18"/>
          <p:cNvSpPr/>
          <p:nvPr/>
        </p:nvSpPr>
        <p:spPr>
          <a:xfrm>
            <a:off x="6172200" y="1389888"/>
            <a:ext cx="1261872" cy="548640"/>
          </a:xfrm>
          <a:prstGeom prst="rect">
            <a:avLst/>
          </a:prstGeom>
          <a:noFill/>
          <a:ln/>
        </p:spPr>
        <p:txBody>
          <a:bodyPr wrap="square" lIns="0" tIns="0" rIns="0" bIns="0" rtlCol="0" anchor="t"/>
          <a:lstStyle/>
          <a:p>
            <a:pPr marL="0" indent="0" algn="ctr">
              <a:buNone/>
            </a:pPr>
            <a:r>
              <a:rPr lang="en-US" sz="1000" b="1" dirty="0">
                <a:solidFill>
                  <a:srgbClr val="F9A825"/>
                </a:solidFill>
                <a:latin typeface="Calibri" pitchFamily="34" charset="0"/>
                <a:ea typeface="Calibri" pitchFamily="34" charset="-122"/>
                <a:cs typeface="Calibri" pitchFamily="34" charset="-120"/>
              </a:rPr>
              <a:t>Uncertain</a:t>
            </a:r>
            <a:endParaRPr lang="en-US" sz="1000" dirty="0"/>
          </a:p>
          <a:p>
            <a:pPr marL="0" indent="0" algn="ctr">
              <a:buNone/>
            </a:pPr>
            <a:r>
              <a:rPr lang="en-US" sz="1000" b="1" dirty="0">
                <a:solidFill>
                  <a:srgbClr val="F9A825"/>
                </a:solidFill>
                <a:latin typeface="Calibri" pitchFamily="34" charset="0"/>
                <a:ea typeface="Calibri" pitchFamily="34" charset="-122"/>
                <a:cs typeface="Calibri" pitchFamily="34" charset="-120"/>
              </a:rPr>
              <a:t>REVIEW</a:t>
            </a:r>
            <a:endParaRPr lang="en-US" sz="1000" dirty="0"/>
          </a:p>
        </p:txBody>
      </p:sp>
      <p:sp>
        <p:nvSpPr>
          <p:cNvPr id="21" name="Text 19"/>
          <p:cNvSpPr/>
          <p:nvPr/>
        </p:nvSpPr>
        <p:spPr>
          <a:xfrm>
            <a:off x="6172200" y="2011680"/>
            <a:ext cx="1261872" cy="594360"/>
          </a:xfrm>
          <a:prstGeom prst="rect">
            <a:avLst/>
          </a:prstGeom>
          <a:noFill/>
          <a:ln/>
        </p:spPr>
        <p:txBody>
          <a:bodyPr wrap="square" lIns="0" tIns="0" rIns="0" bIns="0" rtlCol="0" anchor="t"/>
          <a:lstStyle/>
          <a:p>
            <a:pPr marL="0" indent="0" algn="ctr">
              <a:buNone/>
            </a:pPr>
            <a:r>
              <a:rPr lang="en-US" sz="950" dirty="0">
                <a:solidFill>
                  <a:srgbClr val="455A64"/>
                </a:solidFill>
                <a:latin typeface="Calibri" pitchFamily="34" charset="0"/>
                <a:ea typeface="Calibri" pitchFamily="34" charset="-122"/>
                <a:cs typeface="Calibri" pitchFamily="34" charset="-120"/>
              </a:rPr>
              <a:t>Human expert</a:t>
            </a:r>
            <a:endParaRPr lang="en-US" sz="950" dirty="0"/>
          </a:p>
          <a:p>
            <a:pPr marL="0" indent="0" algn="ctr">
              <a:buNone/>
            </a:pPr>
            <a:r>
              <a:rPr lang="en-US" sz="950" dirty="0">
                <a:solidFill>
                  <a:srgbClr val="455A64"/>
                </a:solidFill>
                <a:latin typeface="Calibri" pitchFamily="34" charset="0"/>
                <a:ea typeface="Calibri" pitchFamily="34" charset="-122"/>
                <a:cs typeface="Calibri" pitchFamily="34" charset="-120"/>
              </a:rPr>
              <a:t>decides</a:t>
            </a:r>
            <a:endParaRPr lang="en-US" sz="950" dirty="0"/>
          </a:p>
        </p:txBody>
      </p:sp>
      <p:sp>
        <p:nvSpPr>
          <p:cNvPr id="22" name="Shape 20"/>
          <p:cNvSpPr/>
          <p:nvPr/>
        </p:nvSpPr>
        <p:spPr>
          <a:xfrm>
            <a:off x="7589520" y="960120"/>
            <a:ext cx="1261872" cy="2560320"/>
          </a:xfrm>
          <a:prstGeom prst="rect">
            <a:avLst/>
          </a:prstGeom>
          <a:solidFill>
            <a:srgbClr val="FFFFFF"/>
          </a:solidFill>
          <a:ln w="25400">
            <a:solidFill>
              <a:srgbClr val="E53935"/>
            </a:solidFill>
            <a:prstDash val="solid"/>
          </a:ln>
        </p:spPr>
        <p:txBody>
          <a:bodyPr/>
          <a:lstStyle/>
          <a:p>
            <a:endParaRPr lang="de-DE"/>
          </a:p>
        </p:txBody>
      </p:sp>
      <p:sp>
        <p:nvSpPr>
          <p:cNvPr id="23" name="Shape 21"/>
          <p:cNvSpPr/>
          <p:nvPr/>
        </p:nvSpPr>
        <p:spPr>
          <a:xfrm>
            <a:off x="7589520" y="960120"/>
            <a:ext cx="1261872" cy="347472"/>
          </a:xfrm>
          <a:prstGeom prst="rect">
            <a:avLst/>
          </a:prstGeom>
          <a:solidFill>
            <a:srgbClr val="E53935"/>
          </a:solidFill>
          <a:ln w="12700">
            <a:solidFill>
              <a:srgbClr val="E53935"/>
            </a:solidFill>
            <a:prstDash val="solid"/>
          </a:ln>
        </p:spPr>
        <p:txBody>
          <a:bodyPr/>
          <a:lstStyle/>
          <a:p>
            <a:endParaRPr lang="de-DE"/>
          </a:p>
        </p:txBody>
      </p:sp>
      <p:sp>
        <p:nvSpPr>
          <p:cNvPr id="24" name="Text 22"/>
          <p:cNvSpPr/>
          <p:nvPr/>
        </p:nvSpPr>
        <p:spPr>
          <a:xfrm>
            <a:off x="7589520" y="969264"/>
            <a:ext cx="1261872" cy="329184"/>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Zone 3</a:t>
            </a:r>
            <a:endParaRPr lang="en-US" sz="1100" dirty="0"/>
          </a:p>
        </p:txBody>
      </p:sp>
      <p:sp>
        <p:nvSpPr>
          <p:cNvPr id="25" name="Text 23"/>
          <p:cNvSpPr/>
          <p:nvPr/>
        </p:nvSpPr>
        <p:spPr>
          <a:xfrm>
            <a:off x="7589520" y="1389888"/>
            <a:ext cx="1261872" cy="548640"/>
          </a:xfrm>
          <a:prstGeom prst="rect">
            <a:avLst/>
          </a:prstGeom>
          <a:noFill/>
          <a:ln/>
        </p:spPr>
        <p:txBody>
          <a:bodyPr wrap="square" lIns="0" tIns="0" rIns="0" bIns="0" rtlCol="0" anchor="t"/>
          <a:lstStyle/>
          <a:p>
            <a:pPr marL="0" indent="0" algn="ctr">
              <a:buNone/>
            </a:pPr>
            <a:r>
              <a:rPr lang="en-US" sz="1000" b="1" dirty="0">
                <a:solidFill>
                  <a:srgbClr val="E53935"/>
                </a:solidFill>
                <a:latin typeface="Calibri" pitchFamily="34" charset="0"/>
                <a:ea typeface="Calibri" pitchFamily="34" charset="-122"/>
                <a:cs typeface="Calibri" pitchFamily="34" charset="-120"/>
              </a:rPr>
              <a:t>High confidence</a:t>
            </a:r>
            <a:endParaRPr lang="en-US" sz="1000" dirty="0"/>
          </a:p>
          <a:p>
            <a:pPr marL="0" indent="0" algn="ctr">
              <a:buNone/>
            </a:pPr>
            <a:r>
              <a:rPr lang="en-US" sz="1000" b="1" dirty="0">
                <a:solidFill>
                  <a:srgbClr val="E53935"/>
                </a:solidFill>
                <a:latin typeface="Calibri" pitchFamily="34" charset="0"/>
                <a:ea typeface="Calibri" pitchFamily="34" charset="-122"/>
                <a:cs typeface="Calibri" pitchFamily="34" charset="-120"/>
              </a:rPr>
              <a:t>PAPER</a:t>
            </a:r>
            <a:endParaRPr lang="en-US" sz="1000" dirty="0"/>
          </a:p>
        </p:txBody>
      </p:sp>
      <p:sp>
        <p:nvSpPr>
          <p:cNvPr id="26" name="Text 24"/>
          <p:cNvSpPr/>
          <p:nvPr/>
        </p:nvSpPr>
        <p:spPr>
          <a:xfrm>
            <a:off x="7589520" y="2011680"/>
            <a:ext cx="1261872" cy="594360"/>
          </a:xfrm>
          <a:prstGeom prst="rect">
            <a:avLst/>
          </a:prstGeom>
          <a:noFill/>
          <a:ln/>
        </p:spPr>
        <p:txBody>
          <a:bodyPr wrap="square" lIns="0" tIns="0" rIns="0" bIns="0" rtlCol="0" anchor="t"/>
          <a:lstStyle/>
          <a:p>
            <a:pPr marL="0" indent="0" algn="ctr">
              <a:buNone/>
            </a:pPr>
            <a:r>
              <a:rPr lang="en-US" sz="950" dirty="0">
                <a:solidFill>
                  <a:srgbClr val="455A64"/>
                </a:solidFill>
                <a:latin typeface="Calibri" pitchFamily="34" charset="0"/>
                <a:ea typeface="Calibri" pitchFamily="34" charset="-122"/>
                <a:cs typeface="Calibri" pitchFamily="34" charset="-120"/>
              </a:rPr>
              <a:t>Flag supplier</a:t>
            </a:r>
            <a:endParaRPr lang="en-US" sz="950" dirty="0"/>
          </a:p>
          <a:p>
            <a:pPr marL="0" indent="0" algn="ctr">
              <a:buNone/>
            </a:pPr>
            <a:r>
              <a:rPr lang="en-US" sz="950" dirty="0">
                <a:solidFill>
                  <a:srgbClr val="455A64"/>
                </a:solidFill>
                <a:latin typeface="Calibri" pitchFamily="34" charset="0"/>
                <a:ea typeface="Calibri" pitchFamily="34" charset="-122"/>
                <a:cs typeface="Calibri" pitchFamily="34" charset="-120"/>
              </a:rPr>
              <a:t>auto-report</a:t>
            </a:r>
            <a:endParaRPr lang="en-US" sz="950" dirty="0"/>
          </a:p>
        </p:txBody>
      </p:sp>
      <p:sp>
        <p:nvSpPr>
          <p:cNvPr id="27" name="Text 25"/>
          <p:cNvSpPr/>
          <p:nvPr/>
        </p:nvSpPr>
        <p:spPr>
          <a:xfrm>
            <a:off x="274320" y="3749040"/>
            <a:ext cx="8595360" cy="292608"/>
          </a:xfrm>
          <a:prstGeom prst="rect">
            <a:avLst/>
          </a:prstGeom>
          <a:noFill/>
          <a:ln/>
        </p:spPr>
        <p:txBody>
          <a:bodyPr wrap="square" lIns="0" tIns="0" rIns="0" bIns="0" rtlCol="0" anchor="t"/>
          <a:lstStyle/>
          <a:p>
            <a:pPr marL="0" indent="0" algn="ctr">
              <a:buNone/>
            </a:pPr>
            <a:r>
              <a:rPr lang="en-US" sz="1100" i="1" dirty="0">
                <a:solidFill>
                  <a:srgbClr val="90A4AE"/>
                </a:solidFill>
                <a:latin typeface="Calibri" pitchFamily="34" charset="0"/>
                <a:ea typeface="Calibri" pitchFamily="34" charset="-122"/>
                <a:cs typeface="Calibri" pitchFamily="34" charset="-120"/>
              </a:rPr>
              <a:t>Two configurable thresholds divide the probability space - calibrated per deployment context.</a:t>
            </a:r>
            <a:endParaRPr lang="en-US" sz="1100" dirty="0"/>
          </a:p>
        </p:txBody>
      </p:sp>
      <p:sp>
        <p:nvSpPr>
          <p:cNvPr id="28" name="Shape 26"/>
          <p:cNvSpPr/>
          <p:nvPr/>
        </p:nvSpPr>
        <p:spPr>
          <a:xfrm>
            <a:off x="274320" y="4114800"/>
            <a:ext cx="8595360" cy="896112"/>
          </a:xfrm>
          <a:prstGeom prst="rect">
            <a:avLst/>
          </a:prstGeom>
          <a:solidFill>
            <a:srgbClr val="E8F5E9"/>
          </a:solidFill>
          <a:ln w="12700">
            <a:solidFill>
              <a:srgbClr val="2E7D32"/>
            </a:solidFill>
            <a:prstDash val="solid"/>
          </a:ln>
        </p:spPr>
        <p:txBody>
          <a:bodyPr/>
          <a:lstStyle/>
          <a:p>
            <a:endParaRPr lang="de-DE" dirty="0"/>
          </a:p>
        </p:txBody>
      </p:sp>
      <p:sp>
        <p:nvSpPr>
          <p:cNvPr id="29" name="Text 27"/>
          <p:cNvSpPr/>
          <p:nvPr/>
        </p:nvSpPr>
        <p:spPr>
          <a:xfrm>
            <a:off x="411480" y="4187952"/>
            <a:ext cx="8321040" cy="274320"/>
          </a:xfrm>
          <a:prstGeom prst="rect">
            <a:avLst/>
          </a:prstGeom>
          <a:noFill/>
          <a:ln/>
        </p:spPr>
        <p:txBody>
          <a:bodyPr wrap="square" lIns="0" tIns="0" rIns="0" bIns="0" rtlCol="0" anchor="t"/>
          <a:lstStyle/>
          <a:p>
            <a:pPr marL="0" indent="0" algn="l">
              <a:buNone/>
            </a:pPr>
            <a:r>
              <a:rPr lang="en-US" sz="1100" b="1" dirty="0">
                <a:solidFill>
                  <a:srgbClr val="2E7D32"/>
                </a:solidFill>
                <a:latin typeface="Calibri" pitchFamily="34" charset="0"/>
                <a:ea typeface="Calibri" pitchFamily="34" charset="-122"/>
                <a:cs typeface="Calibri" pitchFamily="34" charset="-120"/>
              </a:rPr>
              <a:t>Deployment pathway:</a:t>
            </a:r>
            <a:endParaRPr lang="en-US" sz="1100" dirty="0"/>
          </a:p>
        </p:txBody>
      </p:sp>
      <p:sp>
        <p:nvSpPr>
          <p:cNvPr id="30" name="Text 28"/>
          <p:cNvSpPr/>
          <p:nvPr/>
        </p:nvSpPr>
        <p:spPr>
          <a:xfrm>
            <a:off x="411480" y="4462272"/>
            <a:ext cx="8321040" cy="475488"/>
          </a:xfrm>
          <a:prstGeom prst="rect">
            <a:avLst/>
          </a:prstGeom>
          <a:noFill/>
          <a:ln/>
        </p:spPr>
        <p:txBody>
          <a:bodyPr wrap="square" lIns="0" tIns="0" rIns="0" bIns="0" rtlCol="0" anchor="t"/>
          <a:lstStyle/>
          <a:p>
            <a:r>
              <a:rPr lang="en-US" sz="1100" dirty="0"/>
              <a:t>XGBoost in production today. </a:t>
            </a:r>
            <a:r>
              <a:rPr lang="en-US" sz="1100" dirty="0" err="1"/>
              <a:t>TapNet</a:t>
            </a:r>
            <a:r>
              <a:rPr lang="en-US" sz="1100" dirty="0"/>
              <a:t> is the long-term candidate when minority class volume grows and a metadata-native architecture is available, the deep learning path becomes viable and scalable to other industries as well.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A6E84D1C-5758-1319-905B-2F734D58D406}"/>
              </a:ext>
            </a:extLst>
          </p:cNvPr>
          <p:cNvSpPr txBox="1"/>
          <p:nvPr/>
        </p:nvSpPr>
        <p:spPr>
          <a:xfrm>
            <a:off x="986118" y="551329"/>
            <a:ext cx="7540322" cy="2196353"/>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600" kern="1200">
                <a:solidFill>
                  <a:srgbClr val="FFFFFF"/>
                </a:solidFill>
                <a:latin typeface="+mj-lt"/>
                <a:ea typeface="+mj-ea"/>
                <a:cs typeface="+mj-cs"/>
              </a:rPr>
              <a:t>Thank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9144000" cy="5143500"/>
          </a:xfrm>
          <a:prstGeom prst="rect">
            <a:avLst/>
          </a:prstGeom>
          <a:solidFill>
            <a:srgbClr val="F5F7FA"/>
          </a:solidFill>
          <a:ln>
            <a:noFill/>
          </a:ln>
        </p:spPr>
        <p:txBody>
          <a:bodyPr/>
          <a:lstStyle/>
          <a:p>
            <a:endParaRPr dirty="0"/>
          </a:p>
        </p:txBody>
      </p:sp>
      <p:sp>
        <p:nvSpPr>
          <p:cNvPr id="3" name="Accent"/>
          <p:cNvSpPr/>
          <p:nvPr/>
        </p:nvSpPr>
        <p:spPr>
          <a:xfrm>
            <a:off x="0" y="2200000"/>
            <a:ext cx="9144000" cy="8000"/>
          </a:xfrm>
          <a:prstGeom prst="rect">
            <a:avLst/>
          </a:prstGeom>
          <a:solidFill>
            <a:srgbClr val="1565C0"/>
          </a:solidFill>
          <a:ln>
            <a:noFill/>
          </a:ln>
        </p:spPr>
        <p:txBody>
          <a:bodyPr/>
          <a:lstStyle/>
          <a:p>
            <a:endParaRPr/>
          </a:p>
        </p:txBody>
      </p:sp>
      <p:sp>
        <p:nvSpPr>
          <p:cNvPr id="4" name="Title"/>
          <p:cNvSpPr/>
          <p:nvPr/>
        </p:nvSpPr>
        <p:spPr>
          <a:xfrm>
            <a:off x="1007495" y="1005389"/>
            <a:ext cx="6744000" cy="1000000"/>
          </a:xfrm>
          <a:prstGeom prst="rect">
            <a:avLst/>
          </a:prstGeom>
          <a:noFill/>
          <a:ln>
            <a:noFill/>
          </a:ln>
        </p:spPr>
        <p:txBody>
          <a:bodyPr anchor="ctr"/>
          <a:lstStyle/>
          <a:p>
            <a:pPr algn="ctr"/>
            <a:r>
              <a:rPr lang="en-US" sz="4400" b="1" dirty="0">
                <a:solidFill>
                  <a:srgbClr val="1565C0"/>
                </a:solidFill>
              </a:rPr>
              <a:t>Appendix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B2B9-F980-4F3E-1881-09184EB96E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A07A70-A90D-4DC4-28F8-766C99000215}"/>
              </a:ext>
            </a:extLst>
          </p:cNvPr>
          <p:cNvSpPr/>
          <p:nvPr/>
        </p:nvSpPr>
        <p:spPr>
          <a:xfrm>
            <a:off x="405581" y="207650"/>
            <a:ext cx="8229600" cy="50292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Why the 300 frame window?</a:t>
            </a:r>
            <a:endParaRPr lang="en-US" sz="2400" dirty="0"/>
          </a:p>
        </p:txBody>
      </p:sp>
      <p:sp>
        <p:nvSpPr>
          <p:cNvPr id="3" name="Shape 1">
            <a:extLst>
              <a:ext uri="{FF2B5EF4-FFF2-40B4-BE49-F238E27FC236}">
                <a16:creationId xmlns:a16="http://schemas.microsoft.com/office/drawing/2014/main" id="{2B42AD82-999A-CD02-3E55-A5ADBAC6F8DD}"/>
              </a:ext>
            </a:extLst>
          </p:cNvPr>
          <p:cNvSpPr/>
          <p:nvPr/>
        </p:nvSpPr>
        <p:spPr>
          <a:xfrm>
            <a:off x="405581" y="738304"/>
            <a:ext cx="8229600" cy="27432"/>
          </a:xfrm>
          <a:prstGeom prst="rect">
            <a:avLst/>
          </a:prstGeom>
          <a:solidFill>
            <a:srgbClr val="1565C0"/>
          </a:solidFill>
          <a:ln w="12700">
            <a:solidFill>
              <a:srgbClr val="1565C0"/>
            </a:solidFill>
            <a:prstDash val="solid"/>
          </a:ln>
        </p:spPr>
        <p:txBody>
          <a:bodyPr/>
          <a:lstStyle/>
          <a:p>
            <a:endParaRPr lang="de-DE"/>
          </a:p>
        </p:txBody>
      </p:sp>
      <p:pic>
        <p:nvPicPr>
          <p:cNvPr id="15" name="Picture 14">
            <a:extLst>
              <a:ext uri="{FF2B5EF4-FFF2-40B4-BE49-F238E27FC236}">
                <a16:creationId xmlns:a16="http://schemas.microsoft.com/office/drawing/2014/main" id="{537FD9DD-1775-CFE2-3184-9270EE029C16}"/>
              </a:ext>
            </a:extLst>
          </p:cNvPr>
          <p:cNvPicPr>
            <a:picLocks noChangeAspect="1"/>
          </p:cNvPicPr>
          <p:nvPr/>
        </p:nvPicPr>
        <p:blipFill>
          <a:blip r:embed="rId3"/>
          <a:stretch>
            <a:fillRect/>
          </a:stretch>
        </p:blipFill>
        <p:spPr>
          <a:xfrm>
            <a:off x="181778" y="1288690"/>
            <a:ext cx="8525238" cy="2818736"/>
          </a:xfrm>
          <a:prstGeom prst="rect">
            <a:avLst/>
          </a:prstGeom>
        </p:spPr>
      </p:pic>
    </p:spTree>
    <p:extLst>
      <p:ext uri="{BB962C8B-B14F-4D97-AF65-F5344CB8AC3E}">
        <p14:creationId xmlns:p14="http://schemas.microsoft.com/office/powerpoint/2010/main" val="1882399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9404-4FFA-CC6A-904E-FF32535A9A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1F6FBC0-8117-2422-7551-389AAA7AD4A6}"/>
              </a:ext>
            </a:extLst>
          </p:cNvPr>
          <p:cNvSpPr/>
          <p:nvPr/>
        </p:nvSpPr>
        <p:spPr>
          <a:xfrm>
            <a:off x="405581" y="207650"/>
            <a:ext cx="8229600" cy="50292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The Signal</a:t>
            </a:r>
            <a:endParaRPr lang="en-US" sz="2400" dirty="0"/>
          </a:p>
        </p:txBody>
      </p:sp>
      <p:sp>
        <p:nvSpPr>
          <p:cNvPr id="3" name="Shape 1">
            <a:extLst>
              <a:ext uri="{FF2B5EF4-FFF2-40B4-BE49-F238E27FC236}">
                <a16:creationId xmlns:a16="http://schemas.microsoft.com/office/drawing/2014/main" id="{04521C1E-8C10-91A4-CC86-DB7EF80CEED5}"/>
              </a:ext>
            </a:extLst>
          </p:cNvPr>
          <p:cNvSpPr/>
          <p:nvPr/>
        </p:nvSpPr>
        <p:spPr>
          <a:xfrm>
            <a:off x="405581" y="738304"/>
            <a:ext cx="8229600" cy="27432"/>
          </a:xfrm>
          <a:prstGeom prst="rect">
            <a:avLst/>
          </a:prstGeom>
          <a:solidFill>
            <a:srgbClr val="1565C0"/>
          </a:solidFill>
          <a:ln w="12700">
            <a:solidFill>
              <a:srgbClr val="1565C0"/>
            </a:solidFill>
            <a:prstDash val="solid"/>
          </a:ln>
        </p:spPr>
        <p:txBody>
          <a:bodyPr/>
          <a:lstStyle/>
          <a:p>
            <a:endParaRPr lang="de-DE"/>
          </a:p>
        </p:txBody>
      </p:sp>
      <p:pic>
        <p:nvPicPr>
          <p:cNvPr id="5" name="Picture 4">
            <a:extLst>
              <a:ext uri="{FF2B5EF4-FFF2-40B4-BE49-F238E27FC236}">
                <a16:creationId xmlns:a16="http://schemas.microsoft.com/office/drawing/2014/main" id="{757AAB68-B07E-31B2-4953-97EFB0AADBC4}"/>
              </a:ext>
            </a:extLst>
          </p:cNvPr>
          <p:cNvPicPr>
            <a:picLocks noChangeAspect="1"/>
          </p:cNvPicPr>
          <p:nvPr/>
        </p:nvPicPr>
        <p:blipFill>
          <a:blip r:embed="rId3"/>
          <a:stretch>
            <a:fillRect/>
          </a:stretch>
        </p:blipFill>
        <p:spPr>
          <a:xfrm>
            <a:off x="0" y="950708"/>
            <a:ext cx="9144000" cy="3242084"/>
          </a:xfrm>
          <a:prstGeom prst="rect">
            <a:avLst/>
          </a:prstGeom>
        </p:spPr>
      </p:pic>
    </p:spTree>
    <p:extLst>
      <p:ext uri="{BB962C8B-B14F-4D97-AF65-F5344CB8AC3E}">
        <p14:creationId xmlns:p14="http://schemas.microsoft.com/office/powerpoint/2010/main" val="211083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530000"/>
          </a:xfrm>
          <a:prstGeom prst="rect">
            <a:avLst/>
          </a:prstGeom>
          <a:solidFill>
            <a:srgbClr val="1565C0"/>
          </a:solidFill>
          <a:ln>
            <a:noFill/>
          </a:ln>
        </p:spPr>
        <p:txBody>
          <a:bodyPr lIns="280000" anchor="ctr"/>
          <a:lstStyle/>
          <a:p>
            <a:r>
              <a:rPr lang="en-US" sz="800" b="1" dirty="0">
                <a:solidFill>
                  <a:srgbClr val="B3D1F5"/>
                </a:solidFill>
              </a:rPr>
              <a:t>A9  |  </a:t>
            </a:r>
            <a:r>
              <a:rPr lang="en-US" sz="1900" b="1" dirty="0">
                <a:solidFill>
                  <a:srgbClr val="FFFFFF"/>
                </a:solidFill>
              </a:rPr>
              <a:t>Class-Specific Temporal Signatures - What the Signal Looks Like</a:t>
            </a:r>
          </a:p>
        </p:txBody>
      </p:sp>
      <p:sp>
        <p:nvSpPr>
          <p:cNvPr id="4" name="T4"/>
          <p:cNvSpPr/>
          <p:nvPr/>
        </p:nvSpPr>
        <p:spPr>
          <a:xfrm>
            <a:off x="0" y="553316"/>
            <a:ext cx="8744000" cy="60000"/>
          </a:xfrm>
          <a:prstGeom prst="rect">
            <a:avLst/>
          </a:prstGeom>
          <a:noFill/>
          <a:ln>
            <a:noFill/>
          </a:ln>
        </p:spPr>
        <p:txBody>
          <a:bodyPr lIns="180000" tIns="150000" anchor="ctr"/>
          <a:lstStyle/>
          <a:p>
            <a:r>
              <a:rPr lang="en-US" sz="1100" b="0" dirty="0">
                <a:solidFill>
                  <a:srgbClr val="455A64"/>
                </a:solidFill>
              </a:rPr>
              <a:t>These two patterns are the entire basis for classification. Every model must somehow capture this distinction from the (300,10) input.</a:t>
            </a:r>
          </a:p>
        </p:txBody>
      </p:sp>
      <p:sp>
        <p:nvSpPr>
          <p:cNvPr id="5" name="R5"/>
          <p:cNvSpPr/>
          <p:nvPr/>
        </p:nvSpPr>
        <p:spPr>
          <a:xfrm>
            <a:off x="100000" y="837684"/>
            <a:ext cx="4300000" cy="1615632"/>
          </a:xfrm>
          <a:prstGeom prst="rect">
            <a:avLst/>
          </a:prstGeom>
          <a:solidFill>
            <a:srgbClr val="E3F2FD"/>
          </a:solidFill>
          <a:ln w="18000">
            <a:solidFill>
              <a:srgbClr val="1565C0"/>
            </a:solidFill>
          </a:ln>
        </p:spPr>
        <p:txBody>
          <a:bodyPr/>
          <a:lstStyle/>
          <a:p>
            <a:endParaRPr/>
          </a:p>
        </p:txBody>
      </p:sp>
      <p:sp>
        <p:nvSpPr>
          <p:cNvPr id="6" name="T6"/>
          <p:cNvSpPr/>
          <p:nvPr/>
        </p:nvSpPr>
        <p:spPr>
          <a:xfrm>
            <a:off x="180000" y="771958"/>
            <a:ext cx="4140000" cy="1440000"/>
          </a:xfrm>
          <a:prstGeom prst="rect">
            <a:avLst/>
          </a:prstGeom>
          <a:noFill/>
          <a:ln>
            <a:noFill/>
          </a:ln>
        </p:spPr>
        <p:txBody>
          <a:bodyPr lIns="180000" tIns="150000" anchor="t"/>
          <a:lstStyle/>
          <a:p>
            <a:r>
              <a:rPr lang="en-US" sz="1300" b="1" dirty="0">
                <a:solidFill>
                  <a:srgbClr val="1565C0"/>
                </a:solidFill>
              </a:rPr>
              <a:t>Machine-Caused Break (84% of events)</a:t>
            </a:r>
          </a:p>
          <a:p>
            <a:endParaRPr lang="en-US" sz="1300" b="1" dirty="0">
              <a:solidFill>
                <a:srgbClr val="1565C0"/>
              </a:solidFill>
            </a:endParaRPr>
          </a:p>
          <a:p>
            <a:r>
              <a:rPr lang="en-US" sz="1050" b="0" dirty="0">
                <a:solidFill>
                  <a:srgbClr val="455A64"/>
                </a:solidFill>
              </a:rPr>
              <a:t>Frames t=-299 to t=-50:  no_defect score high and stable (~0.8-0.9)</a:t>
            </a:r>
          </a:p>
          <a:p>
            <a:r>
              <a:rPr lang="en-US" sz="1050" b="0" dirty="0">
                <a:solidFill>
                  <a:srgbClr val="455A64"/>
                </a:solidFill>
              </a:rPr>
              <a:t>Frames t=-50 to t=-1:  no_defect gradually declines. tear score begins slow exponential rise.</a:t>
            </a:r>
          </a:p>
          <a:p>
            <a:r>
              <a:rPr lang="en-US" sz="1050" b="0" dirty="0">
                <a:solidFill>
                  <a:srgbClr val="455A64"/>
                </a:solidFill>
              </a:rPr>
              <a:t>Frame t=0 (tear peak):  tear probability peaks sharply at 0.8-0.9</a:t>
            </a:r>
          </a:p>
          <a:p>
            <a:r>
              <a:rPr lang="en-US" sz="1050" b="1" dirty="0">
                <a:solidFill>
                  <a:srgbClr val="2E7D32"/>
                </a:solidFill>
              </a:rPr>
              <a:t>Signal character:  GRADUAL, continuous deterioration across full 300 frames</a:t>
            </a:r>
          </a:p>
        </p:txBody>
      </p:sp>
      <p:sp>
        <p:nvSpPr>
          <p:cNvPr id="7" name="R7"/>
          <p:cNvSpPr/>
          <p:nvPr/>
        </p:nvSpPr>
        <p:spPr>
          <a:xfrm>
            <a:off x="4744000" y="850000"/>
            <a:ext cx="4300000" cy="1603316"/>
          </a:xfrm>
          <a:prstGeom prst="rect">
            <a:avLst/>
          </a:prstGeom>
          <a:solidFill>
            <a:srgbClr val="FFEBEE"/>
          </a:solidFill>
          <a:ln w="18000">
            <a:solidFill>
              <a:srgbClr val="C0504D"/>
            </a:solidFill>
          </a:ln>
        </p:spPr>
        <p:txBody>
          <a:bodyPr/>
          <a:lstStyle/>
          <a:p>
            <a:endParaRPr/>
          </a:p>
        </p:txBody>
      </p:sp>
      <p:sp>
        <p:nvSpPr>
          <p:cNvPr id="8" name="T8"/>
          <p:cNvSpPr/>
          <p:nvPr/>
        </p:nvSpPr>
        <p:spPr>
          <a:xfrm>
            <a:off x="4824000" y="789999"/>
            <a:ext cx="4140000" cy="1900185"/>
          </a:xfrm>
          <a:prstGeom prst="rect">
            <a:avLst/>
          </a:prstGeom>
          <a:noFill/>
          <a:ln>
            <a:noFill/>
          </a:ln>
        </p:spPr>
        <p:txBody>
          <a:bodyPr lIns="180000" tIns="150000" anchor="t"/>
          <a:lstStyle/>
          <a:p>
            <a:r>
              <a:rPr lang="en-US" sz="1300" b="1" dirty="0">
                <a:solidFill>
                  <a:srgbClr val="C0504D"/>
                </a:solidFill>
              </a:rPr>
              <a:t>Paper-Caused Break (16% of events)</a:t>
            </a:r>
          </a:p>
          <a:p>
            <a:r>
              <a:rPr lang="en-US" sz="1050" b="0" dirty="0">
                <a:solidFill>
                  <a:srgbClr val="455A64"/>
                </a:solidFill>
              </a:rPr>
              <a:t>Frames t=-299 to t=-50:  no_defect score high and stable (~0.85-0.95), near-identical to machine-caused</a:t>
            </a:r>
          </a:p>
          <a:p>
            <a:r>
              <a:rPr lang="en-US" sz="1050" b="0" dirty="0">
                <a:solidFill>
                  <a:srgbClr val="455A64"/>
                </a:solidFill>
              </a:rPr>
              <a:t>Frames t=-50 to t=-1:  SUDDEN drop in no_defect. tear score spikes sharply.</a:t>
            </a:r>
          </a:p>
          <a:p>
            <a:r>
              <a:rPr lang="en-US" sz="1050" b="0" dirty="0">
                <a:solidFill>
                  <a:srgbClr val="455A64"/>
                </a:solidFill>
              </a:rPr>
              <a:t>Frame t=0 (tear peak):  tear probability peaks sharply at 0.8-0.9, similar to machine</a:t>
            </a:r>
          </a:p>
          <a:p>
            <a:r>
              <a:rPr lang="en-US" sz="1050" b="1" dirty="0">
                <a:solidFill>
                  <a:srgbClr val="C0504D"/>
                </a:solidFill>
              </a:rPr>
              <a:t>Signal character:  SUDDEN failure at a localised material weakness in final 50 frames</a:t>
            </a:r>
          </a:p>
        </p:txBody>
      </p:sp>
      <p:sp>
        <p:nvSpPr>
          <p:cNvPr id="9" name="R9"/>
          <p:cNvSpPr/>
          <p:nvPr/>
        </p:nvSpPr>
        <p:spPr>
          <a:xfrm>
            <a:off x="100000" y="2515216"/>
            <a:ext cx="8944000" cy="929778"/>
          </a:xfrm>
          <a:prstGeom prst="rect">
            <a:avLst/>
          </a:prstGeom>
          <a:solidFill>
            <a:srgbClr val="F5F7FA"/>
          </a:solidFill>
          <a:ln w="18000">
            <a:solidFill>
              <a:srgbClr val="D0D7DE"/>
            </a:solidFill>
          </a:ln>
        </p:spPr>
        <p:txBody>
          <a:bodyPr/>
          <a:lstStyle/>
          <a:p>
            <a:endParaRPr/>
          </a:p>
        </p:txBody>
      </p:sp>
      <p:sp>
        <p:nvSpPr>
          <p:cNvPr id="10" name="T10"/>
          <p:cNvSpPr/>
          <p:nvPr/>
        </p:nvSpPr>
        <p:spPr>
          <a:xfrm>
            <a:off x="220000" y="2399999"/>
            <a:ext cx="8704000" cy="946893"/>
          </a:xfrm>
          <a:prstGeom prst="rect">
            <a:avLst/>
          </a:prstGeom>
          <a:noFill/>
          <a:ln>
            <a:noFill/>
          </a:ln>
        </p:spPr>
        <p:txBody>
          <a:bodyPr lIns="180000" tIns="150000" anchor="t"/>
          <a:lstStyle/>
          <a:p>
            <a:r>
              <a:rPr lang="en-US" sz="1200" b="1" dirty="0">
                <a:solidFill>
                  <a:srgbClr val="1565C0"/>
                </a:solidFill>
              </a:rPr>
              <a:t>Classification Challenge:</a:t>
            </a:r>
          </a:p>
          <a:p>
            <a:r>
              <a:rPr lang="en-US" sz="1100" b="0" dirty="0">
                <a:solidFill>
                  <a:srgbClr val="1A1A2E"/>
                </a:solidFill>
              </a:rPr>
              <a:t>The two classes diverge only in HOW tear scores build up, not in the magnitude of the final tear peak. Both classes reach ~0.85 tear probability at t=0.</a:t>
            </a:r>
          </a:p>
          <a:p>
            <a:r>
              <a:rPr lang="en-US" sz="1050" b="0" dirty="0">
                <a:solidFill>
                  <a:srgbClr val="455A64"/>
                </a:solidFill>
              </a:rPr>
              <a:t>The discriminative window is t=-300 to t=-50. A model that only sees local patterns (CNN: 8-frame kernel) cannot reliably distinguish gradual buildup from stable baseline.</a:t>
            </a:r>
          </a:p>
        </p:txBody>
      </p:sp>
      <p:sp>
        <p:nvSpPr>
          <p:cNvPr id="11" name="R11"/>
          <p:cNvSpPr/>
          <p:nvPr/>
        </p:nvSpPr>
        <p:spPr>
          <a:xfrm>
            <a:off x="160000" y="3474994"/>
            <a:ext cx="2900000" cy="1580000"/>
          </a:xfrm>
          <a:prstGeom prst="rect">
            <a:avLst/>
          </a:prstGeom>
          <a:solidFill>
            <a:srgbClr val="E8F5E9"/>
          </a:solidFill>
          <a:ln w="18000">
            <a:solidFill>
              <a:srgbClr val="2E7D32"/>
            </a:solidFill>
          </a:ln>
        </p:spPr>
        <p:txBody>
          <a:bodyPr/>
          <a:lstStyle/>
          <a:p>
            <a:endParaRPr/>
          </a:p>
        </p:txBody>
      </p:sp>
      <p:sp>
        <p:nvSpPr>
          <p:cNvPr id="12" name="T12"/>
          <p:cNvSpPr/>
          <p:nvPr/>
        </p:nvSpPr>
        <p:spPr>
          <a:xfrm>
            <a:off x="180000" y="3408100"/>
            <a:ext cx="2740000" cy="1580000"/>
          </a:xfrm>
          <a:prstGeom prst="rect">
            <a:avLst/>
          </a:prstGeom>
          <a:noFill/>
          <a:ln>
            <a:noFill/>
          </a:ln>
        </p:spPr>
        <p:txBody>
          <a:bodyPr lIns="180000" tIns="150000" anchor="t"/>
          <a:lstStyle/>
          <a:p>
            <a:r>
              <a:rPr lang="en-US" sz="1200" b="1" dirty="0">
                <a:solidFill>
                  <a:srgbClr val="2E7D32"/>
                </a:solidFill>
              </a:rPr>
              <a:t>Features Capturing Machine Pattern</a:t>
            </a:r>
          </a:p>
          <a:p>
            <a:r>
              <a:rPr lang="en-US" sz="1050" b="0" dirty="0">
                <a:solidFill>
                  <a:srgbClr val="455A64"/>
                </a:solidFill>
              </a:rPr>
              <a:t>slope_no_defect_cam1 (strongly negative)</a:t>
            </a:r>
          </a:p>
          <a:p>
            <a:r>
              <a:rPr lang="en-US" sz="1050" b="0" dirty="0">
                <a:solidFill>
                  <a:srgbClr val="455A64"/>
                </a:solidFill>
              </a:rPr>
              <a:t>slope_tear_cam1 (positive across 300 frames)</a:t>
            </a:r>
          </a:p>
          <a:p>
            <a:r>
              <a:rPr lang="en-US" sz="1050" b="0" dirty="0">
                <a:solidFill>
                  <a:srgbClr val="455A64"/>
                </a:solidFill>
              </a:rPr>
              <a:t>cam1_tear_mean_first50 (non-zero)</a:t>
            </a:r>
          </a:p>
          <a:p>
            <a:r>
              <a:rPr lang="en-US" sz="1050" b="0" dirty="0">
                <a:solidFill>
                  <a:srgbClr val="455A64"/>
                </a:solidFill>
              </a:rPr>
              <a:t>cam1_tear_variance (gradual = low variance)</a:t>
            </a:r>
          </a:p>
          <a:p>
            <a:r>
              <a:rPr lang="en-US" sz="1050" b="0" dirty="0">
                <a:solidFill>
                  <a:srgbClr val="455A64"/>
                </a:solidFill>
              </a:rPr>
              <a:t>cam1_entropy_mean (gradually increasing)</a:t>
            </a:r>
          </a:p>
        </p:txBody>
      </p:sp>
      <p:sp>
        <p:nvSpPr>
          <p:cNvPr id="13" name="R13"/>
          <p:cNvSpPr/>
          <p:nvPr/>
        </p:nvSpPr>
        <p:spPr>
          <a:xfrm>
            <a:off x="3200000" y="3474994"/>
            <a:ext cx="2900000" cy="1580000"/>
          </a:xfrm>
          <a:prstGeom prst="rect">
            <a:avLst/>
          </a:prstGeom>
          <a:solidFill>
            <a:srgbClr val="FFEBEE"/>
          </a:solidFill>
          <a:ln w="18000">
            <a:solidFill>
              <a:srgbClr val="C0504D"/>
            </a:solidFill>
          </a:ln>
        </p:spPr>
        <p:txBody>
          <a:bodyPr/>
          <a:lstStyle/>
          <a:p>
            <a:endParaRPr/>
          </a:p>
        </p:txBody>
      </p:sp>
      <p:sp>
        <p:nvSpPr>
          <p:cNvPr id="14" name="T14"/>
          <p:cNvSpPr/>
          <p:nvPr/>
        </p:nvSpPr>
        <p:spPr>
          <a:xfrm>
            <a:off x="3280000" y="3474994"/>
            <a:ext cx="2740000" cy="1385005"/>
          </a:xfrm>
          <a:prstGeom prst="rect">
            <a:avLst/>
          </a:prstGeom>
          <a:noFill/>
          <a:ln>
            <a:noFill/>
          </a:ln>
        </p:spPr>
        <p:txBody>
          <a:bodyPr lIns="180000" tIns="150000" anchor="t"/>
          <a:lstStyle/>
          <a:p>
            <a:r>
              <a:rPr lang="en-US" sz="1200" b="1" dirty="0">
                <a:solidFill>
                  <a:srgbClr val="C0504D"/>
                </a:solidFill>
              </a:rPr>
              <a:t>Features Capturing Paper Pattern</a:t>
            </a:r>
          </a:p>
          <a:p>
            <a:r>
              <a:rPr lang="en-US" sz="1050" b="0" dirty="0">
                <a:solidFill>
                  <a:srgbClr val="455A64"/>
                </a:solidFill>
              </a:rPr>
              <a:t>slope_no_defect_cam1 (near-zero until t=-50)</a:t>
            </a:r>
          </a:p>
          <a:p>
            <a:r>
              <a:rPr lang="en-US" sz="1050" b="0" dirty="0">
                <a:solidFill>
                  <a:srgbClr val="455A64"/>
                </a:solidFill>
              </a:rPr>
              <a:t>cam1_tear_mean_last50 (very high)</a:t>
            </a:r>
          </a:p>
          <a:p>
            <a:r>
              <a:rPr lang="en-US" sz="1050" b="0" dirty="0">
                <a:solidFill>
                  <a:srgbClr val="455A64"/>
                </a:solidFill>
              </a:rPr>
              <a:t>cam1_tear_mean_first50 (near-zero)</a:t>
            </a:r>
          </a:p>
          <a:p>
            <a:r>
              <a:rPr lang="en-US" sz="1050" b="0" dirty="0">
                <a:solidFill>
                  <a:srgbClr val="455A64"/>
                </a:solidFill>
              </a:rPr>
              <a:t>cam1_peak_sharpness (sudden spike vs baseline)</a:t>
            </a:r>
          </a:p>
          <a:p>
            <a:r>
              <a:rPr lang="en-US" sz="1050" b="0" dirty="0">
                <a:solidFill>
                  <a:srgbClr val="455A64"/>
                </a:solidFill>
              </a:rPr>
              <a:t>late50_minus_early50 (large positive delta)</a:t>
            </a:r>
          </a:p>
        </p:txBody>
      </p:sp>
      <p:sp>
        <p:nvSpPr>
          <p:cNvPr id="15" name="R15"/>
          <p:cNvSpPr/>
          <p:nvPr/>
        </p:nvSpPr>
        <p:spPr>
          <a:xfrm>
            <a:off x="6300000" y="3474994"/>
            <a:ext cx="2744000" cy="1580000"/>
          </a:xfrm>
          <a:prstGeom prst="rect">
            <a:avLst/>
          </a:prstGeom>
          <a:solidFill>
            <a:srgbClr val="F5F7FA"/>
          </a:solidFill>
          <a:ln w="18000">
            <a:solidFill>
              <a:srgbClr val="D0D7DE"/>
            </a:solidFill>
          </a:ln>
        </p:spPr>
        <p:txBody>
          <a:bodyPr/>
          <a:lstStyle/>
          <a:p>
            <a:endParaRPr/>
          </a:p>
        </p:txBody>
      </p:sp>
      <p:sp>
        <p:nvSpPr>
          <p:cNvPr id="16" name="T16"/>
          <p:cNvSpPr/>
          <p:nvPr/>
        </p:nvSpPr>
        <p:spPr>
          <a:xfrm>
            <a:off x="6380000" y="3444994"/>
            <a:ext cx="2584000" cy="1580000"/>
          </a:xfrm>
          <a:prstGeom prst="rect">
            <a:avLst/>
          </a:prstGeom>
          <a:noFill/>
          <a:ln>
            <a:noFill/>
          </a:ln>
        </p:spPr>
        <p:txBody>
          <a:bodyPr lIns="180000" tIns="150000" anchor="t"/>
          <a:lstStyle/>
          <a:p>
            <a:r>
              <a:rPr lang="en-US" sz="1200" b="1" dirty="0">
                <a:solidFill>
                  <a:srgbClr val="1565C0"/>
                </a:solidFill>
              </a:rPr>
              <a:t>Window Size Justification</a:t>
            </a:r>
          </a:p>
          <a:p>
            <a:r>
              <a:rPr lang="en-US" sz="1050" b="0" dirty="0">
                <a:solidFill>
                  <a:srgbClr val="455A64"/>
                </a:solidFill>
              </a:rPr>
              <a:t>300 frames chosen after testing 150, 300, 500</a:t>
            </a:r>
          </a:p>
          <a:p>
            <a:r>
              <a:rPr lang="en-US" sz="1050" b="0" dirty="0">
                <a:solidFill>
                  <a:srgbClr val="455A64"/>
                </a:solidFill>
              </a:rPr>
              <a:t>500 frames: no signal beyond t=-300 (flat)</a:t>
            </a:r>
          </a:p>
          <a:p>
            <a:r>
              <a:rPr lang="en-US" sz="1050" b="0" dirty="0">
                <a:solidFill>
                  <a:srgbClr val="455A64"/>
                </a:solidFill>
              </a:rPr>
              <a:t>150 frames: misses early onset at t=-300 to t=-150</a:t>
            </a:r>
          </a:p>
          <a:p>
            <a:r>
              <a:rPr lang="en-US" sz="1050" b="0" dirty="0">
                <a:solidFill>
                  <a:srgbClr val="455A64"/>
                </a:solidFill>
              </a:rPr>
              <a:t>Per-frame separation: 150=0.045, 300=0.026, 500=0.016</a:t>
            </a:r>
          </a:p>
          <a:p>
            <a:r>
              <a:rPr lang="en-US" sz="1050" b="1" dirty="0">
                <a:solidFill>
                  <a:srgbClr val="2E7D32"/>
                </a:solidFill>
              </a:rPr>
              <a:t>300 maximises signal-to-noise ratio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7416" y="58668"/>
            <a:ext cx="8229600" cy="50292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Training Loss per Epoch : All Five Models</a:t>
            </a:r>
            <a:endParaRPr lang="en-US" sz="2400" dirty="0"/>
          </a:p>
        </p:txBody>
      </p:sp>
      <p:sp>
        <p:nvSpPr>
          <p:cNvPr id="3" name="Shape 1"/>
          <p:cNvSpPr/>
          <p:nvPr/>
        </p:nvSpPr>
        <p:spPr>
          <a:xfrm>
            <a:off x="457200" y="576072"/>
            <a:ext cx="8229600" cy="27432"/>
          </a:xfrm>
          <a:prstGeom prst="rect">
            <a:avLst/>
          </a:prstGeom>
          <a:solidFill>
            <a:srgbClr val="1565C0"/>
          </a:solidFill>
          <a:ln w="12700">
            <a:solidFill>
              <a:srgbClr val="1565C0"/>
            </a:solidFill>
            <a:prstDash val="solid"/>
          </a:ln>
        </p:spPr>
        <p:txBody>
          <a:bodyPr/>
          <a:lstStyle/>
          <a:p>
            <a:endParaRPr lang="de-DE"/>
          </a:p>
        </p:txBody>
      </p:sp>
      <p:pic>
        <p:nvPicPr>
          <p:cNvPr id="4" name="Image 0" descr="preencoded.png"/>
          <p:cNvPicPr>
            <a:picLocks noChangeAspect="1"/>
          </p:cNvPicPr>
          <p:nvPr/>
        </p:nvPicPr>
        <p:blipFill>
          <a:blip r:embed="rId3"/>
          <a:stretch>
            <a:fillRect/>
          </a:stretch>
        </p:blipFill>
        <p:spPr>
          <a:xfrm>
            <a:off x="390331" y="672551"/>
            <a:ext cx="2743200" cy="2103120"/>
          </a:xfrm>
          <a:prstGeom prst="rect">
            <a:avLst/>
          </a:prstGeom>
        </p:spPr>
      </p:pic>
      <p:pic>
        <p:nvPicPr>
          <p:cNvPr id="5" name="Image 1" descr="preencoded.png"/>
          <p:cNvPicPr>
            <a:picLocks noChangeAspect="1"/>
          </p:cNvPicPr>
          <p:nvPr/>
        </p:nvPicPr>
        <p:blipFill>
          <a:blip r:embed="rId4"/>
          <a:stretch>
            <a:fillRect/>
          </a:stretch>
        </p:blipFill>
        <p:spPr>
          <a:xfrm>
            <a:off x="3220616" y="672551"/>
            <a:ext cx="2743200" cy="2103120"/>
          </a:xfrm>
          <a:prstGeom prst="rect">
            <a:avLst/>
          </a:prstGeom>
        </p:spPr>
      </p:pic>
      <p:pic>
        <p:nvPicPr>
          <p:cNvPr id="6" name="Image 2" descr="preencoded.png"/>
          <p:cNvPicPr>
            <a:picLocks noChangeAspect="1"/>
          </p:cNvPicPr>
          <p:nvPr/>
        </p:nvPicPr>
        <p:blipFill>
          <a:blip r:embed="rId5"/>
          <a:stretch>
            <a:fillRect/>
          </a:stretch>
        </p:blipFill>
        <p:spPr>
          <a:xfrm>
            <a:off x="6050901" y="672551"/>
            <a:ext cx="2743200" cy="2103120"/>
          </a:xfrm>
          <a:prstGeom prst="rect">
            <a:avLst/>
          </a:prstGeom>
        </p:spPr>
      </p:pic>
      <p:pic>
        <p:nvPicPr>
          <p:cNvPr id="7" name="Image 3" descr="preencoded.png"/>
          <p:cNvPicPr>
            <a:picLocks noChangeAspect="1"/>
          </p:cNvPicPr>
          <p:nvPr/>
        </p:nvPicPr>
        <p:blipFill>
          <a:blip r:embed="rId6"/>
          <a:stretch>
            <a:fillRect/>
          </a:stretch>
        </p:blipFill>
        <p:spPr>
          <a:xfrm>
            <a:off x="1600200" y="2769864"/>
            <a:ext cx="2743200" cy="2103120"/>
          </a:xfrm>
          <a:prstGeom prst="rect">
            <a:avLst/>
          </a:prstGeom>
        </p:spPr>
      </p:pic>
      <p:pic>
        <p:nvPicPr>
          <p:cNvPr id="8" name="Image 4" descr="preencoded.png"/>
          <p:cNvPicPr>
            <a:picLocks noChangeAspect="1"/>
          </p:cNvPicPr>
          <p:nvPr/>
        </p:nvPicPr>
        <p:blipFill>
          <a:blip r:embed="rId7"/>
          <a:stretch>
            <a:fillRect/>
          </a:stretch>
        </p:blipFill>
        <p:spPr>
          <a:xfrm>
            <a:off x="4800600" y="2703003"/>
            <a:ext cx="2743200" cy="2103120"/>
          </a:xfrm>
          <a:prstGeom prst="rect">
            <a:avLst/>
          </a:prstGeom>
        </p:spPr>
      </p:pic>
      <p:sp>
        <p:nvSpPr>
          <p:cNvPr id="9" name="Text 2"/>
          <p:cNvSpPr/>
          <p:nvPr/>
        </p:nvSpPr>
        <p:spPr>
          <a:xfrm>
            <a:off x="45720" y="4887468"/>
            <a:ext cx="8595360" cy="256032"/>
          </a:xfrm>
          <a:prstGeom prst="rect">
            <a:avLst/>
          </a:prstGeom>
          <a:noFill/>
          <a:ln/>
        </p:spPr>
        <p:txBody>
          <a:bodyPr wrap="square" lIns="0" tIns="0" rIns="0" bIns="0" rtlCol="0" anchor="t"/>
          <a:lstStyle/>
          <a:p>
            <a:pPr marL="0" indent="0" algn="ctr">
              <a:buNone/>
            </a:pPr>
            <a:r>
              <a:rPr lang="en-US" sz="950" i="1" dirty="0">
                <a:solidFill>
                  <a:srgbClr val="90A4AE"/>
                </a:solidFill>
                <a:latin typeface="Calibri" pitchFamily="34" charset="0"/>
                <a:ea typeface="Calibri" pitchFamily="34" charset="-122"/>
                <a:cs typeface="Calibri" pitchFamily="34" charset="-120"/>
              </a:rPr>
              <a:t>TST not shown as fastai suppressed per-epoch logging with no_bar() and no_logging().</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50148"/>
          </a:xfrm>
          <a:prstGeom prst="rect">
            <a:avLst/>
          </a:prstGeom>
          <a:solidFill>
            <a:srgbClr val="1565C0"/>
          </a:solidFill>
          <a:ln>
            <a:noFill/>
          </a:ln>
        </p:spPr>
        <p:txBody>
          <a:bodyPr lIns="280000" anchor="ctr"/>
          <a:lstStyle/>
          <a:p>
            <a:r>
              <a:rPr lang="en-US" sz="800" b="1" dirty="0">
                <a:solidFill>
                  <a:srgbClr val="B3D1F5"/>
                </a:solidFill>
              </a:rPr>
              <a:t>A1  |  </a:t>
            </a:r>
            <a:r>
              <a:rPr lang="en-US" sz="1900" b="1" dirty="0">
                <a:solidFill>
                  <a:srgbClr val="FFFFFF"/>
                </a:solidFill>
              </a:rPr>
              <a:t>Why AUC? Metric Justification</a:t>
            </a:r>
          </a:p>
        </p:txBody>
      </p:sp>
      <p:sp>
        <p:nvSpPr>
          <p:cNvPr id="7" name="SC7"/>
          <p:cNvSpPr/>
          <p:nvPr/>
        </p:nvSpPr>
        <p:spPr>
          <a:xfrm>
            <a:off x="200000" y="718429"/>
            <a:ext cx="8743999" cy="1853321"/>
          </a:xfrm>
          <a:prstGeom prst="rect">
            <a:avLst/>
          </a:prstGeom>
          <a:solidFill>
            <a:srgbClr val="FFFFFF"/>
          </a:solidFill>
          <a:ln w="18000">
            <a:solidFill>
              <a:srgbClr val="D0D7DE"/>
            </a:solidFill>
          </a:ln>
        </p:spPr>
        <p:txBody>
          <a:bodyPr lIns="160000" tIns="130000" rIns="160000" anchor="t"/>
          <a:lstStyle/>
          <a:p>
            <a:r>
              <a:rPr lang="en-US" sz="1100" b="1" dirty="0">
                <a:solidFill>
                  <a:srgbClr val="1565C0"/>
                </a:solidFill>
              </a:rPr>
              <a:t>Why ROC-AUC Works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AUC is fixed, it tells you how good the model's ranking is, full stop. That never changes regardless of business context.</a:t>
            </a:r>
          </a:p>
          <a:p>
            <a:pPr marL="171450" indent="-171450">
              <a:buFont typeface="Arial" panose="020B0604020202020204" pitchFamily="34" charset="0"/>
              <a:buChar char="•"/>
            </a:pPr>
            <a:r>
              <a:rPr lang="en-US" sz="1100" dirty="0"/>
              <a:t>But FPR, FNR, precision, recall, F1 all of those shift the moment you move the threshold. If the facility decides supplier relationships matter more, they push the threshold higher so fewer machine breaks get wrongly flagged, FPR drops but FNR goes up. If catching every paper break matters more, they push the threshold lower, FNR drops but FPR goes up.</a:t>
            </a:r>
          </a:p>
          <a:p>
            <a:pPr marL="171450" indent="-171450">
              <a:buFont typeface="Arial" panose="020B0604020202020204" pitchFamily="34" charset="0"/>
              <a:buChar char="•"/>
            </a:pPr>
            <a:r>
              <a:rPr lang="en-US" sz="1100" dirty="0"/>
              <a:t>Same model. Same AUC. Completely different operational </a:t>
            </a:r>
            <a:r>
              <a:rPr lang="en-US" sz="1100" dirty="0" err="1"/>
              <a:t>behaviour</a:t>
            </a:r>
            <a:r>
              <a:rPr lang="en-US" sz="1100" dirty="0"/>
              <a:t> depending on what the business </a:t>
            </a:r>
            <a:r>
              <a:rPr lang="en-US" sz="1100" dirty="0" err="1"/>
              <a:t>prioritises</a:t>
            </a:r>
            <a:r>
              <a:rPr lang="en-US" sz="1100" dirty="0"/>
              <a:t>.</a:t>
            </a:r>
          </a:p>
          <a:p>
            <a:pPr marL="171450" indent="-171450">
              <a:buFont typeface="Arial" panose="020B0604020202020204" pitchFamily="34" charset="0"/>
              <a:buChar char="•"/>
            </a:pPr>
            <a:r>
              <a:rPr lang="en-US" sz="1100" dirty="0"/>
              <a:t>So AUC answers the research question which model is best. The threshold answers the business question how do we want to deploy it. They're two separate decisions and that's why you keep them separate.</a:t>
            </a:r>
          </a:p>
        </p:txBody>
      </p:sp>
      <p:sp>
        <p:nvSpPr>
          <p:cNvPr id="8" name="R8"/>
          <p:cNvSpPr/>
          <p:nvPr/>
        </p:nvSpPr>
        <p:spPr>
          <a:xfrm>
            <a:off x="0" y="2928945"/>
            <a:ext cx="9144000" cy="8000"/>
          </a:xfrm>
          <a:prstGeom prst="rect">
            <a:avLst/>
          </a:prstGeom>
          <a:solidFill>
            <a:srgbClr val="1565C0"/>
          </a:solidFill>
          <a:ln>
            <a:noFill/>
          </a:ln>
        </p:spPr>
        <p:txBody>
          <a:bodyPr/>
          <a:lstStyle/>
          <a:p>
            <a:endParaRPr/>
          </a:p>
        </p:txBody>
      </p:sp>
      <p:sp>
        <p:nvSpPr>
          <p:cNvPr id="9" name="T9"/>
          <p:cNvSpPr/>
          <p:nvPr/>
        </p:nvSpPr>
        <p:spPr>
          <a:xfrm>
            <a:off x="150000" y="3156494"/>
            <a:ext cx="8744000" cy="745890"/>
          </a:xfrm>
          <a:prstGeom prst="rect">
            <a:avLst/>
          </a:prstGeom>
          <a:noFill/>
          <a:ln>
            <a:noFill/>
          </a:ln>
        </p:spPr>
        <p:txBody>
          <a:bodyPr lIns="180000" tIns="150000" anchor="t"/>
          <a:lstStyle/>
          <a:p>
            <a:r>
              <a:rPr lang="en-US" sz="1200" b="1" dirty="0">
                <a:solidFill>
                  <a:srgbClr val="1A1A2E"/>
                </a:solidFill>
              </a:rPr>
              <a:t>Key insight: AUC = 0.86 means the model ranks a randomly chosen paper-caused event higher than a randomly chosen machine-caused event 86% of the time regardless of threshold.</a:t>
            </a:r>
          </a:p>
        </p:txBody>
      </p:sp>
      <p:sp>
        <p:nvSpPr>
          <p:cNvPr id="10" name="R10"/>
          <p:cNvSpPr/>
          <p:nvPr/>
        </p:nvSpPr>
        <p:spPr>
          <a:xfrm>
            <a:off x="100000" y="4426084"/>
            <a:ext cx="8844000" cy="500050"/>
          </a:xfrm>
          <a:prstGeom prst="rect">
            <a:avLst/>
          </a:prstGeom>
          <a:solidFill>
            <a:srgbClr val="F5F7FA"/>
          </a:solidFill>
          <a:ln w="18000">
            <a:solidFill>
              <a:srgbClr val="D0D7DE"/>
            </a:solidFill>
          </a:ln>
        </p:spPr>
        <p:txBody>
          <a:bodyPr/>
          <a:lstStyle/>
          <a:p>
            <a:endParaRPr/>
          </a:p>
        </p:txBody>
      </p:sp>
      <p:sp>
        <p:nvSpPr>
          <p:cNvPr id="11" name="T11"/>
          <p:cNvSpPr/>
          <p:nvPr/>
        </p:nvSpPr>
        <p:spPr>
          <a:xfrm>
            <a:off x="200000" y="4418083"/>
            <a:ext cx="8444000" cy="508051"/>
          </a:xfrm>
          <a:prstGeom prst="rect">
            <a:avLst/>
          </a:prstGeom>
          <a:noFill/>
          <a:ln>
            <a:noFill/>
          </a:ln>
        </p:spPr>
        <p:txBody>
          <a:bodyPr lIns="180000" tIns="150000" anchor="t"/>
          <a:lstStyle/>
          <a:p>
            <a:r>
              <a:rPr lang="en-US" sz="1300" b="1" dirty="0">
                <a:solidFill>
                  <a:srgbClr val="1565C0"/>
                </a:solidFill>
              </a:rPr>
              <a:t>AUC Formula:   AUC = P(score(paper event) &gt; score(machine event))   for randomly drawn events from each class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68878"/>
          </a:xfrm>
          <a:prstGeom prst="rect">
            <a:avLst/>
          </a:prstGeom>
          <a:solidFill>
            <a:srgbClr val="1565C0"/>
          </a:solidFill>
          <a:ln>
            <a:noFill/>
          </a:ln>
        </p:spPr>
        <p:txBody>
          <a:bodyPr lIns="280000" anchor="ctr"/>
          <a:lstStyle/>
          <a:p>
            <a:r>
              <a:rPr lang="en-US" sz="800" b="1" dirty="0">
                <a:solidFill>
                  <a:srgbClr val="B3D1F5"/>
                </a:solidFill>
              </a:rPr>
              <a:t>A2  |  </a:t>
            </a:r>
            <a:r>
              <a:rPr lang="en-US" sz="1900" b="1" dirty="0">
                <a:solidFill>
                  <a:srgbClr val="FFFFFF"/>
                </a:solidFill>
              </a:rPr>
              <a:t>Class Imbalance: Full Handling Strategy</a:t>
            </a:r>
          </a:p>
        </p:txBody>
      </p:sp>
      <p:sp>
        <p:nvSpPr>
          <p:cNvPr id="5" name="SC5"/>
          <p:cNvSpPr/>
          <p:nvPr/>
        </p:nvSpPr>
        <p:spPr>
          <a:xfrm>
            <a:off x="150000" y="999250"/>
            <a:ext cx="2700000" cy="2200000"/>
          </a:xfrm>
          <a:prstGeom prst="rect">
            <a:avLst/>
          </a:prstGeom>
          <a:solidFill>
            <a:srgbClr val="F5F7FA"/>
          </a:solidFill>
          <a:ln w="18000">
            <a:solidFill>
              <a:srgbClr val="D0D7DE"/>
            </a:solidFill>
          </a:ln>
        </p:spPr>
        <p:txBody>
          <a:bodyPr lIns="160000" tIns="130000" rIns="160000" anchor="t"/>
          <a:lstStyle/>
          <a:p>
            <a:r>
              <a:rPr lang="en-US" sz="1300" b="1" dirty="0">
                <a:solidFill>
                  <a:srgbClr val="1565C0"/>
                </a:solidFill>
              </a:rPr>
              <a:t>1. Loss Weighting</a:t>
            </a:r>
          </a:p>
          <a:p>
            <a:r>
              <a:rPr lang="en-US" sz="1100" dirty="0">
                <a:solidFill>
                  <a:srgbClr val="455A64"/>
                </a:solidFill>
              </a:rPr>
              <a:t>• TapNet: class weight = 5.25x on paper events</a:t>
            </a:r>
          </a:p>
          <a:p>
            <a:r>
              <a:rPr lang="en-US" sz="1100" dirty="0">
                <a:solidFill>
                  <a:srgbClr val="455A64"/>
                </a:solidFill>
              </a:rPr>
              <a:t>• TST: inverse frequency weights from fold</a:t>
            </a:r>
          </a:p>
          <a:p>
            <a:r>
              <a:rPr lang="en-US" sz="1100" dirty="0">
                <a:solidFill>
                  <a:srgbClr val="455A64"/>
                </a:solidFill>
              </a:rPr>
              <a:t>• CNN, InceptionTime, ConvTimeNet, LSTM-FCN: sktime does not expose loss — handled via threshold only</a:t>
            </a:r>
          </a:p>
          <a:p>
            <a:r>
              <a:rPr lang="en-US" sz="1100" dirty="0">
                <a:solidFill>
                  <a:srgbClr val="455A64"/>
                </a:solidFill>
              </a:rPr>
              <a:t>• XGBoost: scale_pos_weight = #machine / #paper †5.25</a:t>
            </a:r>
          </a:p>
          <a:p>
            <a:r>
              <a:rPr lang="en-US" sz="1100" dirty="0">
                <a:solidFill>
                  <a:srgbClr val="455A64"/>
                </a:solidFill>
              </a:rPr>
              <a:t>• Effect: minority gradient contribution matches majority</a:t>
            </a:r>
          </a:p>
        </p:txBody>
      </p:sp>
      <p:sp>
        <p:nvSpPr>
          <p:cNvPr id="6" name="SC6"/>
          <p:cNvSpPr/>
          <p:nvPr/>
        </p:nvSpPr>
        <p:spPr>
          <a:xfrm>
            <a:off x="3072000" y="999250"/>
            <a:ext cx="2700000" cy="2200000"/>
          </a:xfrm>
          <a:prstGeom prst="rect">
            <a:avLst/>
          </a:prstGeom>
          <a:solidFill>
            <a:srgbClr val="F5F7FA"/>
          </a:solidFill>
          <a:ln w="18000">
            <a:solidFill>
              <a:srgbClr val="D0D7DE"/>
            </a:solidFill>
          </a:ln>
        </p:spPr>
        <p:txBody>
          <a:bodyPr lIns="160000" tIns="130000" rIns="160000" anchor="t"/>
          <a:lstStyle/>
          <a:p>
            <a:r>
              <a:rPr lang="en-US" sz="1300" b="1" dirty="0">
                <a:solidFill>
                  <a:srgbClr val="7B1FA2"/>
                </a:solidFill>
              </a:rPr>
              <a:t>2. Threshold Calibration</a:t>
            </a:r>
          </a:p>
          <a:p>
            <a:r>
              <a:rPr lang="en-US" sz="1100" dirty="0">
                <a:solidFill>
                  <a:srgbClr val="455A64"/>
                </a:solidFill>
              </a:rPr>
              <a:t>• Default threshold 0.5 inappropriate under imbalance</a:t>
            </a:r>
          </a:p>
          <a:p>
            <a:r>
              <a:rPr lang="en-US" sz="1100" dirty="0">
                <a:solidFill>
                  <a:srgbClr val="455A64"/>
                </a:solidFill>
              </a:rPr>
              <a:t>• Grid search: 91 thresholds from 0.05 to 0.95</a:t>
            </a:r>
          </a:p>
          <a:p>
            <a:r>
              <a:rPr lang="en-US" sz="1100" dirty="0">
                <a:solidFill>
                  <a:srgbClr val="455A64"/>
                </a:solidFill>
              </a:rPr>
              <a:t>• Criterion: maximize paper F1 on validation set</a:t>
            </a:r>
          </a:p>
          <a:p>
            <a:r>
              <a:rPr lang="en-US" sz="1100" dirty="0">
                <a:solidFill>
                  <a:srgbClr val="455A64"/>
                </a:solidFill>
              </a:rPr>
              <a:t>• Applied to test set without refitting</a:t>
            </a:r>
          </a:p>
          <a:p>
            <a:r>
              <a:rPr lang="en-US" sz="1100" dirty="0">
                <a:solidFill>
                  <a:srgbClr val="455A64"/>
                </a:solidFill>
              </a:rPr>
              <a:t>• Observed range: 0.08 (CNN) to 0.67 (TapNet fold 3)</a:t>
            </a:r>
          </a:p>
          <a:p>
            <a:r>
              <a:rPr lang="en-US" sz="1100" dirty="0">
                <a:solidFill>
                  <a:srgbClr val="455A64"/>
                </a:solidFill>
              </a:rPr>
              <a:t>• XGBoost thresholds stayed above 0.50 — natural separation</a:t>
            </a:r>
          </a:p>
        </p:txBody>
      </p:sp>
      <p:sp>
        <p:nvSpPr>
          <p:cNvPr id="7" name="SC7"/>
          <p:cNvSpPr/>
          <p:nvPr/>
        </p:nvSpPr>
        <p:spPr>
          <a:xfrm>
            <a:off x="5994000" y="1000376"/>
            <a:ext cx="2700000" cy="2200000"/>
          </a:xfrm>
          <a:prstGeom prst="rect">
            <a:avLst/>
          </a:prstGeom>
          <a:solidFill>
            <a:srgbClr val="F5F7FA"/>
          </a:solidFill>
          <a:ln w="18000">
            <a:solidFill>
              <a:srgbClr val="D0D7DE"/>
            </a:solidFill>
          </a:ln>
        </p:spPr>
        <p:txBody>
          <a:bodyPr lIns="160000" tIns="130000" rIns="160000" anchor="t"/>
          <a:lstStyle/>
          <a:p>
            <a:r>
              <a:rPr lang="en-US" sz="1300" b="1" dirty="0">
                <a:solidFill>
                  <a:srgbClr val="C0504D"/>
                </a:solidFill>
              </a:rPr>
              <a:t>3. Why Not SMOTE?</a:t>
            </a:r>
          </a:p>
          <a:p>
            <a:r>
              <a:rPr lang="en-US" sz="1100" dirty="0">
                <a:solidFill>
                  <a:srgbClr val="455A64"/>
                </a:solidFill>
              </a:rPr>
              <a:t>• SMOTE interpolates between minority samples</a:t>
            </a:r>
          </a:p>
          <a:p>
            <a:r>
              <a:rPr lang="en-US" sz="1100" dirty="0">
                <a:solidFill>
                  <a:srgbClr val="455A64"/>
                </a:solidFill>
              </a:rPr>
              <a:t>• Synthetic time series = physically unrealisable trajectories</a:t>
            </a:r>
          </a:p>
          <a:p>
            <a:r>
              <a:rPr lang="en-US" sz="1100" dirty="0">
                <a:solidFill>
                  <a:srgbClr val="455A64"/>
                </a:solidFill>
              </a:rPr>
              <a:t>• No meaningful middle-ground between machine and paper break signatures</a:t>
            </a:r>
          </a:p>
          <a:p>
            <a:r>
              <a:rPr lang="en-US" sz="1100" dirty="0">
                <a:solidFill>
                  <a:srgbClr val="455A64"/>
                </a:solidFill>
              </a:rPr>
              <a:t>• Risk of leaking test class distribution into training</a:t>
            </a:r>
          </a:p>
          <a:p>
            <a:r>
              <a:rPr lang="en-US" sz="1100" dirty="0">
                <a:solidFill>
                  <a:srgbClr val="455A64"/>
                </a:solidFill>
              </a:rPr>
              <a:t>• Decision: address imbalance through loss + threshold only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97305"/>
          </a:xfrm>
          <a:prstGeom prst="rect">
            <a:avLst/>
          </a:prstGeom>
          <a:solidFill>
            <a:srgbClr val="1565C0"/>
          </a:solidFill>
          <a:ln>
            <a:noFill/>
          </a:ln>
        </p:spPr>
        <p:txBody>
          <a:bodyPr lIns="280000" anchor="ctr"/>
          <a:lstStyle/>
          <a:p>
            <a:r>
              <a:rPr lang="en-US" sz="800" b="1" dirty="0">
                <a:solidFill>
                  <a:srgbClr val="B3D1F5"/>
                </a:solidFill>
              </a:rPr>
              <a:t>A4  |  </a:t>
            </a:r>
            <a:r>
              <a:rPr lang="en-US" sz="1900" b="1" dirty="0">
                <a:solidFill>
                  <a:srgbClr val="FFFFFF"/>
                </a:solidFill>
              </a:rPr>
              <a:t>Full Model Hyperparameters</a:t>
            </a:r>
          </a:p>
        </p:txBody>
      </p:sp>
      <p:sp>
        <p:nvSpPr>
          <p:cNvPr id="4" name="T4"/>
          <p:cNvSpPr/>
          <p:nvPr/>
        </p:nvSpPr>
        <p:spPr>
          <a:xfrm>
            <a:off x="178000" y="552600"/>
            <a:ext cx="8744000" cy="60000"/>
          </a:xfrm>
          <a:prstGeom prst="rect">
            <a:avLst/>
          </a:prstGeom>
          <a:noFill/>
          <a:ln>
            <a:noFill/>
          </a:ln>
        </p:spPr>
        <p:txBody>
          <a:bodyPr lIns="180000" tIns="150000" anchor="ctr"/>
          <a:lstStyle/>
          <a:p>
            <a:r>
              <a:rPr lang="en-US" sz="1100" b="0" dirty="0">
                <a:solidFill>
                  <a:srgbClr val="455A64"/>
                </a:solidFill>
              </a:rPr>
              <a:t>All models share: 30 epochs, batch size 64, 3-fold stratified CV, StandardScaler preprocessing, early stopping on validation AUC.</a:t>
            </a:r>
          </a:p>
        </p:txBody>
      </p:sp>
      <p:sp>
        <p:nvSpPr>
          <p:cNvPr id="5" name="R5"/>
          <p:cNvSpPr/>
          <p:nvPr/>
        </p:nvSpPr>
        <p:spPr>
          <a:xfrm>
            <a:off x="150000" y="790000"/>
            <a:ext cx="4200000" cy="4261272"/>
          </a:xfrm>
          <a:prstGeom prst="rect">
            <a:avLst/>
          </a:prstGeom>
          <a:solidFill>
            <a:srgbClr val="F5F7FA"/>
          </a:solidFill>
          <a:ln w="18000">
            <a:solidFill>
              <a:srgbClr val="D0D7DE"/>
            </a:solidFill>
          </a:ln>
        </p:spPr>
        <p:txBody>
          <a:bodyPr/>
          <a:lstStyle/>
          <a:p>
            <a:endParaRPr/>
          </a:p>
        </p:txBody>
      </p:sp>
      <p:sp>
        <p:nvSpPr>
          <p:cNvPr id="6" name="T6"/>
          <p:cNvSpPr/>
          <p:nvPr/>
        </p:nvSpPr>
        <p:spPr>
          <a:xfrm>
            <a:off x="220000" y="790000"/>
            <a:ext cx="4060000" cy="4261272"/>
          </a:xfrm>
          <a:prstGeom prst="rect">
            <a:avLst/>
          </a:prstGeom>
          <a:noFill/>
          <a:ln>
            <a:noFill/>
          </a:ln>
        </p:spPr>
        <p:txBody>
          <a:bodyPr lIns="180000" tIns="150000" anchor="t"/>
          <a:lstStyle/>
          <a:p>
            <a:r>
              <a:rPr lang="en-US" sz="1300" b="1" dirty="0">
                <a:solidFill>
                  <a:srgbClr val="1565C0"/>
                </a:solidFill>
              </a:rPr>
              <a:t>Deep Learning Models</a:t>
            </a:r>
          </a:p>
          <a:p>
            <a:endParaRPr lang="en-US" sz="1300" b="1" dirty="0">
              <a:solidFill>
                <a:srgbClr val="1565C0"/>
              </a:solidFill>
            </a:endParaRPr>
          </a:p>
          <a:p>
            <a:r>
              <a:rPr lang="en-US" sz="1200" b="1" dirty="0">
                <a:solidFill>
                  <a:srgbClr val="1A1A2E"/>
                </a:solidFill>
              </a:rPr>
              <a:t>CNN-FCN  (sktime FCNClassifier defaults)</a:t>
            </a:r>
          </a:p>
          <a:p>
            <a:r>
              <a:rPr lang="en-US" sz="1050" b="0" dirty="0">
                <a:solidFill>
                  <a:srgbClr val="455A64"/>
                </a:solidFill>
              </a:rPr>
              <a:t>Conv blocks: 128/256/128 filters, kernels 8/5/3, BatchNorm+ReLU, GAP, Softmax</a:t>
            </a:r>
          </a:p>
          <a:p>
            <a:r>
              <a:rPr lang="en-US" sz="1050" b="0" dirty="0">
                <a:solidFill>
                  <a:srgbClr val="455A64"/>
                </a:solidFill>
              </a:rPr>
              <a:t>Loss: unweighted cross-entropy  |  Optimizer: Adam</a:t>
            </a:r>
          </a:p>
          <a:p>
            <a:endParaRPr lang="en-US" sz="1050" b="0" dirty="0">
              <a:solidFill>
                <a:srgbClr val="455A64"/>
              </a:solidFill>
            </a:endParaRPr>
          </a:p>
          <a:p>
            <a:r>
              <a:rPr lang="en-US" sz="1200" b="1" dirty="0">
                <a:solidFill>
                  <a:srgbClr val="1A1A2E"/>
                </a:solidFill>
              </a:rPr>
              <a:t>InceptionTime  (sktime InceptionTimeClassifier)</a:t>
            </a:r>
          </a:p>
          <a:p>
            <a:r>
              <a:rPr lang="en-US" sz="1050" b="0" dirty="0">
                <a:solidFill>
                  <a:srgbClr val="455A64"/>
                </a:solidFill>
              </a:rPr>
              <a:t>Single network (not ensemble), 6 Inception modules, kernel sizes 10/20/40, bottleneck k=1, residual every 3rd</a:t>
            </a:r>
          </a:p>
          <a:p>
            <a:r>
              <a:rPr lang="en-US" sz="1050" b="0" dirty="0">
                <a:solidFill>
                  <a:srgbClr val="455A64"/>
                </a:solidFill>
              </a:rPr>
              <a:t>Loss: unweighted cross-entropy  |  Optimizer: Adam</a:t>
            </a:r>
          </a:p>
          <a:p>
            <a:endParaRPr lang="en-US" sz="1050" b="0" dirty="0">
              <a:solidFill>
                <a:srgbClr val="455A64"/>
              </a:solidFill>
            </a:endParaRPr>
          </a:p>
          <a:p>
            <a:r>
              <a:rPr lang="en-US" sz="1200" b="1" dirty="0">
                <a:solidFill>
                  <a:srgbClr val="1A1A2E"/>
                </a:solidFill>
              </a:rPr>
              <a:t>ConvTimeNet  (sktime ConvTimeNetClassifier)</a:t>
            </a:r>
          </a:p>
          <a:p>
            <a:r>
              <a:rPr lang="en-US" sz="1050" b="0" dirty="0">
                <a:solidFill>
                  <a:srgbClr val="455A64"/>
                </a:solidFill>
              </a:rPr>
              <a:t>Patch size=16, stride=8, d_model=64, d_ff=128, depthwise kernel=3, GELU activation</a:t>
            </a:r>
          </a:p>
          <a:p>
            <a:endParaRPr lang="en-US" sz="1050" b="0" dirty="0">
              <a:solidFill>
                <a:srgbClr val="455A64"/>
              </a:solidFill>
            </a:endParaRPr>
          </a:p>
          <a:p>
            <a:r>
              <a:rPr lang="en-US" sz="1200" b="1" dirty="0">
                <a:solidFill>
                  <a:srgbClr val="1A1A2E"/>
                </a:solidFill>
              </a:rPr>
              <a:t>LSTM-FCN  (sktime LSTMFCNClassifier defaults)</a:t>
            </a:r>
          </a:p>
          <a:p>
            <a:r>
              <a:rPr lang="en-US" sz="1050" b="0" dirty="0">
                <a:solidFill>
                  <a:srgbClr val="455A64"/>
                </a:solidFill>
              </a:rPr>
              <a:t>LSTM units=8, dropout=0.8. Squeeze-excitation and dim-shuffle omitted (sktime simplification)</a:t>
            </a:r>
          </a:p>
          <a:p>
            <a:endParaRPr lang="en-US" sz="1050" b="0" dirty="0">
              <a:solidFill>
                <a:srgbClr val="455A64"/>
              </a:solidFill>
            </a:endParaRPr>
          </a:p>
          <a:p>
            <a:r>
              <a:rPr lang="en-US" sz="1200" b="1" dirty="0">
                <a:solidFill>
                  <a:srgbClr val="1A1A2E"/>
                </a:solidFill>
              </a:rPr>
              <a:t>TST  (tsai library)</a:t>
            </a:r>
          </a:p>
          <a:p>
            <a:r>
              <a:rPr lang="en-US" sz="1050" b="0" dirty="0">
                <a:solidFill>
                  <a:srgbClr val="455A64"/>
                </a:solidFill>
              </a:rPr>
              <a:t>d_model=64, n_heads=4, n_layers=3, dropout=0.2, d_k=16, d_ff=256</a:t>
            </a:r>
          </a:p>
          <a:p>
            <a:r>
              <a:rPr lang="en-US" sz="1050" b="0" dirty="0">
                <a:solidFill>
                  <a:srgbClr val="455A64"/>
                </a:solidFill>
              </a:rPr>
              <a:t>Loss: weighted CE (pos_weight=5.25)  |  One-cycle LR=1e-3, wd=1e-2  |  </a:t>
            </a:r>
            <a:r>
              <a:rPr lang="en-US" sz="1050" b="0" dirty="0" err="1">
                <a:solidFill>
                  <a:srgbClr val="455A64"/>
                </a:solidFill>
              </a:rPr>
              <a:t>fastai</a:t>
            </a:r>
            <a:r>
              <a:rPr lang="en-US" sz="1050" b="0" dirty="0">
                <a:solidFill>
                  <a:srgbClr val="455A64"/>
                </a:solidFill>
              </a:rPr>
              <a:t> optimizer</a:t>
            </a:r>
          </a:p>
          <a:p>
            <a:endParaRPr lang="en-US" sz="1050" dirty="0">
              <a:solidFill>
                <a:srgbClr val="455A64"/>
              </a:solidFill>
            </a:endParaRPr>
          </a:p>
          <a:p>
            <a:r>
              <a:rPr lang="en-US" sz="1200" b="1" dirty="0" err="1">
                <a:solidFill>
                  <a:srgbClr val="1A1A2E"/>
                </a:solidFill>
              </a:rPr>
              <a:t>TapNet</a:t>
            </a:r>
            <a:r>
              <a:rPr lang="en-US" sz="1200" b="1" dirty="0">
                <a:solidFill>
                  <a:srgbClr val="1A1A2E"/>
                </a:solidFill>
              </a:rPr>
              <a:t>  (</a:t>
            </a:r>
            <a:r>
              <a:rPr lang="en-US" sz="1200" b="1" dirty="0" err="1">
                <a:solidFill>
                  <a:srgbClr val="1A1A2E"/>
                </a:solidFill>
              </a:rPr>
              <a:t>sktime</a:t>
            </a:r>
            <a:r>
              <a:rPr lang="en-US" sz="1200" b="1" dirty="0">
                <a:solidFill>
                  <a:srgbClr val="1A1A2E"/>
                </a:solidFill>
              </a:rPr>
              <a:t> </a:t>
            </a:r>
            <a:r>
              <a:rPr lang="en-US" sz="1200" b="1" dirty="0" err="1">
                <a:solidFill>
                  <a:srgbClr val="1A1A2E"/>
                </a:solidFill>
              </a:rPr>
              <a:t>TapNetClassifier</a:t>
            </a:r>
            <a:r>
              <a:rPr lang="en-US" sz="1200" b="1" dirty="0">
                <a:solidFill>
                  <a:srgbClr val="1A1A2E"/>
                </a:solidFill>
              </a:rPr>
              <a:t> defaults)</a:t>
            </a:r>
          </a:p>
          <a:p>
            <a:r>
              <a:rPr lang="en-US" sz="1050" dirty="0">
                <a:solidFill>
                  <a:srgbClr val="455A64"/>
                </a:solidFill>
              </a:rPr>
              <a:t>RDP groups=3 (dim=6), LSTM=128 units, dropout=0.8, CNN filters=256/256/128 k=8</a:t>
            </a:r>
          </a:p>
          <a:p>
            <a:r>
              <a:rPr lang="en-US" sz="1050" dirty="0">
                <a:solidFill>
                  <a:srgbClr val="455A64"/>
                </a:solidFill>
              </a:rPr>
              <a:t>FC layers: 500 then 300 (embedding space). Loss: weighted CE (</a:t>
            </a:r>
            <a:r>
              <a:rPr lang="en-US" sz="1050" dirty="0" err="1">
                <a:solidFill>
                  <a:srgbClr val="455A64"/>
                </a:solidFill>
              </a:rPr>
              <a:t>pos_weight</a:t>
            </a:r>
            <a:r>
              <a:rPr lang="en-US" sz="1050" dirty="0">
                <a:solidFill>
                  <a:srgbClr val="455A64"/>
                </a:solidFill>
              </a:rPr>
              <a:t>=5.25)</a:t>
            </a:r>
          </a:p>
          <a:p>
            <a:endParaRPr lang="en-US" sz="1050" b="0" dirty="0">
              <a:solidFill>
                <a:srgbClr val="455A64"/>
              </a:solidFill>
            </a:endParaRPr>
          </a:p>
          <a:p>
            <a:endParaRPr lang="en-US" sz="1050" b="0" dirty="0">
              <a:solidFill>
                <a:srgbClr val="455A64"/>
              </a:solidFill>
            </a:endParaRPr>
          </a:p>
        </p:txBody>
      </p:sp>
      <p:sp>
        <p:nvSpPr>
          <p:cNvPr id="7" name="R7"/>
          <p:cNvSpPr/>
          <p:nvPr/>
        </p:nvSpPr>
        <p:spPr>
          <a:xfrm>
            <a:off x="4550000" y="760000"/>
            <a:ext cx="4444000" cy="4291272"/>
          </a:xfrm>
          <a:prstGeom prst="rect">
            <a:avLst/>
          </a:prstGeom>
          <a:solidFill>
            <a:srgbClr val="F5F7FA"/>
          </a:solidFill>
          <a:ln w="18000">
            <a:solidFill>
              <a:srgbClr val="D0D7DE"/>
            </a:solidFill>
          </a:ln>
        </p:spPr>
        <p:txBody>
          <a:bodyPr/>
          <a:lstStyle/>
          <a:p>
            <a:endParaRPr dirty="0"/>
          </a:p>
        </p:txBody>
      </p:sp>
      <p:sp>
        <p:nvSpPr>
          <p:cNvPr id="8" name="T8"/>
          <p:cNvSpPr/>
          <p:nvPr/>
        </p:nvSpPr>
        <p:spPr>
          <a:xfrm>
            <a:off x="4620000" y="790000"/>
            <a:ext cx="4304000" cy="4261272"/>
          </a:xfrm>
          <a:prstGeom prst="rect">
            <a:avLst/>
          </a:prstGeom>
          <a:noFill/>
          <a:ln>
            <a:noFill/>
          </a:ln>
        </p:spPr>
        <p:txBody>
          <a:bodyPr lIns="180000" tIns="150000" anchor="t"/>
          <a:lstStyle/>
          <a:p>
            <a:r>
              <a:rPr lang="en-US" sz="1300" b="1" dirty="0">
                <a:solidFill>
                  <a:srgbClr val="1565C0"/>
                </a:solidFill>
              </a:rPr>
              <a:t>XGBoost + Foundation + LLM</a:t>
            </a:r>
          </a:p>
          <a:p>
            <a:endParaRPr lang="en-US" sz="1300" b="1" dirty="0">
              <a:solidFill>
                <a:srgbClr val="1565C0"/>
              </a:solidFill>
            </a:endParaRPr>
          </a:p>
          <a:p>
            <a:r>
              <a:rPr lang="en-US" sz="1200" b="1" dirty="0">
                <a:solidFill>
                  <a:srgbClr val="1A1A2E"/>
                </a:solidFill>
              </a:rPr>
              <a:t>XGBoost  (xgboost native library)</a:t>
            </a:r>
          </a:p>
          <a:p>
            <a:r>
              <a:rPr lang="en-US" sz="1050" b="0" dirty="0">
                <a:solidFill>
                  <a:srgbClr val="455A64"/>
                </a:solidFill>
              </a:rPr>
              <a:t>n_estimators=500, max_depth=5, learning_rate=0.05</a:t>
            </a:r>
          </a:p>
          <a:p>
            <a:r>
              <a:rPr lang="en-US" sz="1050" b="0" dirty="0">
                <a:solidFill>
                  <a:srgbClr val="455A64"/>
                </a:solidFill>
              </a:rPr>
              <a:t>subsample=0.8, colsample_bytree=0.8</a:t>
            </a:r>
          </a:p>
          <a:p>
            <a:r>
              <a:rPr lang="en-US" sz="1050" b="0" dirty="0">
                <a:solidFill>
                  <a:srgbClr val="455A64"/>
                </a:solidFill>
              </a:rPr>
              <a:t>Early stopping: 30 rounds on validation AUC</a:t>
            </a:r>
          </a:p>
          <a:p>
            <a:r>
              <a:rPr lang="en-US" sz="1050" b="0" dirty="0">
                <a:solidFill>
                  <a:srgbClr val="455A64"/>
                </a:solidFill>
              </a:rPr>
              <a:t>scale_pos_weight = #machine/#paper † 5.25 per fold</a:t>
            </a:r>
          </a:p>
          <a:p>
            <a:r>
              <a:rPr lang="en-US" sz="1050" b="0" dirty="0">
                <a:solidFill>
                  <a:srgbClr val="455A64"/>
                </a:solidFill>
              </a:rPr>
              <a:t>Feature dim: ~80-90 after one-hot encoding</a:t>
            </a:r>
          </a:p>
          <a:p>
            <a:endParaRPr lang="en-US" sz="1050" b="0" dirty="0">
              <a:solidFill>
                <a:srgbClr val="455A64"/>
              </a:solidFill>
            </a:endParaRPr>
          </a:p>
          <a:p>
            <a:r>
              <a:rPr lang="en-US" sz="1200" b="1" dirty="0">
                <a:solidFill>
                  <a:srgbClr val="1A1A2E"/>
                </a:solidFill>
              </a:rPr>
              <a:t>Chronos-2  (chronos-forecasting library)</a:t>
            </a:r>
          </a:p>
          <a:p>
            <a:r>
              <a:rPr lang="en-US" sz="1050" b="0" dirty="0">
                <a:solidFill>
                  <a:srgbClr val="455A64"/>
                </a:solidFill>
              </a:rPr>
              <a:t>Backbone: T5 encoder-decoder (small variant)</a:t>
            </a:r>
          </a:p>
          <a:p>
            <a:r>
              <a:rPr lang="en-US" sz="1050" b="0" dirty="0">
                <a:solidFill>
                  <a:srgbClr val="455A64"/>
                </a:solidFill>
              </a:rPr>
              <a:t>Group attention: all 5 channels jointly encoded</a:t>
            </a:r>
          </a:p>
          <a:p>
            <a:r>
              <a:rPr lang="en-US" sz="1050" b="0" dirty="0">
                <a:solidFill>
                  <a:srgbClr val="455A64"/>
                </a:solidFill>
              </a:rPr>
              <a:t>Config 1: backbone frozen, MLP head trained only</a:t>
            </a:r>
          </a:p>
          <a:p>
            <a:r>
              <a:rPr lang="en-US" sz="1050" b="0" dirty="0">
                <a:solidFill>
                  <a:srgbClr val="455A64"/>
                </a:solidFill>
              </a:rPr>
              <a:t>Config 2: full backbone fine-tuned end-to-end</a:t>
            </a:r>
          </a:p>
          <a:p>
            <a:r>
              <a:rPr lang="en-US" sz="1050" b="0" dirty="0">
                <a:solidFill>
                  <a:srgbClr val="455A64"/>
                </a:solidFill>
              </a:rPr>
              <a:t>Eval: 30/6/6 month temporal split</a:t>
            </a:r>
          </a:p>
          <a:p>
            <a:endParaRPr lang="en-US" sz="1050" b="0" dirty="0">
              <a:solidFill>
                <a:srgbClr val="455A64"/>
              </a:solidFill>
            </a:endParaRPr>
          </a:p>
          <a:p>
            <a:r>
              <a:rPr lang="en-US" sz="1200" b="1" dirty="0">
                <a:solidFill>
                  <a:srgbClr val="1A1A2E"/>
                </a:solidFill>
              </a:rPr>
              <a:t>GPT-4o  (OpenAI API)</a:t>
            </a:r>
          </a:p>
          <a:p>
            <a:r>
              <a:rPr lang="en-US" sz="1050" b="0" dirty="0">
                <a:solidFill>
                  <a:srgbClr val="455A64"/>
                </a:solidFill>
              </a:rPr>
              <a:t>Input: run-length encoded defect sequences + metadata</a:t>
            </a:r>
          </a:p>
          <a:p>
            <a:r>
              <a:rPr lang="en-US" sz="1050" b="0" dirty="0">
                <a:solidFill>
                  <a:srgbClr val="455A64"/>
                </a:solidFill>
              </a:rPr>
              <a:t>v3: 5-shot (5 examples/class), temperature=0, batch=5</a:t>
            </a:r>
          </a:p>
          <a:p>
            <a:r>
              <a:rPr lang="en-US" sz="1050" b="0" dirty="0">
                <a:solidFill>
                  <a:srgbClr val="455A64"/>
                </a:solidFill>
              </a:rPr>
              <a:t>v5: 12-shot + XGBoost decision rules, batch=10</a:t>
            </a:r>
          </a:p>
          <a:p>
            <a:r>
              <a:rPr lang="en-US" sz="1050" b="0" dirty="0">
                <a:solidFill>
                  <a:srgbClr val="455A64"/>
                </a:solidFill>
              </a:rPr>
              <a:t>Eval: 100-event stratified holdout (89 machine, 11 paper)</a:t>
            </a:r>
          </a:p>
          <a:p>
            <a:r>
              <a:rPr lang="en-US" sz="1050" b="0" dirty="0">
                <a:solidFill>
                  <a:srgbClr val="455A64"/>
                </a:solidFill>
              </a:rPr>
              <a:t>No probability output — discrete labels only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500000"/>
          </a:xfrm>
          <a:prstGeom prst="rect">
            <a:avLst/>
          </a:prstGeom>
          <a:solidFill>
            <a:srgbClr val="1565C0"/>
          </a:solidFill>
          <a:ln>
            <a:noFill/>
          </a:ln>
        </p:spPr>
        <p:txBody>
          <a:bodyPr lIns="280000" anchor="ctr"/>
          <a:lstStyle/>
          <a:p>
            <a:r>
              <a:rPr lang="en-US" sz="800" b="1" dirty="0">
                <a:solidFill>
                  <a:srgbClr val="B3D1F5"/>
                </a:solidFill>
              </a:rPr>
              <a:t>A5  |  </a:t>
            </a:r>
            <a:r>
              <a:rPr lang="en-US" sz="1900" b="1" dirty="0">
                <a:solidFill>
                  <a:srgbClr val="FFFFFF"/>
                </a:solidFill>
              </a:rPr>
              <a:t>All Models — Per-Fold AUC Breakdown</a:t>
            </a:r>
          </a:p>
        </p:txBody>
      </p:sp>
      <p:sp>
        <p:nvSpPr>
          <p:cNvPr id="4" name="T4"/>
          <p:cNvSpPr/>
          <p:nvPr/>
        </p:nvSpPr>
        <p:spPr>
          <a:xfrm>
            <a:off x="0" y="540000"/>
            <a:ext cx="8744000" cy="60000"/>
          </a:xfrm>
          <a:prstGeom prst="rect">
            <a:avLst/>
          </a:prstGeom>
          <a:noFill/>
          <a:ln>
            <a:noFill/>
          </a:ln>
        </p:spPr>
        <p:txBody>
          <a:bodyPr lIns="180000" tIns="150000" anchor="ctr"/>
          <a:lstStyle/>
          <a:p>
            <a:r>
              <a:rPr lang="en-US" sz="1100" b="0" dirty="0">
                <a:solidFill>
                  <a:srgbClr val="455A64"/>
                </a:solidFill>
              </a:rPr>
              <a:t>Stability = low std. All folds stratified (84/16 split). Each fold: 4,691 test events (3,941 machine + 750 paper).</a:t>
            </a:r>
          </a:p>
        </p:txBody>
      </p:sp>
      <p:sp>
        <p:nvSpPr>
          <p:cNvPr id="5" name="R5"/>
          <p:cNvSpPr/>
          <p:nvPr/>
        </p:nvSpPr>
        <p:spPr>
          <a:xfrm>
            <a:off x="150000" y="770000"/>
            <a:ext cx="8844000" cy="340000"/>
          </a:xfrm>
          <a:prstGeom prst="rect">
            <a:avLst/>
          </a:prstGeom>
          <a:solidFill>
            <a:srgbClr val="1565C0"/>
          </a:solidFill>
          <a:ln>
            <a:noFill/>
          </a:ln>
        </p:spPr>
        <p:txBody>
          <a:bodyPr/>
          <a:lstStyle/>
          <a:p>
            <a:endParaRPr/>
          </a:p>
        </p:txBody>
      </p:sp>
      <p:sp>
        <p:nvSpPr>
          <p:cNvPr id="6" name="T6"/>
          <p:cNvSpPr/>
          <p:nvPr/>
        </p:nvSpPr>
        <p:spPr>
          <a:xfrm>
            <a:off x="160000" y="780000"/>
            <a:ext cx="8820000" cy="320000"/>
          </a:xfrm>
          <a:prstGeom prst="rect">
            <a:avLst/>
          </a:prstGeom>
          <a:noFill/>
          <a:ln>
            <a:noFill/>
          </a:ln>
        </p:spPr>
        <p:txBody>
          <a:bodyPr lIns="180000" tIns="150000" anchor="ctr"/>
          <a:lstStyle/>
          <a:p>
            <a:r>
              <a:rPr lang="en-US" sz="1100" b="1" dirty="0">
                <a:solidFill>
                  <a:srgbClr val="FFFFFF"/>
                </a:solidFill>
              </a:rPr>
              <a:t>Model                                      Pipeline                    Fold 1     Fold 2     Fold 3     Mean AUC     Std</a:t>
            </a:r>
          </a:p>
        </p:txBody>
      </p:sp>
      <p:sp>
        <p:nvSpPr>
          <p:cNvPr id="10" name="R10"/>
          <p:cNvSpPr/>
          <p:nvPr/>
        </p:nvSpPr>
        <p:spPr>
          <a:xfrm>
            <a:off x="150000" y="1110000"/>
            <a:ext cx="8844000" cy="310000"/>
          </a:xfrm>
          <a:prstGeom prst="rect">
            <a:avLst/>
          </a:prstGeom>
          <a:solidFill>
            <a:srgbClr val="F5F7FA"/>
          </a:solidFill>
          <a:ln w="18000">
            <a:solidFill>
              <a:srgbClr val="D0D7DE"/>
            </a:solidFill>
          </a:ln>
        </p:spPr>
        <p:txBody>
          <a:bodyPr/>
          <a:lstStyle/>
          <a:p>
            <a:endParaRPr/>
          </a:p>
        </p:txBody>
      </p:sp>
      <p:sp>
        <p:nvSpPr>
          <p:cNvPr id="50" name="T50"/>
          <p:cNvSpPr/>
          <p:nvPr/>
        </p:nvSpPr>
        <p:spPr>
          <a:xfrm>
            <a:off x="170000" y="1110010"/>
            <a:ext cx="8800000" cy="290000"/>
          </a:xfrm>
          <a:prstGeom prst="rect">
            <a:avLst/>
          </a:prstGeom>
          <a:noFill/>
          <a:ln>
            <a:noFill/>
          </a:ln>
        </p:spPr>
        <p:txBody>
          <a:bodyPr lIns="180000" tIns="150000" anchor="ctr"/>
          <a:lstStyle/>
          <a:p>
            <a:r>
              <a:rPr lang="en-US" sz="1100" b="0" dirty="0">
                <a:solidFill>
                  <a:srgbClr val="455A64"/>
                </a:solidFill>
              </a:rPr>
              <a:t>CNN-FCN                 Deep Learning                 0.68         0.67         0.68         0.68              ±0.0052</a:t>
            </a:r>
          </a:p>
        </p:txBody>
      </p:sp>
      <p:sp>
        <p:nvSpPr>
          <p:cNvPr id="11" name="R11"/>
          <p:cNvSpPr/>
          <p:nvPr/>
        </p:nvSpPr>
        <p:spPr>
          <a:xfrm>
            <a:off x="150000" y="1420000"/>
            <a:ext cx="8844000" cy="310000"/>
          </a:xfrm>
          <a:prstGeom prst="rect">
            <a:avLst/>
          </a:prstGeom>
          <a:solidFill>
            <a:srgbClr val="FFFFFF"/>
          </a:solidFill>
          <a:ln w="18000">
            <a:solidFill>
              <a:srgbClr val="D0D7DE"/>
            </a:solidFill>
          </a:ln>
        </p:spPr>
        <p:txBody>
          <a:bodyPr/>
          <a:lstStyle/>
          <a:p>
            <a:endParaRPr/>
          </a:p>
        </p:txBody>
      </p:sp>
      <p:sp>
        <p:nvSpPr>
          <p:cNvPr id="51" name="T51"/>
          <p:cNvSpPr/>
          <p:nvPr/>
        </p:nvSpPr>
        <p:spPr>
          <a:xfrm>
            <a:off x="170000" y="1420010"/>
            <a:ext cx="8800000" cy="290000"/>
          </a:xfrm>
          <a:prstGeom prst="rect">
            <a:avLst/>
          </a:prstGeom>
          <a:noFill/>
          <a:ln>
            <a:noFill/>
          </a:ln>
        </p:spPr>
        <p:txBody>
          <a:bodyPr lIns="180000" tIns="150000" anchor="ctr"/>
          <a:lstStyle/>
          <a:p>
            <a:r>
              <a:rPr lang="en-US" sz="1100" b="0" dirty="0">
                <a:solidFill>
                  <a:srgbClr val="455A64"/>
                </a:solidFill>
              </a:rPr>
              <a:t>TST                     Deep Learning                 0.67         0.69         0.67         0.67              ±0.0089</a:t>
            </a:r>
          </a:p>
        </p:txBody>
      </p:sp>
      <p:sp>
        <p:nvSpPr>
          <p:cNvPr id="12" name="R12"/>
          <p:cNvSpPr/>
          <p:nvPr/>
        </p:nvSpPr>
        <p:spPr>
          <a:xfrm>
            <a:off x="150000" y="1730000"/>
            <a:ext cx="8844000" cy="310000"/>
          </a:xfrm>
          <a:prstGeom prst="rect">
            <a:avLst/>
          </a:prstGeom>
          <a:solidFill>
            <a:srgbClr val="F5F7FA"/>
          </a:solidFill>
          <a:ln w="18000">
            <a:solidFill>
              <a:srgbClr val="D0D7DE"/>
            </a:solidFill>
          </a:ln>
        </p:spPr>
        <p:txBody>
          <a:bodyPr/>
          <a:lstStyle/>
          <a:p>
            <a:endParaRPr/>
          </a:p>
        </p:txBody>
      </p:sp>
      <p:sp>
        <p:nvSpPr>
          <p:cNvPr id="52" name="T52"/>
          <p:cNvSpPr/>
          <p:nvPr/>
        </p:nvSpPr>
        <p:spPr>
          <a:xfrm>
            <a:off x="170000" y="1730010"/>
            <a:ext cx="8800000" cy="290000"/>
          </a:xfrm>
          <a:prstGeom prst="rect">
            <a:avLst/>
          </a:prstGeom>
          <a:noFill/>
          <a:ln>
            <a:noFill/>
          </a:ln>
        </p:spPr>
        <p:txBody>
          <a:bodyPr lIns="180000" tIns="150000" anchor="ctr"/>
          <a:lstStyle/>
          <a:p>
            <a:r>
              <a:rPr lang="en-US" sz="1100" b="0" dirty="0">
                <a:solidFill>
                  <a:srgbClr val="455A64"/>
                </a:solidFill>
              </a:rPr>
              <a:t>ConvTimeNet             Deep Learning                 0.68         0.70         0.71         0.70              ±0.0131</a:t>
            </a:r>
          </a:p>
        </p:txBody>
      </p:sp>
      <p:sp>
        <p:nvSpPr>
          <p:cNvPr id="13" name="R13"/>
          <p:cNvSpPr/>
          <p:nvPr/>
        </p:nvSpPr>
        <p:spPr>
          <a:xfrm>
            <a:off x="150000" y="2040000"/>
            <a:ext cx="8844000" cy="310000"/>
          </a:xfrm>
          <a:prstGeom prst="rect">
            <a:avLst/>
          </a:prstGeom>
          <a:solidFill>
            <a:srgbClr val="FFFFFF"/>
          </a:solidFill>
          <a:ln w="18000">
            <a:solidFill>
              <a:srgbClr val="D0D7DE"/>
            </a:solidFill>
          </a:ln>
        </p:spPr>
        <p:txBody>
          <a:bodyPr/>
          <a:lstStyle/>
          <a:p>
            <a:endParaRPr/>
          </a:p>
        </p:txBody>
      </p:sp>
      <p:sp>
        <p:nvSpPr>
          <p:cNvPr id="53" name="T53"/>
          <p:cNvSpPr/>
          <p:nvPr/>
        </p:nvSpPr>
        <p:spPr>
          <a:xfrm>
            <a:off x="170000" y="2040010"/>
            <a:ext cx="8800000" cy="290000"/>
          </a:xfrm>
          <a:prstGeom prst="rect">
            <a:avLst/>
          </a:prstGeom>
          <a:noFill/>
          <a:ln>
            <a:noFill/>
          </a:ln>
        </p:spPr>
        <p:txBody>
          <a:bodyPr lIns="180000" tIns="150000" anchor="ctr"/>
          <a:lstStyle/>
          <a:p>
            <a:r>
              <a:rPr lang="en-US" sz="1100" b="0" dirty="0">
                <a:solidFill>
                  <a:srgbClr val="455A64"/>
                </a:solidFill>
              </a:rPr>
              <a:t>LSTM-FCN                Deep Learning                 0.71         0.70         0.70         0.70              ±0.0033</a:t>
            </a:r>
          </a:p>
        </p:txBody>
      </p:sp>
      <p:sp>
        <p:nvSpPr>
          <p:cNvPr id="14" name="R14"/>
          <p:cNvSpPr/>
          <p:nvPr/>
        </p:nvSpPr>
        <p:spPr>
          <a:xfrm>
            <a:off x="150000" y="2350000"/>
            <a:ext cx="8844000" cy="310000"/>
          </a:xfrm>
          <a:prstGeom prst="rect">
            <a:avLst/>
          </a:prstGeom>
          <a:solidFill>
            <a:srgbClr val="F5F7FA"/>
          </a:solidFill>
          <a:ln w="18000">
            <a:solidFill>
              <a:srgbClr val="D0D7DE"/>
            </a:solidFill>
          </a:ln>
        </p:spPr>
        <p:txBody>
          <a:bodyPr/>
          <a:lstStyle/>
          <a:p>
            <a:endParaRPr/>
          </a:p>
        </p:txBody>
      </p:sp>
      <p:sp>
        <p:nvSpPr>
          <p:cNvPr id="54" name="T54"/>
          <p:cNvSpPr/>
          <p:nvPr/>
        </p:nvSpPr>
        <p:spPr>
          <a:xfrm>
            <a:off x="170000" y="2350010"/>
            <a:ext cx="8800000" cy="290000"/>
          </a:xfrm>
          <a:prstGeom prst="rect">
            <a:avLst/>
          </a:prstGeom>
          <a:noFill/>
          <a:ln>
            <a:noFill/>
          </a:ln>
        </p:spPr>
        <p:txBody>
          <a:bodyPr lIns="180000" tIns="150000" anchor="ctr"/>
          <a:lstStyle/>
          <a:p>
            <a:r>
              <a:rPr lang="en-US" sz="1100" b="0" dirty="0">
                <a:solidFill>
                  <a:srgbClr val="455A64"/>
                </a:solidFill>
              </a:rPr>
              <a:t>InceptionTime           Deep Learning                 0.73         0.74         0.71         0.73              ±0.0138</a:t>
            </a:r>
          </a:p>
        </p:txBody>
      </p:sp>
      <p:sp>
        <p:nvSpPr>
          <p:cNvPr id="15" name="R15"/>
          <p:cNvSpPr/>
          <p:nvPr/>
        </p:nvSpPr>
        <p:spPr>
          <a:xfrm>
            <a:off x="150000" y="2660000"/>
            <a:ext cx="8844000" cy="310000"/>
          </a:xfrm>
          <a:prstGeom prst="rect">
            <a:avLst/>
          </a:prstGeom>
          <a:solidFill>
            <a:srgbClr val="FFFFFF"/>
          </a:solidFill>
          <a:ln w="18000">
            <a:solidFill>
              <a:srgbClr val="D0D7DE"/>
            </a:solidFill>
          </a:ln>
        </p:spPr>
        <p:txBody>
          <a:bodyPr/>
          <a:lstStyle/>
          <a:p>
            <a:endParaRPr/>
          </a:p>
        </p:txBody>
      </p:sp>
      <p:sp>
        <p:nvSpPr>
          <p:cNvPr id="55" name="T55"/>
          <p:cNvSpPr/>
          <p:nvPr/>
        </p:nvSpPr>
        <p:spPr>
          <a:xfrm>
            <a:off x="170000" y="2660010"/>
            <a:ext cx="8800000" cy="290000"/>
          </a:xfrm>
          <a:prstGeom prst="rect">
            <a:avLst/>
          </a:prstGeom>
          <a:noFill/>
          <a:ln>
            <a:noFill/>
          </a:ln>
        </p:spPr>
        <p:txBody>
          <a:bodyPr lIns="180000" tIns="150000" anchor="ctr"/>
          <a:lstStyle/>
          <a:p>
            <a:r>
              <a:rPr lang="en-US" sz="1100" b="0" dirty="0">
                <a:solidFill>
                  <a:srgbClr val="455A64"/>
                </a:solidFill>
              </a:rPr>
              <a:t>TapNet                  Deep Learning                 0.76         0.77         0.77         0.77              ±0.0019</a:t>
            </a:r>
          </a:p>
        </p:txBody>
      </p:sp>
      <p:sp>
        <p:nvSpPr>
          <p:cNvPr id="16" name="R16"/>
          <p:cNvSpPr/>
          <p:nvPr/>
        </p:nvSpPr>
        <p:spPr>
          <a:xfrm>
            <a:off x="150000" y="2970000"/>
            <a:ext cx="8844000" cy="310000"/>
          </a:xfrm>
          <a:prstGeom prst="rect">
            <a:avLst/>
          </a:prstGeom>
          <a:solidFill>
            <a:srgbClr val="F5F7FA"/>
          </a:solidFill>
          <a:ln w="18000">
            <a:solidFill>
              <a:srgbClr val="D0D7DE"/>
            </a:solidFill>
          </a:ln>
        </p:spPr>
        <p:txBody>
          <a:bodyPr/>
          <a:lstStyle/>
          <a:p>
            <a:endParaRPr/>
          </a:p>
        </p:txBody>
      </p:sp>
      <p:sp>
        <p:nvSpPr>
          <p:cNvPr id="56" name="T56"/>
          <p:cNvSpPr/>
          <p:nvPr/>
        </p:nvSpPr>
        <p:spPr>
          <a:xfrm>
            <a:off x="170000" y="2970010"/>
            <a:ext cx="8800000" cy="290000"/>
          </a:xfrm>
          <a:prstGeom prst="rect">
            <a:avLst/>
          </a:prstGeom>
          <a:noFill/>
          <a:ln>
            <a:noFill/>
          </a:ln>
        </p:spPr>
        <p:txBody>
          <a:bodyPr lIns="180000" tIns="150000" anchor="ctr"/>
          <a:lstStyle/>
          <a:p>
            <a:r>
              <a:rPr lang="en-US" sz="1100" b="0" dirty="0">
                <a:solidFill>
                  <a:srgbClr val="455A64"/>
                </a:solidFill>
              </a:rPr>
              <a:t>XGBoost TS-only         Feature Eng. (ablation)       0.79         0.79         0.79         0.79              ±0.0026</a:t>
            </a:r>
          </a:p>
        </p:txBody>
      </p:sp>
      <p:sp>
        <p:nvSpPr>
          <p:cNvPr id="17" name="R17"/>
          <p:cNvSpPr/>
          <p:nvPr/>
        </p:nvSpPr>
        <p:spPr>
          <a:xfrm>
            <a:off x="150000" y="3280000"/>
            <a:ext cx="8844000" cy="310000"/>
          </a:xfrm>
          <a:prstGeom prst="rect">
            <a:avLst/>
          </a:prstGeom>
          <a:solidFill>
            <a:srgbClr val="FFFFFF"/>
          </a:solidFill>
          <a:ln w="18000">
            <a:solidFill>
              <a:srgbClr val="D0D7DE"/>
            </a:solidFill>
          </a:ln>
        </p:spPr>
        <p:txBody>
          <a:bodyPr/>
          <a:lstStyle/>
          <a:p>
            <a:endParaRPr/>
          </a:p>
        </p:txBody>
      </p:sp>
      <p:sp>
        <p:nvSpPr>
          <p:cNvPr id="57" name="T57"/>
          <p:cNvSpPr/>
          <p:nvPr/>
        </p:nvSpPr>
        <p:spPr>
          <a:xfrm>
            <a:off x="170000" y="3280010"/>
            <a:ext cx="8800000" cy="290000"/>
          </a:xfrm>
          <a:prstGeom prst="rect">
            <a:avLst/>
          </a:prstGeom>
          <a:noFill/>
          <a:ln>
            <a:noFill/>
          </a:ln>
        </p:spPr>
        <p:txBody>
          <a:bodyPr lIns="180000" tIns="150000" anchor="ctr"/>
          <a:lstStyle/>
          <a:p>
            <a:r>
              <a:rPr lang="en-US" sz="1100" b="0" dirty="0">
                <a:solidFill>
                  <a:srgbClr val="455A64"/>
                </a:solidFill>
              </a:rPr>
              <a:t>TapNet + metadata       Deep Learning + meta          0.82         0.80         0.81         0.81              ±0.0072</a:t>
            </a:r>
          </a:p>
        </p:txBody>
      </p:sp>
      <p:sp>
        <p:nvSpPr>
          <p:cNvPr id="18" name="R18"/>
          <p:cNvSpPr/>
          <p:nvPr/>
        </p:nvSpPr>
        <p:spPr>
          <a:xfrm>
            <a:off x="150000" y="3590000"/>
            <a:ext cx="8844000" cy="310000"/>
          </a:xfrm>
          <a:prstGeom prst="rect">
            <a:avLst/>
          </a:prstGeom>
          <a:solidFill>
            <a:srgbClr val="F5F7FA"/>
          </a:solidFill>
          <a:ln w="18000">
            <a:solidFill>
              <a:srgbClr val="D0D7DE"/>
            </a:solidFill>
          </a:ln>
        </p:spPr>
        <p:txBody>
          <a:bodyPr/>
          <a:lstStyle/>
          <a:p>
            <a:endParaRPr/>
          </a:p>
        </p:txBody>
      </p:sp>
      <p:sp>
        <p:nvSpPr>
          <p:cNvPr id="58" name="T58"/>
          <p:cNvSpPr/>
          <p:nvPr/>
        </p:nvSpPr>
        <p:spPr>
          <a:xfrm>
            <a:off x="170000" y="3590010"/>
            <a:ext cx="8800000" cy="290000"/>
          </a:xfrm>
          <a:prstGeom prst="rect">
            <a:avLst/>
          </a:prstGeom>
          <a:noFill/>
          <a:ln>
            <a:noFill/>
          </a:ln>
        </p:spPr>
        <p:txBody>
          <a:bodyPr lIns="180000" tIns="150000" anchor="ctr"/>
          <a:lstStyle/>
          <a:p>
            <a:r>
              <a:rPr lang="en-US" sz="1100" b="1" dirty="0">
                <a:solidFill>
                  <a:srgbClr val="1565C0"/>
                </a:solidFill>
              </a:rPr>
              <a:t>XGBoost full            Feature Eng.                  0.86         0.86         0.86         0.86              ±0.0009</a:t>
            </a:r>
          </a:p>
        </p:txBody>
      </p:sp>
      <p:sp>
        <p:nvSpPr>
          <p:cNvPr id="30" name="R30"/>
          <p:cNvSpPr/>
          <p:nvPr/>
        </p:nvSpPr>
        <p:spPr>
          <a:xfrm>
            <a:off x="150000" y="4001806"/>
            <a:ext cx="8844000" cy="1043500"/>
          </a:xfrm>
          <a:prstGeom prst="rect">
            <a:avLst/>
          </a:prstGeom>
          <a:solidFill>
            <a:srgbClr val="FFF8E1"/>
          </a:solidFill>
          <a:ln w="18000">
            <a:solidFill>
              <a:srgbClr val="F9A825"/>
            </a:solidFill>
          </a:ln>
        </p:spPr>
        <p:txBody>
          <a:bodyPr/>
          <a:lstStyle/>
          <a:p>
            <a:endParaRPr/>
          </a:p>
        </p:txBody>
      </p:sp>
      <p:sp>
        <p:nvSpPr>
          <p:cNvPr id="31" name="T31"/>
          <p:cNvSpPr/>
          <p:nvPr/>
        </p:nvSpPr>
        <p:spPr>
          <a:xfrm>
            <a:off x="122000" y="3980974"/>
            <a:ext cx="8500000" cy="690000"/>
          </a:xfrm>
          <a:prstGeom prst="rect">
            <a:avLst/>
          </a:prstGeom>
          <a:noFill/>
          <a:ln>
            <a:noFill/>
          </a:ln>
        </p:spPr>
        <p:txBody>
          <a:bodyPr lIns="180000" tIns="150000" anchor="t"/>
          <a:lstStyle/>
          <a:p>
            <a:r>
              <a:rPr lang="en-US" sz="1100" b="1" dirty="0">
                <a:solidFill>
                  <a:srgbClr val="F9A825"/>
                </a:solidFill>
              </a:rPr>
              <a:t>Not in table — different evaluation protocols:</a:t>
            </a:r>
          </a:p>
          <a:p>
            <a:r>
              <a:rPr lang="en-US" sz="1050" b="0" dirty="0">
                <a:solidFill>
                  <a:srgbClr val="455A64"/>
                </a:solidFill>
              </a:rPr>
              <a:t>Chronos (foundation model):  Test AUC = 0.66 — evaluated on 30/6/6 month temporal split, not 3-fold CV. Single-camera (300,5) input only.</a:t>
            </a:r>
          </a:p>
          <a:p>
            <a:r>
              <a:rPr lang="en-US" sz="1050" b="0" dirty="0">
                <a:solidFill>
                  <a:srgbClr val="455A64"/>
                </a:solidFill>
              </a:rPr>
              <a:t>GPT-4o (LLM):  No AUC reported — discrete labels only (no calibrated probability). Evaluated on 100-event stratified holdout. v3 paper F1=0.22, v5 paper F1=0.12.</a:t>
            </a:r>
          </a:p>
          <a:p>
            <a:r>
              <a:rPr lang="en-US" sz="1050" b="0" dirty="0">
                <a:solidFill>
                  <a:srgbClr val="455A64"/>
                </a:solidFill>
              </a:rPr>
              <a:t>ConvTimeNet:  AUC reported only — sktime implementation does not expose internal probability outputs needed for per-threshold metrics.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60000"/>
          </a:xfrm>
          <a:prstGeom prst="rect">
            <a:avLst/>
          </a:prstGeom>
          <a:solidFill>
            <a:srgbClr val="1565C0"/>
          </a:solidFill>
          <a:ln>
            <a:noFill/>
          </a:ln>
        </p:spPr>
        <p:txBody>
          <a:bodyPr lIns="280000" anchor="ctr"/>
          <a:lstStyle/>
          <a:p>
            <a:r>
              <a:rPr lang="en-US" sz="800" b="1" dirty="0">
                <a:solidFill>
                  <a:srgbClr val="B3D1F5"/>
                </a:solidFill>
              </a:rPr>
              <a:t>A6  |  </a:t>
            </a:r>
            <a:r>
              <a:rPr lang="en-US" sz="1900" b="1" dirty="0">
                <a:solidFill>
                  <a:srgbClr val="FFFFFF"/>
                </a:solidFill>
              </a:rPr>
              <a:t>Confusion Matrices at F1-Optimised Threshold (Fold 1)</a:t>
            </a:r>
          </a:p>
        </p:txBody>
      </p:sp>
      <p:sp>
        <p:nvSpPr>
          <p:cNvPr id="4" name="T4"/>
          <p:cNvSpPr/>
          <p:nvPr/>
        </p:nvSpPr>
        <p:spPr>
          <a:xfrm>
            <a:off x="-2000" y="560000"/>
            <a:ext cx="8744000" cy="60000"/>
          </a:xfrm>
          <a:prstGeom prst="rect">
            <a:avLst/>
          </a:prstGeom>
          <a:noFill/>
          <a:ln>
            <a:noFill/>
          </a:ln>
        </p:spPr>
        <p:txBody>
          <a:bodyPr lIns="180000" tIns="150000" anchor="ctr"/>
          <a:lstStyle/>
          <a:p>
            <a:r>
              <a:rPr lang="en-US" sz="1100" b="0" dirty="0">
                <a:solidFill>
                  <a:srgbClr val="455A64"/>
                </a:solidFill>
              </a:rPr>
              <a:t>Each fold: 3,941 machine-caused + 750 paper-caused test events. Threshold selected per fold on validation set.</a:t>
            </a:r>
          </a:p>
        </p:txBody>
      </p:sp>
      <p:sp>
        <p:nvSpPr>
          <p:cNvPr id="10" name="R10"/>
          <p:cNvSpPr/>
          <p:nvPr/>
        </p:nvSpPr>
        <p:spPr>
          <a:xfrm>
            <a:off x="100000" y="790000"/>
            <a:ext cx="2050000" cy="300000"/>
          </a:xfrm>
          <a:prstGeom prst="rect">
            <a:avLst/>
          </a:prstGeom>
          <a:solidFill>
            <a:srgbClr val="1565C0"/>
          </a:solidFill>
          <a:ln>
            <a:noFill/>
          </a:ln>
        </p:spPr>
        <p:txBody>
          <a:bodyPr/>
          <a:lstStyle/>
          <a:p>
            <a:endParaRPr/>
          </a:p>
        </p:txBody>
      </p:sp>
      <p:sp>
        <p:nvSpPr>
          <p:cNvPr id="11" name="T11"/>
          <p:cNvSpPr/>
          <p:nvPr/>
        </p:nvSpPr>
        <p:spPr>
          <a:xfrm>
            <a:off x="100000" y="790000"/>
            <a:ext cx="2050000" cy="300000"/>
          </a:xfrm>
          <a:prstGeom prst="rect">
            <a:avLst/>
          </a:prstGeom>
          <a:noFill/>
          <a:ln>
            <a:noFill/>
          </a:ln>
        </p:spPr>
        <p:txBody>
          <a:bodyPr lIns="180000" tIns="150000" anchor="ctr"/>
          <a:lstStyle/>
          <a:p>
            <a:r>
              <a:rPr lang="en-US" sz="1100" b="1" dirty="0">
                <a:solidFill>
                  <a:srgbClr val="FFFFFF"/>
                </a:solidFill>
              </a:rPr>
              <a:t>CNN  (thr=0.27)</a:t>
            </a:r>
          </a:p>
        </p:txBody>
      </p:sp>
      <p:sp>
        <p:nvSpPr>
          <p:cNvPr id="12" name="R12"/>
          <p:cNvSpPr/>
          <p:nvPr/>
        </p:nvSpPr>
        <p:spPr>
          <a:xfrm>
            <a:off x="100000" y="1090000"/>
            <a:ext cx="1000000" cy="450000"/>
          </a:xfrm>
          <a:prstGeom prst="rect">
            <a:avLst/>
          </a:prstGeom>
          <a:solidFill>
            <a:srgbClr val="E8F5E9"/>
          </a:solidFill>
          <a:ln w="18000">
            <a:solidFill>
              <a:srgbClr val="2E7D32"/>
            </a:solidFill>
          </a:ln>
        </p:spPr>
        <p:txBody>
          <a:bodyPr/>
          <a:lstStyle/>
          <a:p>
            <a:endParaRPr/>
          </a:p>
        </p:txBody>
      </p:sp>
      <p:sp>
        <p:nvSpPr>
          <p:cNvPr id="13" name="T13"/>
          <p:cNvSpPr/>
          <p:nvPr/>
        </p:nvSpPr>
        <p:spPr>
          <a:xfrm>
            <a:off x="100000" y="109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2,588</a:t>
            </a:r>
          </a:p>
        </p:txBody>
      </p:sp>
      <p:sp>
        <p:nvSpPr>
          <p:cNvPr id="14" name="R14"/>
          <p:cNvSpPr/>
          <p:nvPr/>
        </p:nvSpPr>
        <p:spPr>
          <a:xfrm>
            <a:off x="1150000" y="1090000"/>
            <a:ext cx="1000000" cy="450000"/>
          </a:xfrm>
          <a:prstGeom prst="rect">
            <a:avLst/>
          </a:prstGeom>
          <a:solidFill>
            <a:srgbClr val="FFEBEE"/>
          </a:solidFill>
          <a:ln w="18000">
            <a:solidFill>
              <a:srgbClr val="C0504D"/>
            </a:solidFill>
          </a:ln>
        </p:spPr>
        <p:txBody>
          <a:bodyPr/>
          <a:lstStyle/>
          <a:p>
            <a:endParaRPr/>
          </a:p>
        </p:txBody>
      </p:sp>
      <p:sp>
        <p:nvSpPr>
          <p:cNvPr id="15" name="T15"/>
          <p:cNvSpPr/>
          <p:nvPr/>
        </p:nvSpPr>
        <p:spPr>
          <a:xfrm>
            <a:off x="1150000" y="109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1,353</a:t>
            </a:r>
          </a:p>
        </p:txBody>
      </p:sp>
      <p:sp>
        <p:nvSpPr>
          <p:cNvPr id="16" name="R16"/>
          <p:cNvSpPr/>
          <p:nvPr/>
        </p:nvSpPr>
        <p:spPr>
          <a:xfrm>
            <a:off x="100000" y="1540000"/>
            <a:ext cx="1000000" cy="450000"/>
          </a:xfrm>
          <a:prstGeom prst="rect">
            <a:avLst/>
          </a:prstGeom>
          <a:solidFill>
            <a:srgbClr val="FFF3E0"/>
          </a:solidFill>
          <a:ln w="18000">
            <a:solidFill>
              <a:srgbClr val="F9A825"/>
            </a:solidFill>
          </a:ln>
        </p:spPr>
        <p:txBody>
          <a:bodyPr/>
          <a:lstStyle/>
          <a:p>
            <a:endParaRPr/>
          </a:p>
        </p:txBody>
      </p:sp>
      <p:sp>
        <p:nvSpPr>
          <p:cNvPr id="17" name="T17"/>
          <p:cNvSpPr/>
          <p:nvPr/>
        </p:nvSpPr>
        <p:spPr>
          <a:xfrm>
            <a:off x="100000" y="154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286</a:t>
            </a:r>
          </a:p>
        </p:txBody>
      </p:sp>
      <p:sp>
        <p:nvSpPr>
          <p:cNvPr id="18" name="R18"/>
          <p:cNvSpPr/>
          <p:nvPr/>
        </p:nvSpPr>
        <p:spPr>
          <a:xfrm>
            <a:off x="1150000" y="1540000"/>
            <a:ext cx="1000000" cy="450000"/>
          </a:xfrm>
          <a:prstGeom prst="rect">
            <a:avLst/>
          </a:prstGeom>
          <a:solidFill>
            <a:srgbClr val="E8F5E9"/>
          </a:solidFill>
          <a:ln w="18000">
            <a:solidFill>
              <a:srgbClr val="2E7D32"/>
            </a:solidFill>
          </a:ln>
        </p:spPr>
        <p:txBody>
          <a:bodyPr/>
          <a:lstStyle/>
          <a:p>
            <a:endParaRPr/>
          </a:p>
        </p:txBody>
      </p:sp>
      <p:sp>
        <p:nvSpPr>
          <p:cNvPr id="19" name="T19"/>
          <p:cNvSpPr/>
          <p:nvPr/>
        </p:nvSpPr>
        <p:spPr>
          <a:xfrm>
            <a:off x="1150000" y="154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464</a:t>
            </a:r>
          </a:p>
        </p:txBody>
      </p:sp>
      <p:sp>
        <p:nvSpPr>
          <p:cNvPr id="20" name="T20"/>
          <p:cNvSpPr/>
          <p:nvPr/>
        </p:nvSpPr>
        <p:spPr>
          <a:xfrm>
            <a:off x="100000" y="2040000"/>
            <a:ext cx="2050000" cy="300000"/>
          </a:xfrm>
          <a:prstGeom prst="rect">
            <a:avLst/>
          </a:prstGeom>
          <a:noFill/>
          <a:ln>
            <a:noFill/>
          </a:ln>
        </p:spPr>
        <p:txBody>
          <a:bodyPr lIns="180000" tIns="150000" anchor="ctr"/>
          <a:lstStyle/>
          <a:p>
            <a:r>
              <a:rPr lang="en-US" sz="1000" b="0" dirty="0">
                <a:solidFill>
                  <a:srgbClr val="455A64"/>
                </a:solidFill>
              </a:rPr>
              <a:t>FPR=0.34  Paper F1=0.36  AUC=0.68</a:t>
            </a:r>
          </a:p>
        </p:txBody>
      </p:sp>
      <p:sp>
        <p:nvSpPr>
          <p:cNvPr id="30" name="R30"/>
          <p:cNvSpPr/>
          <p:nvPr/>
        </p:nvSpPr>
        <p:spPr>
          <a:xfrm>
            <a:off x="2320000" y="790000"/>
            <a:ext cx="2050000" cy="300000"/>
          </a:xfrm>
          <a:prstGeom prst="rect">
            <a:avLst/>
          </a:prstGeom>
          <a:solidFill>
            <a:srgbClr val="1565C0"/>
          </a:solidFill>
          <a:ln>
            <a:noFill/>
          </a:ln>
        </p:spPr>
        <p:txBody>
          <a:bodyPr/>
          <a:lstStyle/>
          <a:p>
            <a:endParaRPr/>
          </a:p>
        </p:txBody>
      </p:sp>
      <p:sp>
        <p:nvSpPr>
          <p:cNvPr id="31" name="T31"/>
          <p:cNvSpPr/>
          <p:nvPr/>
        </p:nvSpPr>
        <p:spPr>
          <a:xfrm>
            <a:off x="2320000" y="790000"/>
            <a:ext cx="2050000" cy="300000"/>
          </a:xfrm>
          <a:prstGeom prst="rect">
            <a:avLst/>
          </a:prstGeom>
          <a:noFill/>
          <a:ln>
            <a:noFill/>
          </a:ln>
        </p:spPr>
        <p:txBody>
          <a:bodyPr lIns="180000" tIns="150000" anchor="ctr"/>
          <a:lstStyle/>
          <a:p>
            <a:r>
              <a:rPr lang="en-US" sz="1100" b="1" dirty="0">
                <a:solidFill>
                  <a:srgbClr val="FFFFFF"/>
                </a:solidFill>
              </a:rPr>
              <a:t>InceptionTime  (thr=0.12)</a:t>
            </a:r>
          </a:p>
        </p:txBody>
      </p:sp>
      <p:sp>
        <p:nvSpPr>
          <p:cNvPr id="32" name="R32"/>
          <p:cNvSpPr/>
          <p:nvPr/>
        </p:nvSpPr>
        <p:spPr>
          <a:xfrm>
            <a:off x="2320000" y="1090000"/>
            <a:ext cx="1000000" cy="450000"/>
          </a:xfrm>
          <a:prstGeom prst="rect">
            <a:avLst/>
          </a:prstGeom>
          <a:solidFill>
            <a:srgbClr val="E8F5E9"/>
          </a:solidFill>
          <a:ln w="18000">
            <a:solidFill>
              <a:srgbClr val="2E7D32"/>
            </a:solidFill>
          </a:ln>
        </p:spPr>
        <p:txBody>
          <a:bodyPr/>
          <a:lstStyle/>
          <a:p>
            <a:endParaRPr/>
          </a:p>
        </p:txBody>
      </p:sp>
      <p:sp>
        <p:nvSpPr>
          <p:cNvPr id="33" name="T33"/>
          <p:cNvSpPr/>
          <p:nvPr/>
        </p:nvSpPr>
        <p:spPr>
          <a:xfrm>
            <a:off x="2320000" y="109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3,498</a:t>
            </a:r>
          </a:p>
        </p:txBody>
      </p:sp>
      <p:sp>
        <p:nvSpPr>
          <p:cNvPr id="34" name="R34"/>
          <p:cNvSpPr/>
          <p:nvPr/>
        </p:nvSpPr>
        <p:spPr>
          <a:xfrm>
            <a:off x="3370000" y="1090000"/>
            <a:ext cx="1000000" cy="450000"/>
          </a:xfrm>
          <a:prstGeom prst="rect">
            <a:avLst/>
          </a:prstGeom>
          <a:solidFill>
            <a:srgbClr val="FFEBEE"/>
          </a:solidFill>
          <a:ln w="18000">
            <a:solidFill>
              <a:srgbClr val="C0504D"/>
            </a:solidFill>
          </a:ln>
        </p:spPr>
        <p:txBody>
          <a:bodyPr/>
          <a:lstStyle/>
          <a:p>
            <a:endParaRPr/>
          </a:p>
        </p:txBody>
      </p:sp>
      <p:sp>
        <p:nvSpPr>
          <p:cNvPr id="35" name="T35"/>
          <p:cNvSpPr/>
          <p:nvPr/>
        </p:nvSpPr>
        <p:spPr>
          <a:xfrm>
            <a:off x="3370000" y="109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443</a:t>
            </a:r>
          </a:p>
        </p:txBody>
      </p:sp>
      <p:sp>
        <p:nvSpPr>
          <p:cNvPr id="36" name="R36"/>
          <p:cNvSpPr/>
          <p:nvPr/>
        </p:nvSpPr>
        <p:spPr>
          <a:xfrm>
            <a:off x="2320000" y="1540000"/>
            <a:ext cx="1000000" cy="450000"/>
          </a:xfrm>
          <a:prstGeom prst="rect">
            <a:avLst/>
          </a:prstGeom>
          <a:solidFill>
            <a:srgbClr val="FFF3E0"/>
          </a:solidFill>
          <a:ln w="18000">
            <a:solidFill>
              <a:srgbClr val="F9A825"/>
            </a:solidFill>
          </a:ln>
        </p:spPr>
        <p:txBody>
          <a:bodyPr/>
          <a:lstStyle/>
          <a:p>
            <a:endParaRPr/>
          </a:p>
        </p:txBody>
      </p:sp>
      <p:sp>
        <p:nvSpPr>
          <p:cNvPr id="37" name="T37"/>
          <p:cNvSpPr/>
          <p:nvPr/>
        </p:nvSpPr>
        <p:spPr>
          <a:xfrm>
            <a:off x="2320000" y="154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430</a:t>
            </a:r>
          </a:p>
        </p:txBody>
      </p:sp>
      <p:sp>
        <p:nvSpPr>
          <p:cNvPr id="38" name="R38"/>
          <p:cNvSpPr/>
          <p:nvPr/>
        </p:nvSpPr>
        <p:spPr>
          <a:xfrm>
            <a:off x="3370000" y="1540000"/>
            <a:ext cx="1000000" cy="450000"/>
          </a:xfrm>
          <a:prstGeom prst="rect">
            <a:avLst/>
          </a:prstGeom>
          <a:solidFill>
            <a:srgbClr val="E8F5E9"/>
          </a:solidFill>
          <a:ln w="18000">
            <a:solidFill>
              <a:srgbClr val="2E7D32"/>
            </a:solidFill>
          </a:ln>
        </p:spPr>
        <p:txBody>
          <a:bodyPr/>
          <a:lstStyle/>
          <a:p>
            <a:endParaRPr/>
          </a:p>
        </p:txBody>
      </p:sp>
      <p:sp>
        <p:nvSpPr>
          <p:cNvPr id="39" name="T39"/>
          <p:cNvSpPr/>
          <p:nvPr/>
        </p:nvSpPr>
        <p:spPr>
          <a:xfrm>
            <a:off x="3370000" y="154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320</a:t>
            </a:r>
          </a:p>
        </p:txBody>
      </p:sp>
      <p:sp>
        <p:nvSpPr>
          <p:cNvPr id="40" name="T40"/>
          <p:cNvSpPr/>
          <p:nvPr/>
        </p:nvSpPr>
        <p:spPr>
          <a:xfrm>
            <a:off x="2320000" y="2040000"/>
            <a:ext cx="2050000" cy="300000"/>
          </a:xfrm>
          <a:prstGeom prst="rect">
            <a:avLst/>
          </a:prstGeom>
          <a:noFill/>
          <a:ln>
            <a:noFill/>
          </a:ln>
        </p:spPr>
        <p:txBody>
          <a:bodyPr lIns="180000" tIns="150000" anchor="ctr"/>
          <a:lstStyle/>
          <a:p>
            <a:r>
              <a:rPr lang="en-US" sz="1000" b="0" dirty="0">
                <a:solidFill>
                  <a:srgbClr val="455A64"/>
                </a:solidFill>
              </a:rPr>
              <a:t>FPR=0.11  Paper F1=0.42  AUC=0.73</a:t>
            </a:r>
          </a:p>
        </p:txBody>
      </p:sp>
      <p:sp>
        <p:nvSpPr>
          <p:cNvPr id="50" name="R50"/>
          <p:cNvSpPr/>
          <p:nvPr/>
        </p:nvSpPr>
        <p:spPr>
          <a:xfrm>
            <a:off x="4540000" y="790000"/>
            <a:ext cx="2050000" cy="300000"/>
          </a:xfrm>
          <a:prstGeom prst="rect">
            <a:avLst/>
          </a:prstGeom>
          <a:solidFill>
            <a:srgbClr val="1565C0"/>
          </a:solidFill>
          <a:ln>
            <a:noFill/>
          </a:ln>
        </p:spPr>
        <p:txBody>
          <a:bodyPr/>
          <a:lstStyle/>
          <a:p>
            <a:endParaRPr/>
          </a:p>
        </p:txBody>
      </p:sp>
      <p:sp>
        <p:nvSpPr>
          <p:cNvPr id="51" name="T51"/>
          <p:cNvSpPr/>
          <p:nvPr/>
        </p:nvSpPr>
        <p:spPr>
          <a:xfrm>
            <a:off x="4540000" y="790000"/>
            <a:ext cx="2050000" cy="300000"/>
          </a:xfrm>
          <a:prstGeom prst="rect">
            <a:avLst/>
          </a:prstGeom>
          <a:noFill/>
          <a:ln>
            <a:noFill/>
          </a:ln>
        </p:spPr>
        <p:txBody>
          <a:bodyPr lIns="180000" tIns="150000" anchor="ctr"/>
          <a:lstStyle/>
          <a:p>
            <a:r>
              <a:rPr lang="en-US" sz="1100" b="1" dirty="0">
                <a:solidFill>
                  <a:srgbClr val="FFFFFF"/>
                </a:solidFill>
              </a:rPr>
              <a:t>LSTM-FCN  (thr=0.25)</a:t>
            </a:r>
          </a:p>
        </p:txBody>
      </p:sp>
      <p:sp>
        <p:nvSpPr>
          <p:cNvPr id="52" name="R52"/>
          <p:cNvSpPr/>
          <p:nvPr/>
        </p:nvSpPr>
        <p:spPr>
          <a:xfrm>
            <a:off x="4540000" y="1090000"/>
            <a:ext cx="1000000" cy="450000"/>
          </a:xfrm>
          <a:prstGeom prst="rect">
            <a:avLst/>
          </a:prstGeom>
          <a:solidFill>
            <a:srgbClr val="E8F5E9"/>
          </a:solidFill>
          <a:ln w="18000">
            <a:solidFill>
              <a:srgbClr val="2E7D32"/>
            </a:solidFill>
          </a:ln>
        </p:spPr>
        <p:txBody>
          <a:bodyPr/>
          <a:lstStyle/>
          <a:p>
            <a:endParaRPr/>
          </a:p>
        </p:txBody>
      </p:sp>
      <p:sp>
        <p:nvSpPr>
          <p:cNvPr id="53" name="T53"/>
          <p:cNvSpPr/>
          <p:nvPr/>
        </p:nvSpPr>
        <p:spPr>
          <a:xfrm>
            <a:off x="4540000" y="109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3,111</a:t>
            </a:r>
          </a:p>
        </p:txBody>
      </p:sp>
      <p:sp>
        <p:nvSpPr>
          <p:cNvPr id="54" name="R54"/>
          <p:cNvSpPr/>
          <p:nvPr/>
        </p:nvSpPr>
        <p:spPr>
          <a:xfrm>
            <a:off x="5590000" y="1090000"/>
            <a:ext cx="1000000" cy="450000"/>
          </a:xfrm>
          <a:prstGeom prst="rect">
            <a:avLst/>
          </a:prstGeom>
          <a:solidFill>
            <a:srgbClr val="FFEBEE"/>
          </a:solidFill>
          <a:ln w="18000">
            <a:solidFill>
              <a:srgbClr val="C0504D"/>
            </a:solidFill>
          </a:ln>
        </p:spPr>
        <p:txBody>
          <a:bodyPr/>
          <a:lstStyle/>
          <a:p>
            <a:endParaRPr/>
          </a:p>
        </p:txBody>
      </p:sp>
      <p:sp>
        <p:nvSpPr>
          <p:cNvPr id="55" name="T55"/>
          <p:cNvSpPr/>
          <p:nvPr/>
        </p:nvSpPr>
        <p:spPr>
          <a:xfrm>
            <a:off x="5590000" y="109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830</a:t>
            </a:r>
          </a:p>
        </p:txBody>
      </p:sp>
      <p:sp>
        <p:nvSpPr>
          <p:cNvPr id="56" name="R56"/>
          <p:cNvSpPr/>
          <p:nvPr/>
        </p:nvSpPr>
        <p:spPr>
          <a:xfrm>
            <a:off x="4540000" y="1540000"/>
            <a:ext cx="1000000" cy="450000"/>
          </a:xfrm>
          <a:prstGeom prst="rect">
            <a:avLst/>
          </a:prstGeom>
          <a:solidFill>
            <a:srgbClr val="FFF3E0"/>
          </a:solidFill>
          <a:ln w="18000">
            <a:solidFill>
              <a:srgbClr val="F9A825"/>
            </a:solidFill>
          </a:ln>
        </p:spPr>
        <p:txBody>
          <a:bodyPr/>
          <a:lstStyle/>
          <a:p>
            <a:endParaRPr/>
          </a:p>
        </p:txBody>
      </p:sp>
      <p:sp>
        <p:nvSpPr>
          <p:cNvPr id="57" name="T57"/>
          <p:cNvSpPr/>
          <p:nvPr/>
        </p:nvSpPr>
        <p:spPr>
          <a:xfrm>
            <a:off x="4540000" y="154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387</a:t>
            </a:r>
          </a:p>
        </p:txBody>
      </p:sp>
      <p:sp>
        <p:nvSpPr>
          <p:cNvPr id="58" name="R58"/>
          <p:cNvSpPr/>
          <p:nvPr/>
        </p:nvSpPr>
        <p:spPr>
          <a:xfrm>
            <a:off x="5590000" y="1540000"/>
            <a:ext cx="1000000" cy="450000"/>
          </a:xfrm>
          <a:prstGeom prst="rect">
            <a:avLst/>
          </a:prstGeom>
          <a:solidFill>
            <a:srgbClr val="E8F5E9"/>
          </a:solidFill>
          <a:ln w="18000">
            <a:solidFill>
              <a:srgbClr val="2E7D32"/>
            </a:solidFill>
          </a:ln>
        </p:spPr>
        <p:txBody>
          <a:bodyPr/>
          <a:lstStyle/>
          <a:p>
            <a:endParaRPr/>
          </a:p>
        </p:txBody>
      </p:sp>
      <p:sp>
        <p:nvSpPr>
          <p:cNvPr id="59" name="T59"/>
          <p:cNvSpPr/>
          <p:nvPr/>
        </p:nvSpPr>
        <p:spPr>
          <a:xfrm>
            <a:off x="5590000" y="154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363</a:t>
            </a:r>
          </a:p>
        </p:txBody>
      </p:sp>
      <p:sp>
        <p:nvSpPr>
          <p:cNvPr id="60" name="T60"/>
          <p:cNvSpPr/>
          <p:nvPr/>
        </p:nvSpPr>
        <p:spPr>
          <a:xfrm>
            <a:off x="4540000" y="2040000"/>
            <a:ext cx="2050000" cy="300000"/>
          </a:xfrm>
          <a:prstGeom prst="rect">
            <a:avLst/>
          </a:prstGeom>
          <a:noFill/>
          <a:ln>
            <a:noFill/>
          </a:ln>
        </p:spPr>
        <p:txBody>
          <a:bodyPr lIns="180000" tIns="150000" anchor="ctr"/>
          <a:lstStyle/>
          <a:p>
            <a:r>
              <a:rPr lang="en-US" sz="1000" b="0" dirty="0">
                <a:solidFill>
                  <a:srgbClr val="455A64"/>
                </a:solidFill>
              </a:rPr>
              <a:t>FPR=0.21  Paper F1=0.37  AUC=0.71</a:t>
            </a:r>
          </a:p>
        </p:txBody>
      </p:sp>
      <p:sp>
        <p:nvSpPr>
          <p:cNvPr id="70" name="R70"/>
          <p:cNvSpPr/>
          <p:nvPr/>
        </p:nvSpPr>
        <p:spPr>
          <a:xfrm>
            <a:off x="6760000" y="790000"/>
            <a:ext cx="2050000" cy="300000"/>
          </a:xfrm>
          <a:prstGeom prst="rect">
            <a:avLst/>
          </a:prstGeom>
          <a:solidFill>
            <a:srgbClr val="1565C0"/>
          </a:solidFill>
          <a:ln>
            <a:noFill/>
          </a:ln>
        </p:spPr>
        <p:txBody>
          <a:bodyPr/>
          <a:lstStyle/>
          <a:p>
            <a:endParaRPr/>
          </a:p>
        </p:txBody>
      </p:sp>
      <p:sp>
        <p:nvSpPr>
          <p:cNvPr id="71" name="T71"/>
          <p:cNvSpPr/>
          <p:nvPr/>
        </p:nvSpPr>
        <p:spPr>
          <a:xfrm>
            <a:off x="6760000" y="790000"/>
            <a:ext cx="2050000" cy="300000"/>
          </a:xfrm>
          <a:prstGeom prst="rect">
            <a:avLst/>
          </a:prstGeom>
          <a:noFill/>
          <a:ln>
            <a:noFill/>
          </a:ln>
        </p:spPr>
        <p:txBody>
          <a:bodyPr lIns="180000" tIns="150000" anchor="ctr"/>
          <a:lstStyle/>
          <a:p>
            <a:r>
              <a:rPr lang="en-US" sz="1100" b="1" dirty="0">
                <a:solidFill>
                  <a:srgbClr val="FFFFFF"/>
                </a:solidFill>
              </a:rPr>
              <a:t>TST  (thr=0.40)</a:t>
            </a:r>
          </a:p>
        </p:txBody>
      </p:sp>
      <p:sp>
        <p:nvSpPr>
          <p:cNvPr id="72" name="R72"/>
          <p:cNvSpPr/>
          <p:nvPr/>
        </p:nvSpPr>
        <p:spPr>
          <a:xfrm>
            <a:off x="6760000" y="1090000"/>
            <a:ext cx="1000000" cy="450000"/>
          </a:xfrm>
          <a:prstGeom prst="rect">
            <a:avLst/>
          </a:prstGeom>
          <a:solidFill>
            <a:srgbClr val="E8F5E9"/>
          </a:solidFill>
          <a:ln w="18000">
            <a:solidFill>
              <a:srgbClr val="2E7D32"/>
            </a:solidFill>
          </a:ln>
        </p:spPr>
        <p:txBody>
          <a:bodyPr/>
          <a:lstStyle/>
          <a:p>
            <a:endParaRPr/>
          </a:p>
        </p:txBody>
      </p:sp>
      <p:sp>
        <p:nvSpPr>
          <p:cNvPr id="73" name="T73"/>
          <p:cNvSpPr/>
          <p:nvPr/>
        </p:nvSpPr>
        <p:spPr>
          <a:xfrm>
            <a:off x="6760000" y="109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3,223</a:t>
            </a:r>
          </a:p>
        </p:txBody>
      </p:sp>
      <p:sp>
        <p:nvSpPr>
          <p:cNvPr id="74" name="R74"/>
          <p:cNvSpPr/>
          <p:nvPr/>
        </p:nvSpPr>
        <p:spPr>
          <a:xfrm>
            <a:off x="7810000" y="1090000"/>
            <a:ext cx="1000000" cy="450000"/>
          </a:xfrm>
          <a:prstGeom prst="rect">
            <a:avLst/>
          </a:prstGeom>
          <a:solidFill>
            <a:srgbClr val="FFEBEE"/>
          </a:solidFill>
          <a:ln w="18000">
            <a:solidFill>
              <a:srgbClr val="C0504D"/>
            </a:solidFill>
          </a:ln>
        </p:spPr>
        <p:txBody>
          <a:bodyPr/>
          <a:lstStyle/>
          <a:p>
            <a:endParaRPr/>
          </a:p>
        </p:txBody>
      </p:sp>
      <p:sp>
        <p:nvSpPr>
          <p:cNvPr id="75" name="T75"/>
          <p:cNvSpPr/>
          <p:nvPr/>
        </p:nvSpPr>
        <p:spPr>
          <a:xfrm>
            <a:off x="7810000" y="109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718</a:t>
            </a:r>
          </a:p>
        </p:txBody>
      </p:sp>
      <p:sp>
        <p:nvSpPr>
          <p:cNvPr id="76" name="R76"/>
          <p:cNvSpPr/>
          <p:nvPr/>
        </p:nvSpPr>
        <p:spPr>
          <a:xfrm>
            <a:off x="6760000" y="1540000"/>
            <a:ext cx="1000000" cy="450000"/>
          </a:xfrm>
          <a:prstGeom prst="rect">
            <a:avLst/>
          </a:prstGeom>
          <a:solidFill>
            <a:srgbClr val="FFF3E0"/>
          </a:solidFill>
          <a:ln w="18000">
            <a:solidFill>
              <a:srgbClr val="F9A825"/>
            </a:solidFill>
          </a:ln>
        </p:spPr>
        <p:txBody>
          <a:bodyPr/>
          <a:lstStyle/>
          <a:p>
            <a:endParaRPr/>
          </a:p>
        </p:txBody>
      </p:sp>
      <p:sp>
        <p:nvSpPr>
          <p:cNvPr id="77" name="T77"/>
          <p:cNvSpPr/>
          <p:nvPr/>
        </p:nvSpPr>
        <p:spPr>
          <a:xfrm>
            <a:off x="6760000" y="154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428</a:t>
            </a:r>
          </a:p>
        </p:txBody>
      </p:sp>
      <p:sp>
        <p:nvSpPr>
          <p:cNvPr id="78" name="R78"/>
          <p:cNvSpPr/>
          <p:nvPr/>
        </p:nvSpPr>
        <p:spPr>
          <a:xfrm>
            <a:off x="7810000" y="1540000"/>
            <a:ext cx="1000000" cy="450000"/>
          </a:xfrm>
          <a:prstGeom prst="rect">
            <a:avLst/>
          </a:prstGeom>
          <a:solidFill>
            <a:srgbClr val="E8F5E9"/>
          </a:solidFill>
          <a:ln w="18000">
            <a:solidFill>
              <a:srgbClr val="2E7D32"/>
            </a:solidFill>
          </a:ln>
        </p:spPr>
        <p:txBody>
          <a:bodyPr/>
          <a:lstStyle/>
          <a:p>
            <a:endParaRPr/>
          </a:p>
        </p:txBody>
      </p:sp>
      <p:sp>
        <p:nvSpPr>
          <p:cNvPr id="79" name="T79"/>
          <p:cNvSpPr/>
          <p:nvPr/>
        </p:nvSpPr>
        <p:spPr>
          <a:xfrm>
            <a:off x="7810000" y="154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322</a:t>
            </a:r>
          </a:p>
        </p:txBody>
      </p:sp>
      <p:sp>
        <p:nvSpPr>
          <p:cNvPr id="80" name="T80"/>
          <p:cNvSpPr/>
          <p:nvPr/>
        </p:nvSpPr>
        <p:spPr>
          <a:xfrm>
            <a:off x="6760000" y="2040000"/>
            <a:ext cx="2050000" cy="300000"/>
          </a:xfrm>
          <a:prstGeom prst="rect">
            <a:avLst/>
          </a:prstGeom>
          <a:noFill/>
          <a:ln>
            <a:noFill/>
          </a:ln>
        </p:spPr>
        <p:txBody>
          <a:bodyPr lIns="180000" tIns="150000" anchor="ctr"/>
          <a:lstStyle/>
          <a:p>
            <a:r>
              <a:rPr lang="en-US" sz="1000" b="0" dirty="0">
                <a:solidFill>
                  <a:srgbClr val="455A64"/>
                </a:solidFill>
              </a:rPr>
              <a:t>FPR=0.18  Paper F1=0.36  AUC=0.67</a:t>
            </a:r>
          </a:p>
        </p:txBody>
      </p:sp>
      <p:sp>
        <p:nvSpPr>
          <p:cNvPr id="90" name="R90"/>
          <p:cNvSpPr/>
          <p:nvPr/>
        </p:nvSpPr>
        <p:spPr>
          <a:xfrm>
            <a:off x="100000" y="2520000"/>
            <a:ext cx="2050000" cy="300000"/>
          </a:xfrm>
          <a:prstGeom prst="rect">
            <a:avLst/>
          </a:prstGeom>
          <a:solidFill>
            <a:srgbClr val="1565C0"/>
          </a:solidFill>
          <a:ln>
            <a:noFill/>
          </a:ln>
        </p:spPr>
        <p:txBody>
          <a:bodyPr/>
          <a:lstStyle/>
          <a:p>
            <a:endParaRPr/>
          </a:p>
        </p:txBody>
      </p:sp>
      <p:sp>
        <p:nvSpPr>
          <p:cNvPr id="91" name="T91"/>
          <p:cNvSpPr/>
          <p:nvPr/>
        </p:nvSpPr>
        <p:spPr>
          <a:xfrm>
            <a:off x="100000" y="2520000"/>
            <a:ext cx="2050000" cy="300000"/>
          </a:xfrm>
          <a:prstGeom prst="rect">
            <a:avLst/>
          </a:prstGeom>
          <a:noFill/>
          <a:ln>
            <a:noFill/>
          </a:ln>
        </p:spPr>
        <p:txBody>
          <a:bodyPr lIns="180000" tIns="150000" anchor="ctr"/>
          <a:lstStyle/>
          <a:p>
            <a:r>
              <a:rPr lang="en-US" sz="1100" b="1" dirty="0">
                <a:solidFill>
                  <a:srgbClr val="FFFFFF"/>
                </a:solidFill>
              </a:rPr>
              <a:t>TapNet  (thr=0.58)</a:t>
            </a:r>
          </a:p>
        </p:txBody>
      </p:sp>
      <p:sp>
        <p:nvSpPr>
          <p:cNvPr id="92" name="R92"/>
          <p:cNvSpPr/>
          <p:nvPr/>
        </p:nvSpPr>
        <p:spPr>
          <a:xfrm>
            <a:off x="100000" y="2820000"/>
            <a:ext cx="1000000" cy="450000"/>
          </a:xfrm>
          <a:prstGeom prst="rect">
            <a:avLst/>
          </a:prstGeom>
          <a:solidFill>
            <a:srgbClr val="E8F5E9"/>
          </a:solidFill>
          <a:ln w="18000">
            <a:solidFill>
              <a:srgbClr val="2E7D32"/>
            </a:solidFill>
          </a:ln>
        </p:spPr>
        <p:txBody>
          <a:bodyPr/>
          <a:lstStyle/>
          <a:p>
            <a:endParaRPr/>
          </a:p>
        </p:txBody>
      </p:sp>
      <p:sp>
        <p:nvSpPr>
          <p:cNvPr id="93" name="T93"/>
          <p:cNvSpPr/>
          <p:nvPr/>
        </p:nvSpPr>
        <p:spPr>
          <a:xfrm>
            <a:off x="100000" y="282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3,181</a:t>
            </a:r>
          </a:p>
        </p:txBody>
      </p:sp>
      <p:sp>
        <p:nvSpPr>
          <p:cNvPr id="94" name="R94"/>
          <p:cNvSpPr/>
          <p:nvPr/>
        </p:nvSpPr>
        <p:spPr>
          <a:xfrm>
            <a:off x="1150000" y="2820000"/>
            <a:ext cx="1000000" cy="450000"/>
          </a:xfrm>
          <a:prstGeom prst="rect">
            <a:avLst/>
          </a:prstGeom>
          <a:solidFill>
            <a:srgbClr val="FFEBEE"/>
          </a:solidFill>
          <a:ln w="18000">
            <a:solidFill>
              <a:srgbClr val="C0504D"/>
            </a:solidFill>
          </a:ln>
        </p:spPr>
        <p:txBody>
          <a:bodyPr/>
          <a:lstStyle/>
          <a:p>
            <a:endParaRPr/>
          </a:p>
        </p:txBody>
      </p:sp>
      <p:sp>
        <p:nvSpPr>
          <p:cNvPr id="95" name="T95"/>
          <p:cNvSpPr/>
          <p:nvPr/>
        </p:nvSpPr>
        <p:spPr>
          <a:xfrm>
            <a:off x="1150000" y="282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760</a:t>
            </a:r>
          </a:p>
        </p:txBody>
      </p:sp>
      <p:sp>
        <p:nvSpPr>
          <p:cNvPr id="96" name="R96"/>
          <p:cNvSpPr/>
          <p:nvPr/>
        </p:nvSpPr>
        <p:spPr>
          <a:xfrm>
            <a:off x="100000" y="3270000"/>
            <a:ext cx="1000000" cy="450000"/>
          </a:xfrm>
          <a:prstGeom prst="rect">
            <a:avLst/>
          </a:prstGeom>
          <a:solidFill>
            <a:srgbClr val="FFF3E0"/>
          </a:solidFill>
          <a:ln w="18000">
            <a:solidFill>
              <a:srgbClr val="F9A825"/>
            </a:solidFill>
          </a:ln>
        </p:spPr>
        <p:txBody>
          <a:bodyPr/>
          <a:lstStyle/>
          <a:p>
            <a:endParaRPr/>
          </a:p>
        </p:txBody>
      </p:sp>
      <p:sp>
        <p:nvSpPr>
          <p:cNvPr id="97" name="T97"/>
          <p:cNvSpPr/>
          <p:nvPr/>
        </p:nvSpPr>
        <p:spPr>
          <a:xfrm>
            <a:off x="100000" y="327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321</a:t>
            </a:r>
          </a:p>
        </p:txBody>
      </p:sp>
      <p:sp>
        <p:nvSpPr>
          <p:cNvPr id="98" name="R98"/>
          <p:cNvSpPr/>
          <p:nvPr/>
        </p:nvSpPr>
        <p:spPr>
          <a:xfrm>
            <a:off x="1150000" y="3270000"/>
            <a:ext cx="1000000" cy="450000"/>
          </a:xfrm>
          <a:prstGeom prst="rect">
            <a:avLst/>
          </a:prstGeom>
          <a:solidFill>
            <a:srgbClr val="E8F5E9"/>
          </a:solidFill>
          <a:ln w="18000">
            <a:solidFill>
              <a:srgbClr val="2E7D32"/>
            </a:solidFill>
          </a:ln>
        </p:spPr>
        <p:txBody>
          <a:bodyPr/>
          <a:lstStyle/>
          <a:p>
            <a:endParaRPr/>
          </a:p>
        </p:txBody>
      </p:sp>
      <p:sp>
        <p:nvSpPr>
          <p:cNvPr id="99" name="T99"/>
          <p:cNvSpPr/>
          <p:nvPr/>
        </p:nvSpPr>
        <p:spPr>
          <a:xfrm>
            <a:off x="1150000" y="327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429</a:t>
            </a:r>
          </a:p>
        </p:txBody>
      </p:sp>
      <p:sp>
        <p:nvSpPr>
          <p:cNvPr id="100" name="T100"/>
          <p:cNvSpPr/>
          <p:nvPr/>
        </p:nvSpPr>
        <p:spPr>
          <a:xfrm>
            <a:off x="100000" y="3770000"/>
            <a:ext cx="2050000" cy="300000"/>
          </a:xfrm>
          <a:prstGeom prst="rect">
            <a:avLst/>
          </a:prstGeom>
          <a:noFill/>
          <a:ln>
            <a:noFill/>
          </a:ln>
        </p:spPr>
        <p:txBody>
          <a:bodyPr lIns="180000" tIns="150000" anchor="ctr"/>
          <a:lstStyle/>
          <a:p>
            <a:r>
              <a:rPr lang="en-US" sz="1000" b="0" dirty="0">
                <a:solidFill>
                  <a:srgbClr val="455A64"/>
                </a:solidFill>
              </a:rPr>
              <a:t>FPR=0.19  Paper F1=0.44  AUC=0.76</a:t>
            </a:r>
          </a:p>
        </p:txBody>
      </p:sp>
      <p:sp>
        <p:nvSpPr>
          <p:cNvPr id="110" name="R110"/>
          <p:cNvSpPr/>
          <p:nvPr/>
        </p:nvSpPr>
        <p:spPr>
          <a:xfrm>
            <a:off x="2320000" y="2520000"/>
            <a:ext cx="2050000" cy="300000"/>
          </a:xfrm>
          <a:prstGeom prst="rect">
            <a:avLst/>
          </a:prstGeom>
          <a:solidFill>
            <a:srgbClr val="1565C0"/>
          </a:solidFill>
          <a:ln>
            <a:noFill/>
          </a:ln>
        </p:spPr>
        <p:txBody>
          <a:bodyPr/>
          <a:lstStyle/>
          <a:p>
            <a:endParaRPr/>
          </a:p>
        </p:txBody>
      </p:sp>
      <p:sp>
        <p:nvSpPr>
          <p:cNvPr id="111" name="T111"/>
          <p:cNvSpPr/>
          <p:nvPr/>
        </p:nvSpPr>
        <p:spPr>
          <a:xfrm>
            <a:off x="2320000" y="2520000"/>
            <a:ext cx="2050000" cy="300000"/>
          </a:xfrm>
          <a:prstGeom prst="rect">
            <a:avLst/>
          </a:prstGeom>
          <a:noFill/>
          <a:ln>
            <a:noFill/>
          </a:ln>
        </p:spPr>
        <p:txBody>
          <a:bodyPr lIns="180000" tIns="150000" anchor="ctr"/>
          <a:lstStyle/>
          <a:p>
            <a:r>
              <a:rPr lang="en-US" sz="1100" b="1" dirty="0">
                <a:solidFill>
                  <a:srgbClr val="FFFFFF"/>
                </a:solidFill>
              </a:rPr>
              <a:t>TapNet+meta  (thr=0.55)</a:t>
            </a:r>
          </a:p>
        </p:txBody>
      </p:sp>
      <p:sp>
        <p:nvSpPr>
          <p:cNvPr id="112" name="R112"/>
          <p:cNvSpPr/>
          <p:nvPr/>
        </p:nvSpPr>
        <p:spPr>
          <a:xfrm>
            <a:off x="2320000" y="2820000"/>
            <a:ext cx="1000000" cy="450000"/>
          </a:xfrm>
          <a:prstGeom prst="rect">
            <a:avLst/>
          </a:prstGeom>
          <a:solidFill>
            <a:srgbClr val="E8F5E9"/>
          </a:solidFill>
          <a:ln w="18000">
            <a:solidFill>
              <a:srgbClr val="2E7D32"/>
            </a:solidFill>
          </a:ln>
        </p:spPr>
        <p:txBody>
          <a:bodyPr/>
          <a:lstStyle/>
          <a:p>
            <a:endParaRPr/>
          </a:p>
        </p:txBody>
      </p:sp>
      <p:sp>
        <p:nvSpPr>
          <p:cNvPr id="113" name="T113"/>
          <p:cNvSpPr/>
          <p:nvPr/>
        </p:nvSpPr>
        <p:spPr>
          <a:xfrm>
            <a:off x="2320000" y="282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3,334</a:t>
            </a:r>
          </a:p>
        </p:txBody>
      </p:sp>
      <p:sp>
        <p:nvSpPr>
          <p:cNvPr id="114" name="R114"/>
          <p:cNvSpPr/>
          <p:nvPr/>
        </p:nvSpPr>
        <p:spPr>
          <a:xfrm>
            <a:off x="3370000" y="2820000"/>
            <a:ext cx="1000000" cy="450000"/>
          </a:xfrm>
          <a:prstGeom prst="rect">
            <a:avLst/>
          </a:prstGeom>
          <a:solidFill>
            <a:srgbClr val="FFEBEE"/>
          </a:solidFill>
          <a:ln w="18000">
            <a:solidFill>
              <a:srgbClr val="C0504D"/>
            </a:solidFill>
          </a:ln>
        </p:spPr>
        <p:txBody>
          <a:bodyPr/>
          <a:lstStyle/>
          <a:p>
            <a:endParaRPr/>
          </a:p>
        </p:txBody>
      </p:sp>
      <p:sp>
        <p:nvSpPr>
          <p:cNvPr id="115" name="T115"/>
          <p:cNvSpPr/>
          <p:nvPr/>
        </p:nvSpPr>
        <p:spPr>
          <a:xfrm>
            <a:off x="3370000" y="282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607</a:t>
            </a:r>
          </a:p>
        </p:txBody>
      </p:sp>
      <p:sp>
        <p:nvSpPr>
          <p:cNvPr id="116" name="R116"/>
          <p:cNvSpPr/>
          <p:nvPr/>
        </p:nvSpPr>
        <p:spPr>
          <a:xfrm>
            <a:off x="2320000" y="3270000"/>
            <a:ext cx="1000000" cy="450000"/>
          </a:xfrm>
          <a:prstGeom prst="rect">
            <a:avLst/>
          </a:prstGeom>
          <a:solidFill>
            <a:srgbClr val="FFF3E0"/>
          </a:solidFill>
          <a:ln w="18000">
            <a:solidFill>
              <a:srgbClr val="F9A825"/>
            </a:solidFill>
          </a:ln>
        </p:spPr>
        <p:txBody>
          <a:bodyPr/>
          <a:lstStyle/>
          <a:p>
            <a:endParaRPr/>
          </a:p>
        </p:txBody>
      </p:sp>
      <p:sp>
        <p:nvSpPr>
          <p:cNvPr id="117" name="T117"/>
          <p:cNvSpPr/>
          <p:nvPr/>
        </p:nvSpPr>
        <p:spPr>
          <a:xfrm>
            <a:off x="2320000" y="327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297</a:t>
            </a:r>
          </a:p>
        </p:txBody>
      </p:sp>
      <p:sp>
        <p:nvSpPr>
          <p:cNvPr id="118" name="R118"/>
          <p:cNvSpPr/>
          <p:nvPr/>
        </p:nvSpPr>
        <p:spPr>
          <a:xfrm>
            <a:off x="3370000" y="3270000"/>
            <a:ext cx="1000000" cy="450000"/>
          </a:xfrm>
          <a:prstGeom prst="rect">
            <a:avLst/>
          </a:prstGeom>
          <a:solidFill>
            <a:srgbClr val="E8F5E9"/>
          </a:solidFill>
          <a:ln w="18000">
            <a:solidFill>
              <a:srgbClr val="2E7D32"/>
            </a:solidFill>
          </a:ln>
        </p:spPr>
        <p:txBody>
          <a:bodyPr/>
          <a:lstStyle/>
          <a:p>
            <a:endParaRPr/>
          </a:p>
        </p:txBody>
      </p:sp>
      <p:sp>
        <p:nvSpPr>
          <p:cNvPr id="119" name="T119"/>
          <p:cNvSpPr/>
          <p:nvPr/>
        </p:nvSpPr>
        <p:spPr>
          <a:xfrm>
            <a:off x="3370000" y="327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453</a:t>
            </a:r>
          </a:p>
        </p:txBody>
      </p:sp>
      <p:sp>
        <p:nvSpPr>
          <p:cNvPr id="120" name="T120"/>
          <p:cNvSpPr/>
          <p:nvPr/>
        </p:nvSpPr>
        <p:spPr>
          <a:xfrm>
            <a:off x="2320000" y="3770000"/>
            <a:ext cx="2050000" cy="300000"/>
          </a:xfrm>
          <a:prstGeom prst="rect">
            <a:avLst/>
          </a:prstGeom>
          <a:noFill/>
          <a:ln>
            <a:noFill/>
          </a:ln>
        </p:spPr>
        <p:txBody>
          <a:bodyPr lIns="180000" tIns="150000" anchor="ctr"/>
          <a:lstStyle/>
          <a:p>
            <a:r>
              <a:rPr lang="en-US" sz="1000" b="0" dirty="0">
                <a:solidFill>
                  <a:srgbClr val="455A64"/>
                </a:solidFill>
              </a:rPr>
              <a:t>FPR=0.15  Paper F1=0.50  AUC=0.82</a:t>
            </a:r>
          </a:p>
        </p:txBody>
      </p:sp>
      <p:sp>
        <p:nvSpPr>
          <p:cNvPr id="130" name="R130"/>
          <p:cNvSpPr/>
          <p:nvPr/>
        </p:nvSpPr>
        <p:spPr>
          <a:xfrm>
            <a:off x="4540000" y="2520000"/>
            <a:ext cx="2050000" cy="300000"/>
          </a:xfrm>
          <a:prstGeom prst="rect">
            <a:avLst/>
          </a:prstGeom>
          <a:solidFill>
            <a:srgbClr val="1565C0"/>
          </a:solidFill>
          <a:ln>
            <a:noFill/>
          </a:ln>
        </p:spPr>
        <p:txBody>
          <a:bodyPr/>
          <a:lstStyle/>
          <a:p>
            <a:endParaRPr/>
          </a:p>
        </p:txBody>
      </p:sp>
      <p:sp>
        <p:nvSpPr>
          <p:cNvPr id="131" name="T131"/>
          <p:cNvSpPr/>
          <p:nvPr/>
        </p:nvSpPr>
        <p:spPr>
          <a:xfrm>
            <a:off x="4540000" y="2520000"/>
            <a:ext cx="2050000" cy="300000"/>
          </a:xfrm>
          <a:prstGeom prst="rect">
            <a:avLst/>
          </a:prstGeom>
          <a:noFill/>
          <a:ln>
            <a:noFill/>
          </a:ln>
        </p:spPr>
        <p:txBody>
          <a:bodyPr lIns="180000" tIns="150000" anchor="ctr"/>
          <a:lstStyle/>
          <a:p>
            <a:r>
              <a:rPr lang="en-US" sz="1100" b="1" dirty="0">
                <a:solidFill>
                  <a:srgbClr val="FFFFFF"/>
                </a:solidFill>
              </a:rPr>
              <a:t>XGBoost TS-only  (thr=0.59)</a:t>
            </a:r>
          </a:p>
        </p:txBody>
      </p:sp>
      <p:sp>
        <p:nvSpPr>
          <p:cNvPr id="132" name="R132"/>
          <p:cNvSpPr/>
          <p:nvPr/>
        </p:nvSpPr>
        <p:spPr>
          <a:xfrm>
            <a:off x="4540000" y="2820000"/>
            <a:ext cx="1000000" cy="450000"/>
          </a:xfrm>
          <a:prstGeom prst="rect">
            <a:avLst/>
          </a:prstGeom>
          <a:solidFill>
            <a:srgbClr val="E8F5E9"/>
          </a:solidFill>
          <a:ln w="18000">
            <a:solidFill>
              <a:srgbClr val="2E7D32"/>
            </a:solidFill>
          </a:ln>
        </p:spPr>
        <p:txBody>
          <a:bodyPr/>
          <a:lstStyle/>
          <a:p>
            <a:endParaRPr/>
          </a:p>
        </p:txBody>
      </p:sp>
      <p:sp>
        <p:nvSpPr>
          <p:cNvPr id="133" name="T133"/>
          <p:cNvSpPr/>
          <p:nvPr/>
        </p:nvSpPr>
        <p:spPr>
          <a:xfrm>
            <a:off x="4540000" y="282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3,280</a:t>
            </a:r>
          </a:p>
        </p:txBody>
      </p:sp>
      <p:sp>
        <p:nvSpPr>
          <p:cNvPr id="134" name="R134"/>
          <p:cNvSpPr/>
          <p:nvPr/>
        </p:nvSpPr>
        <p:spPr>
          <a:xfrm>
            <a:off x="5590000" y="2820000"/>
            <a:ext cx="1000000" cy="450000"/>
          </a:xfrm>
          <a:prstGeom prst="rect">
            <a:avLst/>
          </a:prstGeom>
          <a:solidFill>
            <a:srgbClr val="FFEBEE"/>
          </a:solidFill>
          <a:ln w="18000">
            <a:solidFill>
              <a:srgbClr val="C0504D"/>
            </a:solidFill>
          </a:ln>
        </p:spPr>
        <p:txBody>
          <a:bodyPr/>
          <a:lstStyle/>
          <a:p>
            <a:endParaRPr/>
          </a:p>
        </p:txBody>
      </p:sp>
      <p:sp>
        <p:nvSpPr>
          <p:cNvPr id="135" name="T135"/>
          <p:cNvSpPr/>
          <p:nvPr/>
        </p:nvSpPr>
        <p:spPr>
          <a:xfrm>
            <a:off x="5590000" y="282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661</a:t>
            </a:r>
          </a:p>
        </p:txBody>
      </p:sp>
      <p:sp>
        <p:nvSpPr>
          <p:cNvPr id="136" name="R136"/>
          <p:cNvSpPr/>
          <p:nvPr/>
        </p:nvSpPr>
        <p:spPr>
          <a:xfrm>
            <a:off x="4540000" y="3270000"/>
            <a:ext cx="1000000" cy="450000"/>
          </a:xfrm>
          <a:prstGeom prst="rect">
            <a:avLst/>
          </a:prstGeom>
          <a:solidFill>
            <a:srgbClr val="FFF3E0"/>
          </a:solidFill>
          <a:ln w="18000">
            <a:solidFill>
              <a:srgbClr val="F9A825"/>
            </a:solidFill>
          </a:ln>
        </p:spPr>
        <p:txBody>
          <a:bodyPr/>
          <a:lstStyle/>
          <a:p>
            <a:endParaRPr/>
          </a:p>
        </p:txBody>
      </p:sp>
      <p:sp>
        <p:nvSpPr>
          <p:cNvPr id="137" name="T137"/>
          <p:cNvSpPr/>
          <p:nvPr/>
        </p:nvSpPr>
        <p:spPr>
          <a:xfrm>
            <a:off x="4540000" y="327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316</a:t>
            </a:r>
          </a:p>
        </p:txBody>
      </p:sp>
      <p:sp>
        <p:nvSpPr>
          <p:cNvPr id="138" name="R138"/>
          <p:cNvSpPr/>
          <p:nvPr/>
        </p:nvSpPr>
        <p:spPr>
          <a:xfrm>
            <a:off x="5590000" y="3270000"/>
            <a:ext cx="1000000" cy="450000"/>
          </a:xfrm>
          <a:prstGeom prst="rect">
            <a:avLst/>
          </a:prstGeom>
          <a:solidFill>
            <a:srgbClr val="E8F5E9"/>
          </a:solidFill>
          <a:ln w="18000">
            <a:solidFill>
              <a:srgbClr val="2E7D32"/>
            </a:solidFill>
          </a:ln>
        </p:spPr>
        <p:txBody>
          <a:bodyPr/>
          <a:lstStyle/>
          <a:p>
            <a:endParaRPr/>
          </a:p>
        </p:txBody>
      </p:sp>
      <p:sp>
        <p:nvSpPr>
          <p:cNvPr id="139" name="T139"/>
          <p:cNvSpPr/>
          <p:nvPr/>
        </p:nvSpPr>
        <p:spPr>
          <a:xfrm>
            <a:off x="5590000" y="327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434</a:t>
            </a:r>
          </a:p>
        </p:txBody>
      </p:sp>
      <p:sp>
        <p:nvSpPr>
          <p:cNvPr id="140" name="T140"/>
          <p:cNvSpPr/>
          <p:nvPr/>
        </p:nvSpPr>
        <p:spPr>
          <a:xfrm>
            <a:off x="4540000" y="3770000"/>
            <a:ext cx="2050000" cy="300000"/>
          </a:xfrm>
          <a:prstGeom prst="rect">
            <a:avLst/>
          </a:prstGeom>
          <a:noFill/>
          <a:ln>
            <a:noFill/>
          </a:ln>
        </p:spPr>
        <p:txBody>
          <a:bodyPr lIns="180000" tIns="150000" anchor="ctr"/>
          <a:lstStyle/>
          <a:p>
            <a:r>
              <a:rPr lang="en-US" sz="1000" b="0" dirty="0">
                <a:solidFill>
                  <a:srgbClr val="455A64"/>
                </a:solidFill>
              </a:rPr>
              <a:t>FPR=0.17  Paper F1=0.47  AUC=0.79</a:t>
            </a:r>
          </a:p>
        </p:txBody>
      </p:sp>
      <p:sp>
        <p:nvSpPr>
          <p:cNvPr id="150" name="R150"/>
          <p:cNvSpPr/>
          <p:nvPr/>
        </p:nvSpPr>
        <p:spPr>
          <a:xfrm>
            <a:off x="6760000" y="2520000"/>
            <a:ext cx="2050000" cy="300000"/>
          </a:xfrm>
          <a:prstGeom prst="rect">
            <a:avLst/>
          </a:prstGeom>
          <a:solidFill>
            <a:srgbClr val="1565C0"/>
          </a:solidFill>
          <a:ln>
            <a:noFill/>
          </a:ln>
        </p:spPr>
        <p:txBody>
          <a:bodyPr/>
          <a:lstStyle/>
          <a:p>
            <a:endParaRPr/>
          </a:p>
        </p:txBody>
      </p:sp>
      <p:sp>
        <p:nvSpPr>
          <p:cNvPr id="151" name="T151"/>
          <p:cNvSpPr/>
          <p:nvPr/>
        </p:nvSpPr>
        <p:spPr>
          <a:xfrm>
            <a:off x="6760000" y="2520000"/>
            <a:ext cx="2050000" cy="300000"/>
          </a:xfrm>
          <a:prstGeom prst="rect">
            <a:avLst/>
          </a:prstGeom>
          <a:noFill/>
          <a:ln>
            <a:noFill/>
          </a:ln>
        </p:spPr>
        <p:txBody>
          <a:bodyPr lIns="180000" tIns="150000" anchor="ctr"/>
          <a:lstStyle/>
          <a:p>
            <a:r>
              <a:rPr lang="en-US" sz="1100" b="1" dirty="0">
                <a:solidFill>
                  <a:srgbClr val="FFFFFF"/>
                </a:solidFill>
              </a:rPr>
              <a:t>XGBoost full  (thr=0.61)</a:t>
            </a:r>
          </a:p>
        </p:txBody>
      </p:sp>
      <p:sp>
        <p:nvSpPr>
          <p:cNvPr id="152" name="R152"/>
          <p:cNvSpPr/>
          <p:nvPr/>
        </p:nvSpPr>
        <p:spPr>
          <a:xfrm>
            <a:off x="6760000" y="2820000"/>
            <a:ext cx="1000000" cy="450000"/>
          </a:xfrm>
          <a:prstGeom prst="rect">
            <a:avLst/>
          </a:prstGeom>
          <a:solidFill>
            <a:srgbClr val="E8F5E9"/>
          </a:solidFill>
          <a:ln w="18000">
            <a:solidFill>
              <a:srgbClr val="2E7D32"/>
            </a:solidFill>
          </a:ln>
        </p:spPr>
        <p:txBody>
          <a:bodyPr/>
          <a:lstStyle/>
          <a:p>
            <a:endParaRPr/>
          </a:p>
        </p:txBody>
      </p:sp>
      <p:sp>
        <p:nvSpPr>
          <p:cNvPr id="153" name="T153"/>
          <p:cNvSpPr/>
          <p:nvPr/>
        </p:nvSpPr>
        <p:spPr>
          <a:xfrm>
            <a:off x="6760000" y="2820000"/>
            <a:ext cx="1000000" cy="450000"/>
          </a:xfrm>
          <a:prstGeom prst="rect">
            <a:avLst/>
          </a:prstGeom>
          <a:noFill/>
          <a:ln>
            <a:noFill/>
          </a:ln>
        </p:spPr>
        <p:txBody>
          <a:bodyPr lIns="180000" tIns="150000" anchor="ctr"/>
          <a:lstStyle/>
          <a:p>
            <a:r>
              <a:rPr lang="en-US" sz="900" b="0" dirty="0">
                <a:solidFill>
                  <a:srgbClr val="455A64"/>
                </a:solidFill>
              </a:rPr>
              <a:t>True Machine</a:t>
            </a:r>
          </a:p>
          <a:p>
            <a:r>
              <a:rPr lang="en-US" sz="1800" b="1" dirty="0">
                <a:solidFill>
                  <a:srgbClr val="2E7D32"/>
                </a:solidFill>
              </a:rPr>
              <a:t>3,557</a:t>
            </a:r>
          </a:p>
        </p:txBody>
      </p:sp>
      <p:sp>
        <p:nvSpPr>
          <p:cNvPr id="154" name="R154"/>
          <p:cNvSpPr/>
          <p:nvPr/>
        </p:nvSpPr>
        <p:spPr>
          <a:xfrm>
            <a:off x="7810000" y="2820000"/>
            <a:ext cx="1000000" cy="450000"/>
          </a:xfrm>
          <a:prstGeom prst="rect">
            <a:avLst/>
          </a:prstGeom>
          <a:solidFill>
            <a:srgbClr val="FFEBEE"/>
          </a:solidFill>
          <a:ln w="18000">
            <a:solidFill>
              <a:srgbClr val="C0504D"/>
            </a:solidFill>
          </a:ln>
        </p:spPr>
        <p:txBody>
          <a:bodyPr/>
          <a:lstStyle/>
          <a:p>
            <a:endParaRPr/>
          </a:p>
        </p:txBody>
      </p:sp>
      <p:sp>
        <p:nvSpPr>
          <p:cNvPr id="155" name="T155"/>
          <p:cNvSpPr/>
          <p:nvPr/>
        </p:nvSpPr>
        <p:spPr>
          <a:xfrm>
            <a:off x="7810000" y="2820000"/>
            <a:ext cx="1000000" cy="450000"/>
          </a:xfrm>
          <a:prstGeom prst="rect">
            <a:avLst/>
          </a:prstGeom>
          <a:noFill/>
          <a:ln>
            <a:noFill/>
          </a:ln>
        </p:spPr>
        <p:txBody>
          <a:bodyPr lIns="180000" tIns="150000" anchor="ctr"/>
          <a:lstStyle/>
          <a:p>
            <a:r>
              <a:rPr lang="en-US" sz="900" b="0" dirty="0">
                <a:solidFill>
                  <a:srgbClr val="455A64"/>
                </a:solidFill>
              </a:rPr>
              <a:t>False Paper</a:t>
            </a:r>
          </a:p>
          <a:p>
            <a:r>
              <a:rPr lang="en-US" sz="1800" b="1" dirty="0">
                <a:solidFill>
                  <a:srgbClr val="C0504D"/>
                </a:solidFill>
              </a:rPr>
              <a:t>384</a:t>
            </a:r>
          </a:p>
        </p:txBody>
      </p:sp>
      <p:sp>
        <p:nvSpPr>
          <p:cNvPr id="156" name="R156"/>
          <p:cNvSpPr/>
          <p:nvPr/>
        </p:nvSpPr>
        <p:spPr>
          <a:xfrm>
            <a:off x="6760000" y="3270000"/>
            <a:ext cx="1000000" cy="450000"/>
          </a:xfrm>
          <a:prstGeom prst="rect">
            <a:avLst/>
          </a:prstGeom>
          <a:solidFill>
            <a:srgbClr val="FFF3E0"/>
          </a:solidFill>
          <a:ln w="18000">
            <a:solidFill>
              <a:srgbClr val="F9A825"/>
            </a:solidFill>
          </a:ln>
        </p:spPr>
        <p:txBody>
          <a:bodyPr/>
          <a:lstStyle/>
          <a:p>
            <a:endParaRPr/>
          </a:p>
        </p:txBody>
      </p:sp>
      <p:sp>
        <p:nvSpPr>
          <p:cNvPr id="157" name="T157"/>
          <p:cNvSpPr/>
          <p:nvPr/>
        </p:nvSpPr>
        <p:spPr>
          <a:xfrm>
            <a:off x="6760000" y="3270000"/>
            <a:ext cx="1000000" cy="450000"/>
          </a:xfrm>
          <a:prstGeom prst="rect">
            <a:avLst/>
          </a:prstGeom>
          <a:noFill/>
          <a:ln>
            <a:noFill/>
          </a:ln>
        </p:spPr>
        <p:txBody>
          <a:bodyPr lIns="180000" tIns="150000" anchor="ctr"/>
          <a:lstStyle/>
          <a:p>
            <a:r>
              <a:rPr lang="en-US" sz="900" b="0" dirty="0">
                <a:solidFill>
                  <a:srgbClr val="455A64"/>
                </a:solidFill>
              </a:rPr>
              <a:t>False Machine</a:t>
            </a:r>
          </a:p>
          <a:p>
            <a:r>
              <a:rPr lang="en-US" sz="1800" b="1" dirty="0">
                <a:solidFill>
                  <a:srgbClr val="F9A825"/>
                </a:solidFill>
              </a:rPr>
              <a:t>301</a:t>
            </a:r>
          </a:p>
        </p:txBody>
      </p:sp>
      <p:sp>
        <p:nvSpPr>
          <p:cNvPr id="158" name="R158"/>
          <p:cNvSpPr/>
          <p:nvPr/>
        </p:nvSpPr>
        <p:spPr>
          <a:xfrm>
            <a:off x="7810000" y="3270000"/>
            <a:ext cx="1000000" cy="450000"/>
          </a:xfrm>
          <a:prstGeom prst="rect">
            <a:avLst/>
          </a:prstGeom>
          <a:solidFill>
            <a:srgbClr val="E8F5E9"/>
          </a:solidFill>
          <a:ln w="18000">
            <a:solidFill>
              <a:srgbClr val="2E7D32"/>
            </a:solidFill>
          </a:ln>
        </p:spPr>
        <p:txBody>
          <a:bodyPr/>
          <a:lstStyle/>
          <a:p>
            <a:endParaRPr/>
          </a:p>
        </p:txBody>
      </p:sp>
      <p:sp>
        <p:nvSpPr>
          <p:cNvPr id="159" name="T159"/>
          <p:cNvSpPr/>
          <p:nvPr/>
        </p:nvSpPr>
        <p:spPr>
          <a:xfrm>
            <a:off x="7810000" y="3270000"/>
            <a:ext cx="1000000" cy="450000"/>
          </a:xfrm>
          <a:prstGeom prst="rect">
            <a:avLst/>
          </a:prstGeom>
          <a:noFill/>
          <a:ln>
            <a:noFill/>
          </a:ln>
        </p:spPr>
        <p:txBody>
          <a:bodyPr lIns="180000" tIns="150000" anchor="ctr"/>
          <a:lstStyle/>
          <a:p>
            <a:r>
              <a:rPr lang="en-US" sz="900" b="0" dirty="0">
                <a:solidFill>
                  <a:srgbClr val="455A64"/>
                </a:solidFill>
              </a:rPr>
              <a:t>True Paper</a:t>
            </a:r>
          </a:p>
          <a:p>
            <a:r>
              <a:rPr lang="en-US" sz="1800" b="1" dirty="0">
                <a:solidFill>
                  <a:srgbClr val="2E7D32"/>
                </a:solidFill>
              </a:rPr>
              <a:t>449</a:t>
            </a:r>
          </a:p>
        </p:txBody>
      </p:sp>
      <p:sp>
        <p:nvSpPr>
          <p:cNvPr id="160" name="T160"/>
          <p:cNvSpPr/>
          <p:nvPr/>
        </p:nvSpPr>
        <p:spPr>
          <a:xfrm>
            <a:off x="6760000" y="3770000"/>
            <a:ext cx="2050000" cy="300000"/>
          </a:xfrm>
          <a:prstGeom prst="rect">
            <a:avLst/>
          </a:prstGeom>
          <a:noFill/>
          <a:ln>
            <a:noFill/>
          </a:ln>
        </p:spPr>
        <p:txBody>
          <a:bodyPr lIns="180000" tIns="150000" anchor="ctr"/>
          <a:lstStyle/>
          <a:p>
            <a:r>
              <a:rPr lang="en-US" sz="1000" b="0" dirty="0">
                <a:solidFill>
                  <a:srgbClr val="455A64"/>
                </a:solidFill>
              </a:rPr>
              <a:t>FPR=0.10  Paper F1=0.57  AUC=0.86</a:t>
            </a:r>
          </a:p>
        </p:txBody>
      </p:sp>
      <p:sp>
        <p:nvSpPr>
          <p:cNvPr id="170" name="R170"/>
          <p:cNvSpPr/>
          <p:nvPr/>
        </p:nvSpPr>
        <p:spPr>
          <a:xfrm>
            <a:off x="100000" y="4300000"/>
            <a:ext cx="8944000" cy="720000"/>
          </a:xfrm>
          <a:prstGeom prst="rect">
            <a:avLst/>
          </a:prstGeom>
          <a:solidFill>
            <a:srgbClr val="F5F7FA"/>
          </a:solidFill>
          <a:ln w="18000">
            <a:solidFill>
              <a:srgbClr val="D0D7DE"/>
            </a:solidFill>
          </a:ln>
        </p:spPr>
        <p:txBody>
          <a:bodyPr/>
          <a:lstStyle/>
          <a:p>
            <a:endParaRPr/>
          </a:p>
        </p:txBody>
      </p:sp>
      <p:sp>
        <p:nvSpPr>
          <p:cNvPr id="171" name="T171"/>
          <p:cNvSpPr/>
          <p:nvPr/>
        </p:nvSpPr>
        <p:spPr>
          <a:xfrm>
            <a:off x="250000" y="4330000"/>
            <a:ext cx="8644000" cy="600000"/>
          </a:xfrm>
          <a:prstGeom prst="rect">
            <a:avLst/>
          </a:prstGeom>
          <a:noFill/>
          <a:ln>
            <a:noFill/>
          </a:ln>
        </p:spPr>
        <p:txBody>
          <a:bodyPr lIns="180000" tIns="150000" anchor="t"/>
          <a:lstStyle/>
          <a:p>
            <a:r>
              <a:rPr lang="en-US" sz="1100" b="1" dirty="0">
                <a:solidFill>
                  <a:srgbClr val="1565C0"/>
                </a:solidFill>
              </a:rPr>
              <a:t>Reading the matrix:  Columns = predicted class  |  Rows = actual class  |  Diagonal = correct predictions  |  Off-diagonal = errors</a:t>
            </a:r>
          </a:p>
          <a:p>
            <a:r>
              <a:rPr lang="en-US" sz="1050" b="0" dirty="0">
                <a:solidFill>
                  <a:srgbClr val="1A1A2E"/>
                </a:solidFill>
              </a:rPr>
              <a:t>FPR (False Positive Rate) = machine events incorrectly flagged as paper = spurious supplier complaints. Most critical operational metric.</a:t>
            </a:r>
          </a:p>
          <a:p>
            <a:r>
              <a:rPr lang="en-US" sz="1000" b="0" dirty="0">
                <a:solidFill>
                  <a:srgbClr val="455A64"/>
                </a:solidFill>
              </a:rPr>
              <a:t>Paper F1 = harmonic mean of paper precision &amp; paper recall at the given threshold. Selected to maximise F1 on validation fold.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73316"/>
          </a:xfrm>
          <a:prstGeom prst="rect">
            <a:avLst/>
          </a:prstGeom>
          <a:solidFill>
            <a:srgbClr val="1565C0"/>
          </a:solidFill>
          <a:ln>
            <a:noFill/>
          </a:ln>
        </p:spPr>
        <p:txBody>
          <a:bodyPr lIns="280000" anchor="ctr"/>
          <a:lstStyle/>
          <a:p>
            <a:r>
              <a:rPr lang="en-US" sz="800" b="1" dirty="0">
                <a:solidFill>
                  <a:srgbClr val="B3D1F5"/>
                </a:solidFill>
              </a:rPr>
              <a:t>A7  |  </a:t>
            </a:r>
            <a:r>
              <a:rPr lang="en-US" sz="1900" b="1" dirty="0">
                <a:solidFill>
                  <a:srgbClr val="FFFFFF"/>
                </a:solidFill>
              </a:rPr>
              <a:t>Full Feature Engineering Reference - 68 Numerical Features</a:t>
            </a:r>
          </a:p>
        </p:txBody>
      </p:sp>
      <p:sp>
        <p:nvSpPr>
          <p:cNvPr id="4" name="T4"/>
          <p:cNvSpPr/>
          <p:nvPr/>
        </p:nvSpPr>
        <p:spPr>
          <a:xfrm>
            <a:off x="0" y="523316"/>
            <a:ext cx="8744000" cy="60000"/>
          </a:xfrm>
          <a:prstGeom prst="rect">
            <a:avLst/>
          </a:prstGeom>
          <a:noFill/>
          <a:ln>
            <a:noFill/>
          </a:ln>
        </p:spPr>
        <p:txBody>
          <a:bodyPr lIns="180000" tIns="150000" anchor="ctr"/>
          <a:lstStyle/>
          <a:p>
            <a:r>
              <a:rPr lang="en-US" sz="1100" b="0" dirty="0">
                <a:solidFill>
                  <a:srgbClr val="455A64"/>
                </a:solidFill>
              </a:rPr>
              <a:t>All features derived from same (300,10) preprocessed time series. After one-hot encoding: 80-90 total features per fold.</a:t>
            </a:r>
          </a:p>
        </p:txBody>
      </p:sp>
      <p:sp>
        <p:nvSpPr>
          <p:cNvPr id="5" name="R5"/>
          <p:cNvSpPr/>
          <p:nvPr/>
        </p:nvSpPr>
        <p:spPr>
          <a:xfrm>
            <a:off x="150000" y="770000"/>
            <a:ext cx="4200000" cy="2000000"/>
          </a:xfrm>
          <a:prstGeom prst="rect">
            <a:avLst/>
          </a:prstGeom>
          <a:solidFill>
            <a:srgbClr val="F5F7FA"/>
          </a:solidFill>
          <a:ln w="18000">
            <a:solidFill>
              <a:srgbClr val="D0D7DE"/>
            </a:solidFill>
          </a:ln>
        </p:spPr>
        <p:txBody>
          <a:bodyPr/>
          <a:lstStyle/>
          <a:p>
            <a:endParaRPr/>
          </a:p>
        </p:txBody>
      </p:sp>
      <p:sp>
        <p:nvSpPr>
          <p:cNvPr id="6" name="T6"/>
          <p:cNvSpPr/>
          <p:nvPr/>
        </p:nvSpPr>
        <p:spPr>
          <a:xfrm>
            <a:off x="220000" y="800000"/>
            <a:ext cx="4060000" cy="1940000"/>
          </a:xfrm>
          <a:prstGeom prst="rect">
            <a:avLst/>
          </a:prstGeom>
          <a:noFill/>
          <a:ln>
            <a:noFill/>
          </a:ln>
        </p:spPr>
        <p:txBody>
          <a:bodyPr lIns="180000" tIns="150000" anchor="t"/>
          <a:lstStyle/>
          <a:p>
            <a:r>
              <a:rPr lang="en-US" sz="1200" b="1" dirty="0">
                <a:solidFill>
                  <a:srgbClr val="1565C0"/>
                </a:solidFill>
              </a:rPr>
              <a:t>Statistical Features  (30 total = 15 per camera)</a:t>
            </a:r>
          </a:p>
          <a:p>
            <a:r>
              <a:rPr lang="en-US" sz="1050" b="0" dirty="0">
                <a:solidFill>
                  <a:srgbClr val="455A64"/>
                </a:solidFill>
              </a:rPr>
              <a:t>Per camera, per defect channel (5 channels x 3 stats = 15):</a:t>
            </a:r>
          </a:p>
          <a:p>
            <a:r>
              <a:rPr lang="en-US" sz="1000" b="0" dirty="0">
                <a:solidFill>
                  <a:srgbClr val="455A64"/>
                </a:solidFill>
              </a:rPr>
              <a:t>Mean across 300 timesteps — average defect state during pre-break window</a:t>
            </a:r>
          </a:p>
          <a:p>
            <a:r>
              <a:rPr lang="en-US" sz="1000" b="0" dirty="0">
                <a:solidFill>
                  <a:srgbClr val="455A64"/>
                </a:solidFill>
              </a:rPr>
              <a:t>Std deviation across 300 timesteps — trajectory variability</a:t>
            </a:r>
          </a:p>
          <a:p>
            <a:r>
              <a:rPr lang="en-US" sz="1000" b="0" dirty="0">
                <a:solidFill>
                  <a:srgbClr val="455A64"/>
                </a:solidFill>
              </a:rPr>
              <a:t>Maximum value — peak intensity of each defect category</a:t>
            </a:r>
          </a:p>
          <a:p>
            <a:r>
              <a:rPr lang="en-US" sz="1000" b="0" dirty="0">
                <a:solidFill>
                  <a:srgbClr val="455A64"/>
                </a:solidFill>
              </a:rPr>
              <a:t>Channels: no_defect, defect, rollenwechsel, Kantenfehler, tear</a:t>
            </a:r>
          </a:p>
        </p:txBody>
      </p:sp>
      <p:sp>
        <p:nvSpPr>
          <p:cNvPr id="7" name="R7"/>
          <p:cNvSpPr/>
          <p:nvPr/>
        </p:nvSpPr>
        <p:spPr>
          <a:xfrm>
            <a:off x="4600000" y="770000"/>
            <a:ext cx="4394000" cy="2000000"/>
          </a:xfrm>
          <a:prstGeom prst="rect">
            <a:avLst/>
          </a:prstGeom>
          <a:solidFill>
            <a:srgbClr val="F5F7FA"/>
          </a:solidFill>
          <a:ln w="18000">
            <a:solidFill>
              <a:srgbClr val="D0D7DE"/>
            </a:solidFill>
          </a:ln>
        </p:spPr>
        <p:txBody>
          <a:bodyPr/>
          <a:lstStyle/>
          <a:p>
            <a:endParaRPr/>
          </a:p>
        </p:txBody>
      </p:sp>
      <p:sp>
        <p:nvSpPr>
          <p:cNvPr id="8" name="T8"/>
          <p:cNvSpPr/>
          <p:nvPr/>
        </p:nvSpPr>
        <p:spPr>
          <a:xfrm>
            <a:off x="4670000" y="800000"/>
            <a:ext cx="4254000" cy="1940000"/>
          </a:xfrm>
          <a:prstGeom prst="rect">
            <a:avLst/>
          </a:prstGeom>
          <a:noFill/>
          <a:ln>
            <a:noFill/>
          </a:ln>
        </p:spPr>
        <p:txBody>
          <a:bodyPr lIns="180000" tIns="150000" anchor="t"/>
          <a:lstStyle/>
          <a:p>
            <a:r>
              <a:rPr lang="en-US" sz="1200" b="1" dirty="0">
                <a:solidFill>
                  <a:srgbClr val="1565C0"/>
                </a:solidFill>
              </a:rPr>
              <a:t>Temporal Features  (10 total = 5 per camera)</a:t>
            </a:r>
          </a:p>
          <a:p>
            <a:r>
              <a:rPr lang="en-US" sz="1000" b="0" dirty="0">
                <a:solidFill>
                  <a:srgbClr val="455A64"/>
                </a:solidFill>
              </a:rPr>
              <a:t>Linear slope of tear score over 300 frames</a:t>
            </a:r>
          </a:p>
          <a:p>
            <a:r>
              <a:rPr lang="en-US" sz="1000" b="0" dirty="0">
                <a:solidFill>
                  <a:srgbClr val="455A64"/>
                </a:solidFill>
              </a:rPr>
              <a:t>Linear slope of no_defect score over 300 frames</a:t>
            </a:r>
          </a:p>
          <a:p>
            <a:r>
              <a:rPr lang="en-US" sz="1000" b="0" dirty="0">
                <a:solidFill>
                  <a:srgbClr val="455A64"/>
                </a:solidFill>
              </a:rPr>
              <a:t>Mean tear score — last 50 timesteps</a:t>
            </a:r>
          </a:p>
          <a:p>
            <a:r>
              <a:rPr lang="en-US" sz="1000" b="0" dirty="0">
                <a:solidFill>
                  <a:srgbClr val="455A64"/>
                </a:solidFill>
              </a:rPr>
              <a:t>Mean tear score — first 50 timesteps</a:t>
            </a:r>
          </a:p>
          <a:p>
            <a:r>
              <a:rPr lang="en-US" sz="1000" b="0" dirty="0">
                <a:solidFill>
                  <a:srgbClr val="455A64"/>
                </a:solidFill>
              </a:rPr>
              <a:t>Difference: late50_mean – early50_mean (key discriminator)</a:t>
            </a:r>
          </a:p>
          <a:p>
            <a:r>
              <a:rPr lang="en-US" sz="1000" b="0" dirty="0">
                <a:solidFill>
                  <a:srgbClr val="2E7D32"/>
                </a:solidFill>
              </a:rPr>
              <a:t>Rationale: machine breaks show early tear buildup; paper breaks concentrate in last 50 frames</a:t>
            </a:r>
          </a:p>
        </p:txBody>
      </p:sp>
      <p:sp>
        <p:nvSpPr>
          <p:cNvPr id="9" name="R9"/>
          <p:cNvSpPr/>
          <p:nvPr/>
        </p:nvSpPr>
        <p:spPr>
          <a:xfrm>
            <a:off x="150000" y="2880000"/>
            <a:ext cx="4200000" cy="2050000"/>
          </a:xfrm>
          <a:prstGeom prst="rect">
            <a:avLst/>
          </a:prstGeom>
          <a:solidFill>
            <a:srgbClr val="F5F7FA"/>
          </a:solidFill>
          <a:ln w="18000">
            <a:solidFill>
              <a:srgbClr val="D0D7DE"/>
            </a:solidFill>
          </a:ln>
        </p:spPr>
        <p:txBody>
          <a:bodyPr/>
          <a:lstStyle/>
          <a:p>
            <a:endParaRPr/>
          </a:p>
        </p:txBody>
      </p:sp>
      <p:sp>
        <p:nvSpPr>
          <p:cNvPr id="10" name="T10"/>
          <p:cNvSpPr/>
          <p:nvPr/>
        </p:nvSpPr>
        <p:spPr>
          <a:xfrm>
            <a:off x="220000" y="2910000"/>
            <a:ext cx="4060000" cy="1990000"/>
          </a:xfrm>
          <a:prstGeom prst="rect">
            <a:avLst/>
          </a:prstGeom>
          <a:noFill/>
          <a:ln>
            <a:noFill/>
          </a:ln>
        </p:spPr>
        <p:txBody>
          <a:bodyPr lIns="180000" tIns="150000" anchor="t"/>
          <a:lstStyle/>
          <a:p>
            <a:r>
              <a:rPr lang="en-US" sz="1200" b="1" dirty="0">
                <a:solidFill>
                  <a:srgbClr val="1565C0"/>
                </a:solidFill>
              </a:rPr>
              <a:t>Uncertainty &amp; Variability Features  (18 total = 9 per camera)</a:t>
            </a:r>
          </a:p>
          <a:p>
            <a:r>
              <a:rPr lang="en-US" sz="1000" b="0" dirty="0">
                <a:solidFill>
                  <a:srgbClr val="455A64"/>
                </a:solidFill>
              </a:rPr>
              <a:t>Mean Shannon entropy of 5-category score distribution (300 timesteps)</a:t>
            </a:r>
          </a:p>
          <a:p>
            <a:r>
              <a:rPr lang="en-US" sz="1000" b="0" dirty="0">
                <a:solidFill>
                  <a:srgbClr val="455A64"/>
                </a:solidFill>
              </a:rPr>
              <a:t>Std deviation of per-timestep Shannon entropy</a:t>
            </a:r>
          </a:p>
          <a:p>
            <a:r>
              <a:rPr lang="en-US" sz="1000" b="0" dirty="0">
                <a:solidFill>
                  <a:srgbClr val="455A64"/>
                </a:solidFill>
              </a:rPr>
              <a:t>Variance of each 5 defect score channels (5 features)</a:t>
            </a:r>
          </a:p>
          <a:p>
            <a:r>
              <a:rPr lang="en-US" sz="1000" b="0" dirty="0">
                <a:solidFill>
                  <a:srgbClr val="455A64"/>
                </a:solidFill>
              </a:rPr>
              <a:t>Mean absolute difference between consecutive tear scores</a:t>
            </a:r>
          </a:p>
          <a:p>
            <a:r>
              <a:rPr lang="en-US" sz="1000" b="0" dirty="0">
                <a:solidFill>
                  <a:srgbClr val="455A64"/>
                </a:solidFill>
              </a:rPr>
              <a:t>Peak sharpness: max_tear – mean_tear_last50</a:t>
            </a:r>
          </a:p>
          <a:p>
            <a:r>
              <a:rPr lang="en-US" sz="1000" b="0" dirty="0">
                <a:solidFill>
                  <a:srgbClr val="2E7D32"/>
                </a:solidFill>
              </a:rPr>
              <a:t>Rationale: sudden paper breaks have higher tear sharpness and entropy spike near peak</a:t>
            </a:r>
          </a:p>
        </p:txBody>
      </p:sp>
      <p:sp>
        <p:nvSpPr>
          <p:cNvPr id="11" name="R11"/>
          <p:cNvSpPr/>
          <p:nvPr/>
        </p:nvSpPr>
        <p:spPr>
          <a:xfrm>
            <a:off x="4600000" y="2880000"/>
            <a:ext cx="4394000" cy="2050000"/>
          </a:xfrm>
          <a:prstGeom prst="rect">
            <a:avLst/>
          </a:prstGeom>
          <a:solidFill>
            <a:srgbClr val="F5F7FA"/>
          </a:solidFill>
          <a:ln w="18000">
            <a:solidFill>
              <a:srgbClr val="D0D7DE"/>
            </a:solidFill>
          </a:ln>
        </p:spPr>
        <p:txBody>
          <a:bodyPr/>
          <a:lstStyle/>
          <a:p>
            <a:endParaRPr/>
          </a:p>
        </p:txBody>
      </p:sp>
      <p:sp>
        <p:nvSpPr>
          <p:cNvPr id="12" name="T12"/>
          <p:cNvSpPr/>
          <p:nvPr/>
        </p:nvSpPr>
        <p:spPr>
          <a:xfrm>
            <a:off x="4670000" y="2910000"/>
            <a:ext cx="4254000" cy="1990000"/>
          </a:xfrm>
          <a:prstGeom prst="rect">
            <a:avLst/>
          </a:prstGeom>
          <a:noFill/>
          <a:ln>
            <a:noFill/>
          </a:ln>
        </p:spPr>
        <p:txBody>
          <a:bodyPr lIns="180000" tIns="150000" anchor="t"/>
          <a:lstStyle/>
          <a:p>
            <a:r>
              <a:rPr lang="en-US" sz="1200" b="1" dirty="0">
                <a:solidFill>
                  <a:srgbClr val="1565C0"/>
                </a:solidFill>
              </a:rPr>
              <a:t>Cross-Camera + Auxiliary + Metadata  (10 + continuous)</a:t>
            </a:r>
          </a:p>
          <a:p>
            <a:r>
              <a:rPr lang="en-US" sz="1000" b="0" dirty="0">
                <a:solidFill>
                  <a:srgbClr val="455A64"/>
                </a:solidFill>
              </a:rPr>
              <a:t>Cross-camera:  cam1_mean_tear – cam2_mean_tear</a:t>
            </a:r>
          </a:p>
          <a:p>
            <a:r>
              <a:rPr lang="en-US" sz="1000" b="0" dirty="0">
                <a:solidFill>
                  <a:srgbClr val="455A64"/>
                </a:solidFill>
              </a:rPr>
              <a:t>Cross-camera:  cam1_max_tear – cam2_max_tear</a:t>
            </a:r>
          </a:p>
          <a:p>
            <a:r>
              <a:rPr lang="en-US" sz="1000" b="0" dirty="0">
                <a:solidFill>
                  <a:srgbClr val="455A64"/>
                </a:solidFill>
              </a:rPr>
              <a:t>Auxiliary:  padding_fraction_cam1, padding_fraction_cam2, cam2_present flag</a:t>
            </a:r>
          </a:p>
          <a:p>
            <a:r>
              <a:rPr lang="en-US" sz="1000" b="0" dirty="0">
                <a:solidFill>
                  <a:srgbClr val="455A64"/>
                </a:solidFill>
              </a:rPr>
              <a:t>Metadata numeric (5):  speed, grammage_weight, web_width, pap_len, detector</a:t>
            </a:r>
          </a:p>
          <a:p>
            <a:r>
              <a:rPr lang="en-US" sz="1000" b="0" dirty="0">
                <a:solidFill>
                  <a:srgbClr val="455A64"/>
                </a:solidFill>
              </a:rPr>
              <a:t>Metadata categorical (3 one-hot):  printer, paper_grade, paper_supplier</a:t>
            </a:r>
          </a:p>
          <a:p>
            <a:r>
              <a:rPr lang="en-US" sz="1000" b="0" dirty="0">
                <a:solidFill>
                  <a:srgbClr val="C0504D"/>
                </a:solidFill>
              </a:rPr>
              <a:t>Categorical encoding fitted on training fold only. Unseen test categories → ignored.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640000"/>
          </a:xfrm>
          <a:prstGeom prst="rect">
            <a:avLst/>
          </a:prstGeom>
          <a:solidFill>
            <a:srgbClr val="1565C0"/>
          </a:solidFill>
          <a:ln>
            <a:noFill/>
          </a:ln>
        </p:spPr>
        <p:txBody>
          <a:bodyPr lIns="280000" anchor="ctr"/>
          <a:lstStyle/>
          <a:p>
            <a:r>
              <a:rPr lang="en-US" sz="800" b="1" dirty="0">
                <a:solidFill>
                  <a:srgbClr val="B3D1F5"/>
                </a:solidFill>
              </a:rPr>
              <a:t>A8  |  </a:t>
            </a:r>
            <a:r>
              <a:rPr lang="en-US" sz="1900" b="1" dirty="0">
                <a:solidFill>
                  <a:srgbClr val="FFFFFF"/>
                </a:solidFill>
              </a:rPr>
              <a:t>XGBoost Decision Tree : How One Tree Decides</a:t>
            </a:r>
          </a:p>
        </p:txBody>
      </p:sp>
      <p:sp>
        <p:nvSpPr>
          <p:cNvPr id="3" name="R3"/>
          <p:cNvSpPr/>
          <p:nvPr/>
        </p:nvSpPr>
        <p:spPr>
          <a:xfrm>
            <a:off x="0" y="640000"/>
            <a:ext cx="9144000" cy="70000"/>
          </a:xfrm>
          <a:prstGeom prst="rect">
            <a:avLst/>
          </a:prstGeom>
          <a:solidFill>
            <a:srgbClr val="E3F2FD"/>
          </a:solidFill>
          <a:ln>
            <a:noFill/>
          </a:ln>
        </p:spPr>
        <p:txBody>
          <a:bodyPr/>
          <a:lstStyle/>
          <a:p>
            <a:endParaRPr/>
          </a:p>
        </p:txBody>
      </p:sp>
      <p:sp>
        <p:nvSpPr>
          <p:cNvPr id="4" name="T4"/>
          <p:cNvSpPr/>
          <p:nvPr/>
        </p:nvSpPr>
        <p:spPr>
          <a:xfrm>
            <a:off x="200000" y="655000"/>
            <a:ext cx="8744000" cy="60000"/>
          </a:xfrm>
          <a:prstGeom prst="rect">
            <a:avLst/>
          </a:prstGeom>
          <a:noFill/>
          <a:ln>
            <a:noFill/>
          </a:ln>
        </p:spPr>
        <p:txBody>
          <a:bodyPr lIns="180000" tIns="150000" anchor="ctr"/>
          <a:lstStyle/>
          <a:p>
            <a:r>
              <a:rPr lang="en-US" sz="1100" b="0" dirty="0">
                <a:solidFill>
                  <a:srgbClr val="455A64"/>
                </a:solidFill>
              </a:rPr>
              <a:t>Tree 0 from fold 1 ensemble (~250 trees). Split thresholds in standardised units (StandardScaler). Green leaf = paper score, Red = machine score.</a:t>
            </a:r>
          </a:p>
        </p:txBody>
      </p:sp>
      <p:sp>
        <p:nvSpPr>
          <p:cNvPr id="5" name="R5"/>
          <p:cNvSpPr/>
          <p:nvPr/>
        </p:nvSpPr>
        <p:spPr>
          <a:xfrm>
            <a:off x="3890000" y="862625"/>
            <a:ext cx="1344000" cy="378250"/>
          </a:xfrm>
          <a:prstGeom prst="rect">
            <a:avLst/>
          </a:prstGeom>
          <a:solidFill>
            <a:srgbClr val="1565C0"/>
          </a:solidFill>
          <a:ln>
            <a:noFill/>
          </a:ln>
        </p:spPr>
        <p:txBody>
          <a:bodyPr/>
          <a:lstStyle/>
          <a:p>
            <a:endParaRPr/>
          </a:p>
        </p:txBody>
      </p:sp>
      <p:sp>
        <p:nvSpPr>
          <p:cNvPr id="6" name="T6"/>
          <p:cNvSpPr/>
          <p:nvPr/>
        </p:nvSpPr>
        <p:spPr>
          <a:xfrm>
            <a:off x="3900000" y="838345"/>
            <a:ext cx="1344000" cy="280000"/>
          </a:xfrm>
          <a:prstGeom prst="rect">
            <a:avLst/>
          </a:prstGeom>
          <a:noFill/>
          <a:ln>
            <a:noFill/>
          </a:ln>
        </p:spPr>
        <p:txBody>
          <a:bodyPr lIns="180000" tIns="150000" anchor="ctr"/>
          <a:lstStyle/>
          <a:p>
            <a:r>
              <a:rPr lang="en-US" sz="1000" b="1" dirty="0">
                <a:solidFill>
                  <a:srgbClr val="FFFFFF"/>
                </a:solidFill>
              </a:rPr>
              <a:t>cam1_max_tear &lt; 0.579</a:t>
            </a:r>
          </a:p>
        </p:txBody>
      </p:sp>
      <p:sp>
        <p:nvSpPr>
          <p:cNvPr id="7" name="T7"/>
          <p:cNvSpPr/>
          <p:nvPr/>
        </p:nvSpPr>
        <p:spPr>
          <a:xfrm>
            <a:off x="3900000" y="1252179"/>
            <a:ext cx="1344000" cy="200000"/>
          </a:xfrm>
          <a:prstGeom prst="rect">
            <a:avLst/>
          </a:prstGeom>
          <a:noFill/>
          <a:ln>
            <a:noFill/>
          </a:ln>
        </p:spPr>
        <p:txBody>
          <a:bodyPr lIns="180000" tIns="150000" anchor="ctr"/>
          <a:lstStyle/>
          <a:p>
            <a:r>
              <a:rPr lang="en-US" sz="900" b="1" dirty="0">
                <a:solidFill>
                  <a:srgbClr val="F9A825"/>
                </a:solidFill>
              </a:rPr>
              <a:t>Root Split (Most Important Feature)</a:t>
            </a:r>
          </a:p>
        </p:txBody>
      </p:sp>
      <p:sp>
        <p:nvSpPr>
          <p:cNvPr id="8" name="R8"/>
          <p:cNvSpPr/>
          <p:nvPr/>
        </p:nvSpPr>
        <p:spPr>
          <a:xfrm>
            <a:off x="800000" y="1315000"/>
            <a:ext cx="1500000" cy="250000"/>
          </a:xfrm>
          <a:prstGeom prst="rect">
            <a:avLst/>
          </a:prstGeom>
          <a:solidFill>
            <a:srgbClr val="E3F2FD"/>
          </a:solidFill>
          <a:ln w="18000">
            <a:solidFill>
              <a:srgbClr val="1565C0"/>
            </a:solidFill>
          </a:ln>
        </p:spPr>
        <p:txBody>
          <a:bodyPr/>
          <a:lstStyle/>
          <a:p>
            <a:endParaRPr/>
          </a:p>
        </p:txBody>
      </p:sp>
      <p:sp>
        <p:nvSpPr>
          <p:cNvPr id="9" name="T9"/>
          <p:cNvSpPr/>
          <p:nvPr/>
        </p:nvSpPr>
        <p:spPr>
          <a:xfrm>
            <a:off x="800000" y="1259858"/>
            <a:ext cx="1500000" cy="250000"/>
          </a:xfrm>
          <a:prstGeom prst="rect">
            <a:avLst/>
          </a:prstGeom>
          <a:noFill/>
          <a:ln>
            <a:noFill/>
          </a:ln>
        </p:spPr>
        <p:txBody>
          <a:bodyPr lIns="180000" tIns="150000" anchor="ctr"/>
          <a:lstStyle/>
          <a:p>
            <a:r>
              <a:rPr lang="en-US" sz="1000" b="1" dirty="0">
                <a:solidFill>
                  <a:srgbClr val="1565C0"/>
                </a:solidFill>
              </a:rPr>
              <a:t>YES (low tear peak)</a:t>
            </a:r>
          </a:p>
        </p:txBody>
      </p:sp>
      <p:sp>
        <p:nvSpPr>
          <p:cNvPr id="10" name="R10"/>
          <p:cNvSpPr/>
          <p:nvPr/>
        </p:nvSpPr>
        <p:spPr>
          <a:xfrm>
            <a:off x="6827368" y="1252179"/>
            <a:ext cx="1500000" cy="250000"/>
          </a:xfrm>
          <a:prstGeom prst="rect">
            <a:avLst/>
          </a:prstGeom>
          <a:solidFill>
            <a:srgbClr val="FFF3E0"/>
          </a:solidFill>
          <a:ln w="18000">
            <a:solidFill>
              <a:srgbClr val="F9A825"/>
            </a:solidFill>
          </a:ln>
        </p:spPr>
        <p:txBody>
          <a:bodyPr/>
          <a:lstStyle/>
          <a:p>
            <a:endParaRPr/>
          </a:p>
        </p:txBody>
      </p:sp>
      <p:sp>
        <p:nvSpPr>
          <p:cNvPr id="11" name="T11"/>
          <p:cNvSpPr/>
          <p:nvPr/>
        </p:nvSpPr>
        <p:spPr>
          <a:xfrm>
            <a:off x="6894000" y="1195378"/>
            <a:ext cx="1500000" cy="250000"/>
          </a:xfrm>
          <a:prstGeom prst="rect">
            <a:avLst/>
          </a:prstGeom>
          <a:noFill/>
          <a:ln>
            <a:noFill/>
          </a:ln>
        </p:spPr>
        <p:txBody>
          <a:bodyPr lIns="180000" tIns="150000" anchor="ctr"/>
          <a:lstStyle/>
          <a:p>
            <a:r>
              <a:rPr lang="en-US" sz="1000" b="1" dirty="0">
                <a:solidFill>
                  <a:srgbClr val="F9A825"/>
                </a:solidFill>
              </a:rPr>
              <a:t>NO (high tear peak)</a:t>
            </a:r>
          </a:p>
        </p:txBody>
      </p:sp>
      <p:sp>
        <p:nvSpPr>
          <p:cNvPr id="12" name="R12"/>
          <p:cNvSpPr/>
          <p:nvPr/>
        </p:nvSpPr>
        <p:spPr>
          <a:xfrm>
            <a:off x="300000" y="1643016"/>
            <a:ext cx="1500000" cy="326984"/>
          </a:xfrm>
          <a:prstGeom prst="rect">
            <a:avLst/>
          </a:prstGeom>
          <a:solidFill>
            <a:srgbClr val="E3F2FD"/>
          </a:solidFill>
          <a:ln w="18000">
            <a:solidFill>
              <a:srgbClr val="1565C0"/>
            </a:solidFill>
          </a:ln>
        </p:spPr>
        <p:txBody>
          <a:bodyPr/>
          <a:lstStyle/>
          <a:p>
            <a:endParaRPr/>
          </a:p>
        </p:txBody>
      </p:sp>
      <p:sp>
        <p:nvSpPr>
          <p:cNvPr id="13" name="T13"/>
          <p:cNvSpPr/>
          <p:nvPr/>
        </p:nvSpPr>
        <p:spPr>
          <a:xfrm>
            <a:off x="300000" y="1628250"/>
            <a:ext cx="1500000" cy="285000"/>
          </a:xfrm>
          <a:prstGeom prst="rect">
            <a:avLst/>
          </a:prstGeom>
          <a:noFill/>
          <a:ln>
            <a:noFill/>
          </a:ln>
        </p:spPr>
        <p:txBody>
          <a:bodyPr lIns="180000" tIns="150000" anchor="ctr"/>
          <a:lstStyle/>
          <a:p>
            <a:r>
              <a:rPr lang="en-US" sz="950" b="0" dirty="0">
                <a:solidFill>
                  <a:srgbClr val="1565C0"/>
                </a:solidFill>
              </a:rPr>
              <a:t>cam2_mean_rollen &lt; -0.658</a:t>
            </a:r>
          </a:p>
        </p:txBody>
      </p:sp>
      <p:sp>
        <p:nvSpPr>
          <p:cNvPr id="14" name="R14"/>
          <p:cNvSpPr/>
          <p:nvPr/>
        </p:nvSpPr>
        <p:spPr>
          <a:xfrm>
            <a:off x="2000000" y="1663250"/>
            <a:ext cx="1500000" cy="306750"/>
          </a:xfrm>
          <a:prstGeom prst="rect">
            <a:avLst/>
          </a:prstGeom>
          <a:solidFill>
            <a:srgbClr val="E3F2FD"/>
          </a:solidFill>
          <a:ln w="18000">
            <a:solidFill>
              <a:srgbClr val="1565C0"/>
            </a:solidFill>
          </a:ln>
        </p:spPr>
        <p:txBody>
          <a:bodyPr/>
          <a:lstStyle/>
          <a:p>
            <a:endParaRPr/>
          </a:p>
        </p:txBody>
      </p:sp>
      <p:sp>
        <p:nvSpPr>
          <p:cNvPr id="15" name="T15"/>
          <p:cNvSpPr/>
          <p:nvPr/>
        </p:nvSpPr>
        <p:spPr>
          <a:xfrm>
            <a:off x="2000000" y="1663250"/>
            <a:ext cx="1500000" cy="250000"/>
          </a:xfrm>
          <a:prstGeom prst="rect">
            <a:avLst/>
          </a:prstGeom>
          <a:noFill/>
          <a:ln>
            <a:noFill/>
          </a:ln>
        </p:spPr>
        <p:txBody>
          <a:bodyPr lIns="180000" tIns="150000" anchor="ctr"/>
          <a:lstStyle/>
          <a:p>
            <a:r>
              <a:rPr lang="en-US" sz="950" b="0" dirty="0">
                <a:solidFill>
                  <a:srgbClr val="1565C0"/>
                </a:solidFill>
              </a:rPr>
              <a:t>cam1_early_tear_mean &lt; -0.323</a:t>
            </a:r>
          </a:p>
        </p:txBody>
      </p:sp>
      <p:sp>
        <p:nvSpPr>
          <p:cNvPr id="16" name="R16"/>
          <p:cNvSpPr/>
          <p:nvPr/>
        </p:nvSpPr>
        <p:spPr>
          <a:xfrm>
            <a:off x="6077368" y="1640045"/>
            <a:ext cx="1500000" cy="250000"/>
          </a:xfrm>
          <a:prstGeom prst="rect">
            <a:avLst/>
          </a:prstGeom>
          <a:solidFill>
            <a:srgbClr val="FFF3E0"/>
          </a:solidFill>
          <a:ln w="18000">
            <a:solidFill>
              <a:srgbClr val="F9A825"/>
            </a:solidFill>
          </a:ln>
        </p:spPr>
        <p:txBody>
          <a:bodyPr/>
          <a:lstStyle/>
          <a:p>
            <a:endParaRPr/>
          </a:p>
        </p:txBody>
      </p:sp>
      <p:sp>
        <p:nvSpPr>
          <p:cNvPr id="17" name="T17"/>
          <p:cNvSpPr/>
          <p:nvPr/>
        </p:nvSpPr>
        <p:spPr>
          <a:xfrm>
            <a:off x="6194000" y="1605023"/>
            <a:ext cx="1500000" cy="250000"/>
          </a:xfrm>
          <a:prstGeom prst="rect">
            <a:avLst/>
          </a:prstGeom>
          <a:noFill/>
          <a:ln>
            <a:noFill/>
          </a:ln>
        </p:spPr>
        <p:txBody>
          <a:bodyPr lIns="180000" tIns="150000" anchor="ctr"/>
          <a:lstStyle/>
          <a:p>
            <a:r>
              <a:rPr lang="en-US" sz="950" b="0" dirty="0">
                <a:solidFill>
                  <a:srgbClr val="F9A825"/>
                </a:solidFill>
              </a:rPr>
              <a:t>pap_len &lt; -0.136</a:t>
            </a:r>
          </a:p>
        </p:txBody>
      </p:sp>
      <p:sp>
        <p:nvSpPr>
          <p:cNvPr id="18" name="R18"/>
          <p:cNvSpPr/>
          <p:nvPr/>
        </p:nvSpPr>
        <p:spPr>
          <a:xfrm>
            <a:off x="7657726" y="1631745"/>
            <a:ext cx="1347094" cy="250000"/>
          </a:xfrm>
          <a:prstGeom prst="rect">
            <a:avLst/>
          </a:prstGeom>
          <a:solidFill>
            <a:srgbClr val="FFF3E0"/>
          </a:solidFill>
          <a:ln w="18000">
            <a:solidFill>
              <a:srgbClr val="F9A825"/>
            </a:solidFill>
          </a:ln>
        </p:spPr>
        <p:txBody>
          <a:bodyPr/>
          <a:lstStyle/>
          <a:p>
            <a:endParaRPr/>
          </a:p>
        </p:txBody>
      </p:sp>
      <p:sp>
        <p:nvSpPr>
          <p:cNvPr id="19" name="T19"/>
          <p:cNvSpPr/>
          <p:nvPr/>
        </p:nvSpPr>
        <p:spPr>
          <a:xfrm>
            <a:off x="7621452" y="1574148"/>
            <a:ext cx="1500000" cy="250000"/>
          </a:xfrm>
          <a:prstGeom prst="rect">
            <a:avLst/>
          </a:prstGeom>
          <a:noFill/>
          <a:ln>
            <a:noFill/>
          </a:ln>
        </p:spPr>
        <p:txBody>
          <a:bodyPr lIns="180000" tIns="150000" anchor="ctr"/>
          <a:lstStyle/>
          <a:p>
            <a:r>
              <a:rPr lang="en-US" sz="950" b="0" dirty="0">
                <a:solidFill>
                  <a:srgbClr val="F9A825"/>
                </a:solidFill>
              </a:rPr>
              <a:t>grammage_wt &lt; -0.207</a:t>
            </a:r>
          </a:p>
        </p:txBody>
      </p:sp>
      <p:sp>
        <p:nvSpPr>
          <p:cNvPr id="20" name="R20"/>
          <p:cNvSpPr/>
          <p:nvPr/>
        </p:nvSpPr>
        <p:spPr>
          <a:xfrm>
            <a:off x="100000" y="2069999"/>
            <a:ext cx="700000" cy="428591"/>
          </a:xfrm>
          <a:prstGeom prst="rect">
            <a:avLst/>
          </a:prstGeom>
          <a:solidFill>
            <a:srgbClr val="FFCDD2"/>
          </a:solidFill>
          <a:ln>
            <a:noFill/>
          </a:ln>
        </p:spPr>
        <p:txBody>
          <a:bodyPr/>
          <a:lstStyle/>
          <a:p>
            <a:endParaRPr/>
          </a:p>
        </p:txBody>
      </p:sp>
      <p:sp>
        <p:nvSpPr>
          <p:cNvPr id="21" name="T21"/>
          <p:cNvSpPr/>
          <p:nvPr/>
        </p:nvSpPr>
        <p:spPr>
          <a:xfrm>
            <a:off x="100000" y="2070000"/>
            <a:ext cx="700000" cy="441750"/>
          </a:xfrm>
          <a:prstGeom prst="rect">
            <a:avLst/>
          </a:prstGeom>
          <a:noFill/>
          <a:ln>
            <a:noFill/>
          </a:ln>
        </p:spPr>
        <p:txBody>
          <a:bodyPr lIns="180000" tIns="150000" anchor="ctr"/>
          <a:lstStyle/>
          <a:p>
            <a:r>
              <a:rPr lang="en-US" sz="900" b="1" dirty="0">
                <a:solidFill>
                  <a:srgbClr val="C0504D"/>
                </a:solidFill>
              </a:rPr>
              <a:t>Machine -0.094</a:t>
            </a:r>
          </a:p>
        </p:txBody>
      </p:sp>
      <p:sp>
        <p:nvSpPr>
          <p:cNvPr id="22" name="R22"/>
          <p:cNvSpPr/>
          <p:nvPr/>
        </p:nvSpPr>
        <p:spPr>
          <a:xfrm>
            <a:off x="900000" y="2070000"/>
            <a:ext cx="700000" cy="441750"/>
          </a:xfrm>
          <a:prstGeom prst="rect">
            <a:avLst/>
          </a:prstGeom>
          <a:solidFill>
            <a:srgbClr val="E8F5E9"/>
          </a:solidFill>
          <a:ln>
            <a:noFill/>
          </a:ln>
        </p:spPr>
        <p:txBody>
          <a:bodyPr/>
          <a:lstStyle/>
          <a:p>
            <a:endParaRPr/>
          </a:p>
        </p:txBody>
      </p:sp>
      <p:sp>
        <p:nvSpPr>
          <p:cNvPr id="23" name="T23"/>
          <p:cNvSpPr/>
          <p:nvPr/>
        </p:nvSpPr>
        <p:spPr>
          <a:xfrm>
            <a:off x="900000" y="2070000"/>
            <a:ext cx="700000" cy="428592"/>
          </a:xfrm>
          <a:prstGeom prst="rect">
            <a:avLst/>
          </a:prstGeom>
          <a:noFill/>
          <a:ln>
            <a:noFill/>
          </a:ln>
        </p:spPr>
        <p:txBody>
          <a:bodyPr lIns="180000" tIns="150000" anchor="ctr"/>
          <a:lstStyle/>
          <a:p>
            <a:r>
              <a:rPr lang="en-US" sz="900" b="1" dirty="0">
                <a:solidFill>
                  <a:srgbClr val="2E7D32"/>
                </a:solidFill>
              </a:rPr>
              <a:t>Paper +0.057</a:t>
            </a:r>
          </a:p>
        </p:txBody>
      </p:sp>
      <p:sp>
        <p:nvSpPr>
          <p:cNvPr id="24" name="R24"/>
          <p:cNvSpPr/>
          <p:nvPr/>
        </p:nvSpPr>
        <p:spPr>
          <a:xfrm>
            <a:off x="1800000" y="2070000"/>
            <a:ext cx="700000" cy="428592"/>
          </a:xfrm>
          <a:prstGeom prst="rect">
            <a:avLst/>
          </a:prstGeom>
          <a:solidFill>
            <a:srgbClr val="E8F5E9"/>
          </a:solidFill>
          <a:ln>
            <a:noFill/>
          </a:ln>
        </p:spPr>
        <p:txBody>
          <a:bodyPr/>
          <a:lstStyle/>
          <a:p>
            <a:endParaRPr/>
          </a:p>
        </p:txBody>
      </p:sp>
      <p:sp>
        <p:nvSpPr>
          <p:cNvPr id="25" name="T25"/>
          <p:cNvSpPr/>
          <p:nvPr/>
        </p:nvSpPr>
        <p:spPr>
          <a:xfrm>
            <a:off x="1800000" y="2070000"/>
            <a:ext cx="700000" cy="441750"/>
          </a:xfrm>
          <a:prstGeom prst="rect">
            <a:avLst/>
          </a:prstGeom>
          <a:noFill/>
          <a:ln>
            <a:noFill/>
          </a:ln>
        </p:spPr>
        <p:txBody>
          <a:bodyPr lIns="180000" tIns="150000" anchor="ctr"/>
          <a:lstStyle/>
          <a:p>
            <a:r>
              <a:rPr lang="en-US" sz="900" b="1" dirty="0">
                <a:solidFill>
                  <a:srgbClr val="2E7D32"/>
                </a:solidFill>
              </a:rPr>
              <a:t>Paper +0.067</a:t>
            </a:r>
          </a:p>
        </p:txBody>
      </p:sp>
      <p:sp>
        <p:nvSpPr>
          <p:cNvPr id="26" name="R26"/>
          <p:cNvSpPr/>
          <p:nvPr/>
        </p:nvSpPr>
        <p:spPr>
          <a:xfrm>
            <a:off x="2600000" y="2070000"/>
            <a:ext cx="700000" cy="428590"/>
          </a:xfrm>
          <a:prstGeom prst="rect">
            <a:avLst/>
          </a:prstGeom>
          <a:solidFill>
            <a:srgbClr val="FFCDD2"/>
          </a:solidFill>
          <a:ln>
            <a:noFill/>
          </a:ln>
        </p:spPr>
        <p:txBody>
          <a:bodyPr/>
          <a:lstStyle/>
          <a:p>
            <a:endParaRPr/>
          </a:p>
        </p:txBody>
      </p:sp>
      <p:sp>
        <p:nvSpPr>
          <p:cNvPr id="27" name="T27"/>
          <p:cNvSpPr/>
          <p:nvPr/>
        </p:nvSpPr>
        <p:spPr>
          <a:xfrm>
            <a:off x="2600000" y="2070000"/>
            <a:ext cx="700000" cy="428590"/>
          </a:xfrm>
          <a:prstGeom prst="rect">
            <a:avLst/>
          </a:prstGeom>
          <a:noFill/>
          <a:ln>
            <a:noFill/>
          </a:ln>
        </p:spPr>
        <p:txBody>
          <a:bodyPr lIns="180000" tIns="150000" anchor="ctr"/>
          <a:lstStyle/>
          <a:p>
            <a:r>
              <a:rPr lang="en-US" sz="900" b="1" dirty="0">
                <a:solidFill>
                  <a:srgbClr val="C0504D"/>
                </a:solidFill>
              </a:rPr>
              <a:t>Machine -0.085</a:t>
            </a:r>
          </a:p>
        </p:txBody>
      </p:sp>
      <p:sp>
        <p:nvSpPr>
          <p:cNvPr id="28" name="R28"/>
          <p:cNvSpPr/>
          <p:nvPr/>
        </p:nvSpPr>
        <p:spPr>
          <a:xfrm>
            <a:off x="6144000" y="2070000"/>
            <a:ext cx="700000" cy="357224"/>
          </a:xfrm>
          <a:prstGeom prst="rect">
            <a:avLst/>
          </a:prstGeom>
          <a:solidFill>
            <a:srgbClr val="FFCDD2"/>
          </a:solidFill>
          <a:ln>
            <a:noFill/>
          </a:ln>
        </p:spPr>
        <p:txBody>
          <a:bodyPr/>
          <a:lstStyle/>
          <a:p>
            <a:endParaRPr/>
          </a:p>
        </p:txBody>
      </p:sp>
      <p:sp>
        <p:nvSpPr>
          <p:cNvPr id="29" name="T29"/>
          <p:cNvSpPr/>
          <p:nvPr/>
        </p:nvSpPr>
        <p:spPr>
          <a:xfrm>
            <a:off x="6144000" y="2046789"/>
            <a:ext cx="700000" cy="357224"/>
          </a:xfrm>
          <a:prstGeom prst="rect">
            <a:avLst/>
          </a:prstGeom>
          <a:noFill/>
          <a:ln>
            <a:noFill/>
          </a:ln>
        </p:spPr>
        <p:txBody>
          <a:bodyPr lIns="180000" tIns="150000" anchor="ctr"/>
          <a:lstStyle/>
          <a:p>
            <a:r>
              <a:rPr lang="en-US" sz="900" b="1" dirty="0">
                <a:solidFill>
                  <a:srgbClr val="C0504D"/>
                </a:solidFill>
              </a:rPr>
              <a:t>Machine -0.097</a:t>
            </a:r>
          </a:p>
        </p:txBody>
      </p:sp>
      <p:sp>
        <p:nvSpPr>
          <p:cNvPr id="30" name="R30"/>
          <p:cNvSpPr/>
          <p:nvPr/>
        </p:nvSpPr>
        <p:spPr>
          <a:xfrm>
            <a:off x="6944000" y="2070000"/>
            <a:ext cx="700000" cy="357224"/>
          </a:xfrm>
          <a:prstGeom prst="rect">
            <a:avLst/>
          </a:prstGeom>
          <a:solidFill>
            <a:srgbClr val="E8F5E9"/>
          </a:solidFill>
          <a:ln>
            <a:noFill/>
          </a:ln>
        </p:spPr>
        <p:txBody>
          <a:bodyPr/>
          <a:lstStyle/>
          <a:p>
            <a:endParaRPr/>
          </a:p>
        </p:txBody>
      </p:sp>
      <p:sp>
        <p:nvSpPr>
          <p:cNvPr id="31" name="T31"/>
          <p:cNvSpPr/>
          <p:nvPr/>
        </p:nvSpPr>
        <p:spPr>
          <a:xfrm>
            <a:off x="6957726" y="2013860"/>
            <a:ext cx="700000" cy="357224"/>
          </a:xfrm>
          <a:prstGeom prst="rect">
            <a:avLst/>
          </a:prstGeom>
          <a:noFill/>
          <a:ln>
            <a:noFill/>
          </a:ln>
        </p:spPr>
        <p:txBody>
          <a:bodyPr lIns="180000" tIns="150000" anchor="ctr"/>
          <a:lstStyle/>
          <a:p>
            <a:r>
              <a:rPr lang="en-US" sz="900" b="1" dirty="0">
                <a:solidFill>
                  <a:srgbClr val="2E7D32"/>
                </a:solidFill>
              </a:rPr>
              <a:t>Paper +0.084</a:t>
            </a:r>
          </a:p>
        </p:txBody>
      </p:sp>
      <p:sp>
        <p:nvSpPr>
          <p:cNvPr id="32" name="R32"/>
          <p:cNvSpPr/>
          <p:nvPr/>
        </p:nvSpPr>
        <p:spPr>
          <a:xfrm>
            <a:off x="7744000" y="2070000"/>
            <a:ext cx="700000" cy="357224"/>
          </a:xfrm>
          <a:prstGeom prst="rect">
            <a:avLst/>
          </a:prstGeom>
          <a:solidFill>
            <a:srgbClr val="FFCDD2"/>
          </a:solidFill>
          <a:ln>
            <a:noFill/>
          </a:ln>
        </p:spPr>
        <p:txBody>
          <a:bodyPr/>
          <a:lstStyle/>
          <a:p>
            <a:endParaRPr/>
          </a:p>
        </p:txBody>
      </p:sp>
      <p:sp>
        <p:nvSpPr>
          <p:cNvPr id="33" name="T33"/>
          <p:cNvSpPr/>
          <p:nvPr/>
        </p:nvSpPr>
        <p:spPr>
          <a:xfrm>
            <a:off x="7744000" y="2070000"/>
            <a:ext cx="700000" cy="220000"/>
          </a:xfrm>
          <a:prstGeom prst="rect">
            <a:avLst/>
          </a:prstGeom>
          <a:noFill/>
          <a:ln>
            <a:noFill/>
          </a:ln>
        </p:spPr>
        <p:txBody>
          <a:bodyPr lIns="180000" tIns="150000" anchor="ctr"/>
          <a:lstStyle/>
          <a:p>
            <a:r>
              <a:rPr lang="en-US" sz="900" b="1" dirty="0">
                <a:solidFill>
                  <a:srgbClr val="C0504D"/>
                </a:solidFill>
              </a:rPr>
              <a:t>Machine -0.049</a:t>
            </a:r>
          </a:p>
        </p:txBody>
      </p:sp>
      <p:sp>
        <p:nvSpPr>
          <p:cNvPr id="34" name="R34"/>
          <p:cNvSpPr/>
          <p:nvPr/>
        </p:nvSpPr>
        <p:spPr>
          <a:xfrm>
            <a:off x="150000" y="2631750"/>
            <a:ext cx="8844000" cy="2381408"/>
          </a:xfrm>
          <a:prstGeom prst="rect">
            <a:avLst/>
          </a:prstGeom>
          <a:solidFill>
            <a:srgbClr val="F5F7FA"/>
          </a:solidFill>
          <a:ln w="18000">
            <a:solidFill>
              <a:srgbClr val="D0D7DE"/>
            </a:solidFill>
          </a:ln>
        </p:spPr>
        <p:txBody>
          <a:bodyPr/>
          <a:lstStyle/>
          <a:p>
            <a:endParaRPr/>
          </a:p>
        </p:txBody>
      </p:sp>
      <p:sp>
        <p:nvSpPr>
          <p:cNvPr id="35" name="T35"/>
          <p:cNvSpPr/>
          <p:nvPr/>
        </p:nvSpPr>
        <p:spPr>
          <a:xfrm>
            <a:off x="280000" y="2730000"/>
            <a:ext cx="8564000" cy="2150000"/>
          </a:xfrm>
          <a:prstGeom prst="rect">
            <a:avLst/>
          </a:prstGeom>
          <a:noFill/>
          <a:ln>
            <a:noFill/>
          </a:ln>
        </p:spPr>
        <p:txBody>
          <a:bodyPr lIns="180000" tIns="150000" anchor="t"/>
          <a:lstStyle/>
          <a:p>
            <a:r>
              <a:rPr lang="en-US" sz="1300" b="1" dirty="0">
                <a:solidFill>
                  <a:srgbClr val="1565C0"/>
                </a:solidFill>
              </a:rPr>
              <a:t>How to Read This Tree:</a:t>
            </a:r>
          </a:p>
          <a:p>
            <a:endParaRPr lang="en-US" sz="1300" b="1" dirty="0">
              <a:solidFill>
                <a:srgbClr val="1565C0"/>
              </a:solidFill>
            </a:endParaRPr>
          </a:p>
          <a:p>
            <a:r>
              <a:rPr lang="en-US" sz="1100" b="0" dirty="0">
                <a:solidFill>
                  <a:srgbClr val="1A1A2E"/>
                </a:solidFill>
              </a:rPr>
              <a:t>Root: cam1_max_tear (maximum tear score from camera 1 across 300 frames) is the single most discriminative feature. This mirrors the feature importance chart.</a:t>
            </a:r>
          </a:p>
          <a:p>
            <a:r>
              <a:rPr lang="en-US" sz="1050" b="0" dirty="0">
                <a:solidFill>
                  <a:srgbClr val="455A64"/>
                </a:solidFill>
              </a:rPr>
              <a:t>Left branch (low tear peak):  XGBoost interrogates camera 2 roll-change signal and early-window tear mean — searching for indirect evidence of machine vs paper origin when the tear peak itself is ambiguous.</a:t>
            </a:r>
          </a:p>
          <a:p>
            <a:r>
              <a:rPr lang="en-US" sz="1050" b="0" dirty="0">
                <a:solidFill>
                  <a:srgbClr val="455A64"/>
                </a:solidFill>
              </a:rPr>
              <a:t>Right branch (high tear peak):  XGBoost immediately examines paper length (pap_len) and grammage weight — metadata refinements that distinguish paper-caused tears from machine-induced ones once a prominent tear is confirmed.</a:t>
            </a:r>
          </a:p>
          <a:p>
            <a:r>
              <a:rPr lang="en-US" sz="1050" b="0" dirty="0">
                <a:solidFill>
                  <a:srgbClr val="455A64"/>
                </a:solidFill>
              </a:rPr>
              <a:t>Leaf scores:  Each leaf contributes a small positive (toward paper) or negative (toward machine) score. Final probability = sigmoid of sum across all ~250 trees.</a:t>
            </a:r>
          </a:p>
          <a:p>
            <a:r>
              <a:rPr lang="en-US" sz="1100" b="1" dirty="0">
                <a:solidFill>
                  <a:srgbClr val="2E7D32"/>
                </a:solidFill>
              </a:rPr>
              <a:t>Key insight:  Camera features dominate upper tree levels; metadata appears at depth 2+ as secondary refinements. Exactly mirrors the joint importance finding.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32000"/>
          </a:xfrm>
          <a:prstGeom prst="rect">
            <a:avLst/>
          </a:prstGeom>
          <a:solidFill>
            <a:srgbClr val="1565C0"/>
          </a:solidFill>
          <a:ln>
            <a:noFill/>
          </a:ln>
        </p:spPr>
        <p:txBody>
          <a:bodyPr lIns="280000" anchor="ctr"/>
          <a:lstStyle/>
          <a:p>
            <a:r>
              <a:rPr lang="en-US" sz="800" b="1" dirty="0">
                <a:solidFill>
                  <a:srgbClr val="B3D1F5"/>
                </a:solidFill>
              </a:rPr>
              <a:t>A10  |  </a:t>
            </a:r>
            <a:r>
              <a:rPr lang="en-US" sz="1900" b="1" dirty="0">
                <a:solidFill>
                  <a:srgbClr val="FFFFFF"/>
                </a:solidFill>
              </a:rPr>
              <a:t>Why Early Fusion Fails : Architectural Mechanism</a:t>
            </a:r>
          </a:p>
        </p:txBody>
      </p:sp>
      <p:sp>
        <p:nvSpPr>
          <p:cNvPr id="4" name="T4"/>
          <p:cNvSpPr/>
          <p:nvPr/>
        </p:nvSpPr>
        <p:spPr>
          <a:xfrm>
            <a:off x="220000" y="533250"/>
            <a:ext cx="8744000" cy="60000"/>
          </a:xfrm>
          <a:prstGeom prst="rect">
            <a:avLst/>
          </a:prstGeom>
          <a:noFill/>
          <a:ln>
            <a:noFill/>
          </a:ln>
        </p:spPr>
        <p:txBody>
          <a:bodyPr lIns="180000" tIns="150000" anchor="ctr"/>
          <a:lstStyle/>
          <a:p>
            <a:r>
              <a:rPr lang="en-US" sz="1100" b="0" dirty="0">
                <a:solidFill>
                  <a:srgbClr val="455A64"/>
                </a:solidFill>
              </a:rPr>
              <a:t>Same 8 metadata fields. XGBoost gains +0.07 AUC. TapNet gains +0.04 AUC. Why 1.6x difference?</a:t>
            </a:r>
          </a:p>
        </p:txBody>
      </p:sp>
      <p:sp>
        <p:nvSpPr>
          <p:cNvPr id="5" name="R5"/>
          <p:cNvSpPr/>
          <p:nvPr/>
        </p:nvSpPr>
        <p:spPr>
          <a:xfrm>
            <a:off x="180000" y="758500"/>
            <a:ext cx="4200000" cy="3127858"/>
          </a:xfrm>
          <a:prstGeom prst="rect">
            <a:avLst/>
          </a:prstGeom>
          <a:solidFill>
            <a:srgbClr val="FFF8E1"/>
          </a:solidFill>
          <a:ln w="18000">
            <a:solidFill>
              <a:srgbClr val="F9A825"/>
            </a:solidFill>
          </a:ln>
        </p:spPr>
        <p:txBody>
          <a:bodyPr/>
          <a:lstStyle/>
          <a:p>
            <a:endParaRPr/>
          </a:p>
        </p:txBody>
      </p:sp>
      <p:sp>
        <p:nvSpPr>
          <p:cNvPr id="6" name="T6"/>
          <p:cNvSpPr/>
          <p:nvPr/>
        </p:nvSpPr>
        <p:spPr>
          <a:xfrm>
            <a:off x="220000" y="728574"/>
            <a:ext cx="4040000" cy="2881215"/>
          </a:xfrm>
          <a:prstGeom prst="rect">
            <a:avLst/>
          </a:prstGeom>
          <a:noFill/>
          <a:ln>
            <a:noFill/>
          </a:ln>
        </p:spPr>
        <p:txBody>
          <a:bodyPr lIns="180000" tIns="150000" anchor="t"/>
          <a:lstStyle/>
          <a:p>
            <a:r>
              <a:rPr lang="en-US" sz="1300" b="1" dirty="0">
                <a:solidFill>
                  <a:srgbClr val="F9A825"/>
                </a:solidFill>
              </a:rPr>
              <a:t>XGBoost: How Metadata Is Used</a:t>
            </a:r>
          </a:p>
          <a:p>
            <a:endParaRPr lang="en-US" sz="1300" b="1" dirty="0">
              <a:solidFill>
                <a:srgbClr val="F9A825"/>
              </a:solidFill>
            </a:endParaRPr>
          </a:p>
          <a:p>
            <a:r>
              <a:rPr lang="en-US" sz="1050" b="0" dirty="0">
                <a:solidFill>
                  <a:srgbClr val="1A1A2E"/>
                </a:solidFill>
              </a:rPr>
              <a:t>Step 1:  Metadata stored as pre-computed tabular features (speed, grammage, printer ID, etc.)</a:t>
            </a:r>
          </a:p>
          <a:p>
            <a:r>
              <a:rPr lang="en-US" sz="1050" b="0" dirty="0">
                <a:solidFill>
                  <a:srgbClr val="1A1A2E"/>
                </a:solidFill>
              </a:rPr>
              <a:t>Step 2:  XGBoost performs direct categorical splits</a:t>
            </a:r>
          </a:p>
          <a:p>
            <a:r>
              <a:rPr lang="en-US" sz="1050" b="1" dirty="0">
                <a:solidFill>
                  <a:srgbClr val="2E7D32"/>
                </a:solidFill>
              </a:rPr>
              <a:t>         IF paper_grade = “XLNT Light” THEN score +0.05</a:t>
            </a:r>
          </a:p>
          <a:p>
            <a:r>
              <a:rPr lang="en-US" sz="1050" b="1" dirty="0">
                <a:solidFill>
                  <a:srgbClr val="2E7D32"/>
                </a:solidFill>
              </a:rPr>
              <a:t>         IF speed &lt; -1.1 (std) THEN score -0.09</a:t>
            </a:r>
          </a:p>
          <a:p>
            <a:r>
              <a:rPr lang="en-US" sz="1050" b="0" dirty="0">
                <a:solidFill>
                  <a:srgbClr val="1A1A2E"/>
                </a:solidFill>
              </a:rPr>
              <a:t>Step 3:  Split tested in O(n) time with minimal parameters</a:t>
            </a:r>
          </a:p>
          <a:p>
            <a:endParaRPr lang="en-US" sz="1050" b="0" dirty="0">
              <a:solidFill>
                <a:srgbClr val="1A1A2E"/>
              </a:solidFill>
            </a:endParaRPr>
          </a:p>
          <a:p>
            <a:r>
              <a:rPr lang="en-US" sz="1100" b="1" dirty="0">
                <a:solidFill>
                  <a:srgbClr val="2E7D32"/>
                </a:solidFill>
              </a:rPr>
              <a:t>Required learning:  Zero additional gradient steps. Categorical splits are exact and deterministic.</a:t>
            </a:r>
          </a:p>
          <a:p>
            <a:endParaRPr lang="en-US" sz="1100" b="1" dirty="0">
              <a:solidFill>
                <a:srgbClr val="2E7D32"/>
              </a:solidFill>
            </a:endParaRPr>
          </a:p>
          <a:p>
            <a:r>
              <a:rPr lang="en-US" sz="1000" b="0" dirty="0">
                <a:solidFill>
                  <a:srgbClr val="455A64"/>
                </a:solidFill>
              </a:rPr>
              <a:t>Why it works:  paper_grade encodes tensile properties of the paper. printer encodes machine-specific break rate priors. These are direct causal factors — the model can use them immediately.</a:t>
            </a:r>
          </a:p>
        </p:txBody>
      </p:sp>
      <p:sp>
        <p:nvSpPr>
          <p:cNvPr id="7" name="R7"/>
          <p:cNvSpPr/>
          <p:nvPr/>
        </p:nvSpPr>
        <p:spPr>
          <a:xfrm>
            <a:off x="4550000" y="760000"/>
            <a:ext cx="4494000" cy="3126358"/>
          </a:xfrm>
          <a:prstGeom prst="rect">
            <a:avLst/>
          </a:prstGeom>
          <a:solidFill>
            <a:srgbClr val="FFEBEE"/>
          </a:solidFill>
          <a:ln w="18000">
            <a:solidFill>
              <a:srgbClr val="C0504D"/>
            </a:solidFill>
          </a:ln>
        </p:spPr>
        <p:txBody>
          <a:bodyPr/>
          <a:lstStyle/>
          <a:p>
            <a:endParaRPr/>
          </a:p>
        </p:txBody>
      </p:sp>
      <p:sp>
        <p:nvSpPr>
          <p:cNvPr id="8" name="T8"/>
          <p:cNvSpPr/>
          <p:nvPr/>
        </p:nvSpPr>
        <p:spPr>
          <a:xfrm>
            <a:off x="4572000" y="684374"/>
            <a:ext cx="4334000" cy="3126358"/>
          </a:xfrm>
          <a:prstGeom prst="rect">
            <a:avLst/>
          </a:prstGeom>
          <a:noFill/>
          <a:ln>
            <a:noFill/>
          </a:ln>
        </p:spPr>
        <p:txBody>
          <a:bodyPr lIns="180000" tIns="150000" anchor="t"/>
          <a:lstStyle/>
          <a:p>
            <a:r>
              <a:rPr lang="en-US" sz="1300" b="1" dirty="0">
                <a:solidFill>
                  <a:srgbClr val="C0504D"/>
                </a:solidFill>
              </a:rPr>
              <a:t>TapNet: Early Fusion (What Actually Happens)</a:t>
            </a:r>
          </a:p>
          <a:p>
            <a:endParaRPr lang="en-US" sz="1300" b="1" dirty="0">
              <a:solidFill>
                <a:srgbClr val="C0504D"/>
              </a:solidFill>
            </a:endParaRPr>
          </a:p>
          <a:p>
            <a:r>
              <a:rPr lang="en-US" sz="1050" b="0" dirty="0">
                <a:solidFill>
                  <a:srgbClr val="1A1A2E"/>
                </a:solidFill>
              </a:rPr>
              <a:t>Step 1:  8 metadata fields repeated across all 300 timesteps, concatenated to (300, 10) → (300, 18)</a:t>
            </a:r>
          </a:p>
          <a:p>
            <a:r>
              <a:rPr lang="en-US" sz="1050" b="0" dirty="0">
                <a:solidFill>
                  <a:srgbClr val="1A1A2E"/>
                </a:solidFill>
              </a:rPr>
              <a:t>Step 2:  LSTM processes 300-step sequence of 18-dim vectors. Metadata is constant across time — identical value at every timestep.</a:t>
            </a:r>
          </a:p>
          <a:p>
            <a:r>
              <a:rPr lang="en-US" sz="1050" b="1" dirty="0">
                <a:solidFill>
                  <a:srgbClr val="C0504D"/>
                </a:solidFill>
              </a:rPr>
              <a:t>Step 3:  LSTM forget gate progressively attenuates early timestep signals over 300 steps. Constant metadata channels may be suppressed as non-temporal.</a:t>
            </a:r>
          </a:p>
          <a:p>
            <a:r>
              <a:rPr lang="en-US" sz="1050" b="0" dirty="0">
                <a:solidFill>
                  <a:srgbClr val="1A1A2E"/>
                </a:solidFill>
              </a:rPr>
              <a:t>Step 4:  Self-attention must learn which of 18 channels matter for which time pairs — a far larger hypothesis space than before.</a:t>
            </a:r>
          </a:p>
          <a:p>
            <a:endParaRPr lang="en-US" sz="1050" b="0" dirty="0">
              <a:solidFill>
                <a:srgbClr val="1A1A2E"/>
              </a:solidFill>
            </a:endParaRPr>
          </a:p>
          <a:p>
            <a:r>
              <a:rPr lang="en-US" sz="1100" b="1" dirty="0">
                <a:solidFill>
                  <a:srgbClr val="C0504D"/>
                </a:solidFill>
              </a:rPr>
              <a:t>Required learning:  Gradient descent over 300 timesteps from 7,505 training events. Model must discover metadata relevance implicitly.</a:t>
            </a:r>
          </a:p>
          <a:p>
            <a:endParaRPr lang="en-US" sz="1100" b="1" dirty="0">
              <a:solidFill>
                <a:srgbClr val="C0504D"/>
              </a:solidFill>
            </a:endParaRPr>
          </a:p>
          <a:p>
            <a:r>
              <a:rPr lang="en-US" sz="1000" b="0" dirty="0">
                <a:solidFill>
                  <a:srgbClr val="455A64"/>
                </a:solidFill>
              </a:rPr>
              <a:t>Why it’s less efficient:  Constant channels across time violate the temporal assumption of LSTM/attention. No inherent mechanism to treat metadata as event-level context rather than time-varying signal.</a:t>
            </a:r>
          </a:p>
        </p:txBody>
      </p:sp>
      <p:sp>
        <p:nvSpPr>
          <p:cNvPr id="9" name="R9"/>
          <p:cNvSpPr/>
          <p:nvPr/>
        </p:nvSpPr>
        <p:spPr>
          <a:xfrm>
            <a:off x="180000" y="3968426"/>
            <a:ext cx="8944000" cy="1115074"/>
          </a:xfrm>
          <a:prstGeom prst="rect">
            <a:avLst/>
          </a:prstGeom>
          <a:solidFill>
            <a:srgbClr val="E8F5E9"/>
          </a:solidFill>
          <a:ln w="18000">
            <a:solidFill>
              <a:srgbClr val="2E7D32"/>
            </a:solidFill>
          </a:ln>
        </p:spPr>
        <p:txBody>
          <a:bodyPr/>
          <a:lstStyle/>
          <a:p>
            <a:endParaRPr/>
          </a:p>
        </p:txBody>
      </p:sp>
      <p:sp>
        <p:nvSpPr>
          <p:cNvPr id="10" name="T10"/>
          <p:cNvSpPr/>
          <p:nvPr/>
        </p:nvSpPr>
        <p:spPr>
          <a:xfrm>
            <a:off x="198000" y="3892800"/>
            <a:ext cx="8704000" cy="1190700"/>
          </a:xfrm>
          <a:prstGeom prst="rect">
            <a:avLst/>
          </a:prstGeom>
          <a:noFill/>
          <a:ln>
            <a:noFill/>
          </a:ln>
        </p:spPr>
        <p:txBody>
          <a:bodyPr lIns="180000" tIns="150000" anchor="t"/>
          <a:lstStyle/>
          <a:p>
            <a:r>
              <a:rPr lang="en-US" sz="1300" b="1" dirty="0">
                <a:solidFill>
                  <a:srgbClr val="2E7D32"/>
                </a:solidFill>
              </a:rPr>
              <a:t>Core Insight:</a:t>
            </a:r>
          </a:p>
          <a:p>
            <a:r>
              <a:rPr lang="en-US" sz="1100" b="0" dirty="0">
                <a:solidFill>
                  <a:srgbClr val="1A1A2E"/>
                </a:solidFill>
              </a:rPr>
              <a:t>The gap is not about information content — both models receive identical metadata. It is about the integration mechanism.</a:t>
            </a:r>
          </a:p>
          <a:p>
            <a:r>
              <a:rPr lang="en-US" sz="1050" b="0" dirty="0">
                <a:solidFill>
                  <a:srgbClr val="455A64"/>
                </a:solidFill>
              </a:rPr>
              <a:t>Gradient boosted trees exploit structured categorical context natively through direct splits. Deep learning models must learn this through gradient descent  a substantially less data-efficient process, especially under 5.25:1 class imbalance.</a:t>
            </a:r>
          </a:p>
          <a:p>
            <a:r>
              <a:rPr lang="en-US" sz="1050" b="0" dirty="0">
                <a:solidFill>
                  <a:srgbClr val="1565C0"/>
                </a:solidFill>
              </a:rPr>
              <a:t>Solution:  If deep learning is required (e.g. for scalability), a metadata-native architecture (cross-attention between metadata tokens and time series embeddings) would be more effective than raw channel concatenation.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510000"/>
          </a:xfrm>
          <a:prstGeom prst="rect">
            <a:avLst/>
          </a:prstGeom>
          <a:solidFill>
            <a:srgbClr val="1565C0"/>
          </a:solidFill>
          <a:ln>
            <a:noFill/>
          </a:ln>
        </p:spPr>
        <p:txBody>
          <a:bodyPr lIns="280000" anchor="ctr"/>
          <a:lstStyle/>
          <a:p>
            <a:r>
              <a:rPr lang="en-US" sz="800" b="1" dirty="0">
                <a:solidFill>
                  <a:srgbClr val="B3D1F5"/>
                </a:solidFill>
              </a:rPr>
              <a:t>A11  |  </a:t>
            </a:r>
            <a:r>
              <a:rPr lang="en-US" sz="1900" b="1" dirty="0">
                <a:solidFill>
                  <a:srgbClr val="FFFFFF"/>
                </a:solidFill>
              </a:rPr>
              <a:t>LLM Failure — Why Providing Rules Made It Worse</a:t>
            </a:r>
          </a:p>
        </p:txBody>
      </p:sp>
      <p:sp>
        <p:nvSpPr>
          <p:cNvPr id="4" name="T4"/>
          <p:cNvSpPr/>
          <p:nvPr/>
        </p:nvSpPr>
        <p:spPr>
          <a:xfrm>
            <a:off x="28000" y="644253"/>
            <a:ext cx="8744000" cy="60000"/>
          </a:xfrm>
          <a:prstGeom prst="rect">
            <a:avLst/>
          </a:prstGeom>
          <a:noFill/>
          <a:ln>
            <a:noFill/>
          </a:ln>
        </p:spPr>
        <p:txBody>
          <a:bodyPr lIns="180000" tIns="150000" anchor="ctr"/>
          <a:lstStyle/>
          <a:p>
            <a:r>
              <a:rPr lang="en-US" sz="1100" b="0" dirty="0">
                <a:solidFill>
                  <a:srgbClr val="455A64"/>
                </a:solidFill>
              </a:rPr>
              <a:t>v5 gave GPT-4o the exact XGBoost thresholds. Paper recall dropped from 45% to 18%. Paper F1 dropped from 0.22 to 0.12. This is the diagnostic slide.</a:t>
            </a:r>
          </a:p>
        </p:txBody>
      </p:sp>
      <p:sp>
        <p:nvSpPr>
          <p:cNvPr id="5" name="R5"/>
          <p:cNvSpPr/>
          <p:nvPr/>
        </p:nvSpPr>
        <p:spPr>
          <a:xfrm>
            <a:off x="100000" y="760000"/>
            <a:ext cx="4200000" cy="1465747"/>
          </a:xfrm>
          <a:prstGeom prst="rect">
            <a:avLst/>
          </a:prstGeom>
          <a:solidFill>
            <a:srgbClr val="F5F7FA"/>
          </a:solidFill>
          <a:ln w="18000">
            <a:solidFill>
              <a:srgbClr val="D0D7DE"/>
            </a:solidFill>
          </a:ln>
        </p:spPr>
        <p:txBody>
          <a:bodyPr/>
          <a:lstStyle/>
          <a:p>
            <a:endParaRPr/>
          </a:p>
        </p:txBody>
      </p:sp>
      <p:sp>
        <p:nvSpPr>
          <p:cNvPr id="6" name="T6"/>
          <p:cNvSpPr/>
          <p:nvPr/>
        </p:nvSpPr>
        <p:spPr>
          <a:xfrm>
            <a:off x="100000" y="695747"/>
            <a:ext cx="4040000" cy="1530000"/>
          </a:xfrm>
          <a:prstGeom prst="rect">
            <a:avLst/>
          </a:prstGeom>
          <a:noFill/>
          <a:ln>
            <a:noFill/>
          </a:ln>
        </p:spPr>
        <p:txBody>
          <a:bodyPr lIns="180000" tIns="150000" anchor="t"/>
          <a:lstStyle/>
          <a:p>
            <a:r>
              <a:rPr lang="en-US" sz="1300" b="1" dirty="0">
                <a:solidFill>
                  <a:srgbClr val="455A64"/>
                </a:solidFill>
              </a:rPr>
              <a:t>Configuration v3 (Baseline)</a:t>
            </a:r>
          </a:p>
          <a:p>
            <a:r>
              <a:rPr lang="en-US" sz="1050" b="0" dirty="0">
                <a:solidFill>
                  <a:srgbClr val="455A64"/>
                </a:solidFill>
              </a:rPr>
              <a:t>5 examples per class, standard few-shot prompting</a:t>
            </a:r>
          </a:p>
          <a:p>
            <a:r>
              <a:rPr lang="en-US" sz="1050" b="0" dirty="0">
                <a:solidFill>
                  <a:srgbClr val="455A64"/>
                </a:solidFill>
              </a:rPr>
              <a:t>System prompt: classify as machine or paper based on encoded sequence + metadata</a:t>
            </a:r>
          </a:p>
          <a:p>
            <a:r>
              <a:rPr lang="en-US" sz="1100" b="1" dirty="0">
                <a:solidFill>
                  <a:srgbClr val="1565C0"/>
                </a:solidFill>
              </a:rPr>
              <a:t>Result:  Machine recall 66%, Paper recall 46%, Paper F1 0.22, Accuracy 64%</a:t>
            </a:r>
          </a:p>
          <a:p>
            <a:r>
              <a:rPr lang="en-US" sz="1000" b="0" dirty="0">
                <a:solidFill>
                  <a:srgbClr val="455A64"/>
                </a:solidFill>
              </a:rPr>
              <a:t>89 machine events: 59 correct, 30 wrong (FPR 0.34)</a:t>
            </a:r>
          </a:p>
          <a:p>
            <a:r>
              <a:rPr lang="en-US" sz="1000" b="0" dirty="0">
                <a:solidFill>
                  <a:srgbClr val="455A64"/>
                </a:solidFill>
              </a:rPr>
              <a:t>11 paper events: 5 correct, 6 missed</a:t>
            </a:r>
          </a:p>
        </p:txBody>
      </p:sp>
      <p:sp>
        <p:nvSpPr>
          <p:cNvPr id="7" name="R7"/>
          <p:cNvSpPr/>
          <p:nvPr/>
        </p:nvSpPr>
        <p:spPr>
          <a:xfrm>
            <a:off x="4544000" y="760000"/>
            <a:ext cx="4500000" cy="1465747"/>
          </a:xfrm>
          <a:prstGeom prst="rect">
            <a:avLst/>
          </a:prstGeom>
          <a:solidFill>
            <a:srgbClr val="FFEBEE"/>
          </a:solidFill>
          <a:ln w="18000">
            <a:solidFill>
              <a:srgbClr val="C0504D"/>
            </a:solidFill>
          </a:ln>
        </p:spPr>
        <p:txBody>
          <a:bodyPr/>
          <a:lstStyle/>
          <a:p>
            <a:endParaRPr/>
          </a:p>
        </p:txBody>
      </p:sp>
      <p:sp>
        <p:nvSpPr>
          <p:cNvPr id="8" name="T8"/>
          <p:cNvSpPr/>
          <p:nvPr/>
        </p:nvSpPr>
        <p:spPr>
          <a:xfrm>
            <a:off x="4554000" y="674253"/>
            <a:ext cx="4340000" cy="1530000"/>
          </a:xfrm>
          <a:prstGeom prst="rect">
            <a:avLst/>
          </a:prstGeom>
          <a:noFill/>
          <a:ln>
            <a:noFill/>
          </a:ln>
        </p:spPr>
        <p:txBody>
          <a:bodyPr lIns="180000" tIns="150000" anchor="t"/>
          <a:lstStyle/>
          <a:p>
            <a:r>
              <a:rPr lang="en-US" sz="1300" b="1" dirty="0">
                <a:solidFill>
                  <a:srgbClr val="C0504D"/>
                </a:solidFill>
              </a:rPr>
              <a:t>Configuration v5 (Domain-Enriched, Should Be Better)</a:t>
            </a:r>
          </a:p>
          <a:p>
            <a:r>
              <a:rPr lang="en-US" sz="1050" b="0" dirty="0">
                <a:solidFill>
                  <a:srgbClr val="455A64"/>
                </a:solidFill>
              </a:rPr>
              <a:t>12 examples per class + XGBoost decision boundaries in prompt</a:t>
            </a:r>
          </a:p>
          <a:p>
            <a:r>
              <a:rPr lang="en-US" sz="1050" b="0" dirty="0">
                <a:solidFill>
                  <a:srgbClr val="455A64"/>
                </a:solidFill>
              </a:rPr>
              <a:t>System prompt included exact thresholds: cam1_max_tear &gt; 0.579, slope_no_defect &lt; -0.003...</a:t>
            </a:r>
          </a:p>
          <a:p>
            <a:r>
              <a:rPr lang="en-US" sz="1100" b="1" dirty="0">
                <a:solidFill>
                  <a:srgbClr val="C0504D"/>
                </a:solidFill>
              </a:rPr>
              <a:t>Result:  Machine recall 78%, Paper recall 18%, Paper F1 0.12, Accuracy 71%</a:t>
            </a:r>
          </a:p>
          <a:p>
            <a:r>
              <a:rPr lang="en-US" sz="1000" b="0" dirty="0">
                <a:solidFill>
                  <a:srgbClr val="455A64"/>
                </a:solidFill>
              </a:rPr>
              <a:t>89 machine events: 69 correct, 20 wrong</a:t>
            </a:r>
          </a:p>
          <a:p>
            <a:r>
              <a:rPr lang="en-US" sz="1000" b="1" dirty="0">
                <a:solidFill>
                  <a:srgbClr val="C0504D"/>
                </a:solidFill>
              </a:rPr>
              <a:t>11 paper events: 2 correct, 9 missed — WORSE than v3</a:t>
            </a:r>
          </a:p>
        </p:txBody>
      </p:sp>
      <p:sp>
        <p:nvSpPr>
          <p:cNvPr id="9" name="R9"/>
          <p:cNvSpPr/>
          <p:nvPr/>
        </p:nvSpPr>
        <p:spPr>
          <a:xfrm>
            <a:off x="100000" y="2311494"/>
            <a:ext cx="8944000" cy="968506"/>
          </a:xfrm>
          <a:prstGeom prst="rect">
            <a:avLst/>
          </a:prstGeom>
          <a:solidFill>
            <a:srgbClr val="FFF3E0"/>
          </a:solidFill>
          <a:ln w="18000">
            <a:solidFill>
              <a:srgbClr val="F9A825"/>
            </a:solidFill>
          </a:ln>
        </p:spPr>
        <p:txBody>
          <a:bodyPr/>
          <a:lstStyle/>
          <a:p>
            <a:endParaRPr/>
          </a:p>
        </p:txBody>
      </p:sp>
      <p:sp>
        <p:nvSpPr>
          <p:cNvPr id="10" name="T10"/>
          <p:cNvSpPr/>
          <p:nvPr/>
        </p:nvSpPr>
        <p:spPr>
          <a:xfrm>
            <a:off x="190000" y="2199253"/>
            <a:ext cx="8704000" cy="650000"/>
          </a:xfrm>
          <a:prstGeom prst="rect">
            <a:avLst/>
          </a:prstGeom>
          <a:noFill/>
          <a:ln>
            <a:noFill/>
          </a:ln>
        </p:spPr>
        <p:txBody>
          <a:bodyPr lIns="180000" tIns="150000" anchor="t"/>
          <a:lstStyle/>
          <a:p>
            <a:r>
              <a:rPr lang="en-US" sz="1300" b="1" dirty="0">
                <a:solidFill>
                  <a:srgbClr val="F9A825"/>
                </a:solidFill>
              </a:rPr>
              <a:t>What the Result Proves:</a:t>
            </a:r>
          </a:p>
          <a:p>
            <a:r>
              <a:rPr lang="en-US" sz="1100" b="0" dirty="0">
                <a:solidFill>
                  <a:srgbClr val="1A1A2E"/>
                </a:solidFill>
              </a:rPr>
              <a:t>The bottleneck is NOT encoding. v5 gave GPT-4o the exact numerical decision rules. It still got worse. If encoding loss were the problem, providing the pre-computed thresholds would have fixed it.</a:t>
            </a:r>
          </a:p>
          <a:p>
            <a:r>
              <a:rPr lang="en-US" sz="1050" b="1" dirty="0">
                <a:solidFill>
                  <a:srgbClr val="C0504D"/>
                </a:solidFill>
              </a:rPr>
              <a:t>The bottleneck IS architectural. GPT-4o processes the domain rules as linguistic patterns, not executable conditionals. More rules → stronger majority-class prior reinforcement   less paper detection.</a:t>
            </a:r>
          </a:p>
        </p:txBody>
      </p:sp>
      <p:sp>
        <p:nvSpPr>
          <p:cNvPr id="11" name="R11"/>
          <p:cNvSpPr/>
          <p:nvPr/>
        </p:nvSpPr>
        <p:spPr>
          <a:xfrm>
            <a:off x="100000" y="3310000"/>
            <a:ext cx="2800000" cy="1700000"/>
          </a:xfrm>
          <a:prstGeom prst="rect">
            <a:avLst/>
          </a:prstGeom>
          <a:solidFill>
            <a:srgbClr val="F5F7FA"/>
          </a:solidFill>
          <a:ln w="18000">
            <a:solidFill>
              <a:srgbClr val="D0D7DE"/>
            </a:solidFill>
          </a:ln>
        </p:spPr>
        <p:txBody>
          <a:bodyPr/>
          <a:lstStyle/>
          <a:p>
            <a:endParaRPr/>
          </a:p>
        </p:txBody>
      </p:sp>
      <p:sp>
        <p:nvSpPr>
          <p:cNvPr id="12" name="T12"/>
          <p:cNvSpPr/>
          <p:nvPr/>
        </p:nvSpPr>
        <p:spPr>
          <a:xfrm>
            <a:off x="180000" y="3350000"/>
            <a:ext cx="2640000" cy="1630000"/>
          </a:xfrm>
          <a:prstGeom prst="rect">
            <a:avLst/>
          </a:prstGeom>
          <a:noFill/>
          <a:ln>
            <a:noFill/>
          </a:ln>
        </p:spPr>
        <p:txBody>
          <a:bodyPr lIns="180000" tIns="150000" anchor="t"/>
          <a:lstStyle/>
          <a:p>
            <a:r>
              <a:rPr lang="en-US" sz="1200" b="1" dirty="0">
                <a:solidFill>
                  <a:srgbClr val="C0504D"/>
                </a:solidFill>
              </a:rPr>
              <a:t>Failure 1: Majority Prior</a:t>
            </a:r>
          </a:p>
          <a:p>
            <a:r>
              <a:rPr lang="en-US" sz="1050" b="0" dirty="0">
                <a:solidFill>
                  <a:srgbClr val="455A64"/>
                </a:solidFill>
              </a:rPr>
              <a:t>LLM trained on text reflects natural language priors. More examples of machine-caused descriptions → stronger association with that label.</a:t>
            </a:r>
          </a:p>
          <a:p>
            <a:r>
              <a:rPr lang="en-US" sz="1050" b="0" dirty="0">
                <a:solidFill>
                  <a:srgbClr val="455A64"/>
                </a:solidFill>
              </a:rPr>
              <a:t>Adding quantitative rules reinforces majority-class language patterns rather than enabling threshold logic.</a:t>
            </a:r>
          </a:p>
        </p:txBody>
      </p:sp>
      <p:sp>
        <p:nvSpPr>
          <p:cNvPr id="13" name="R13"/>
          <p:cNvSpPr/>
          <p:nvPr/>
        </p:nvSpPr>
        <p:spPr>
          <a:xfrm>
            <a:off x="3072000" y="3310000"/>
            <a:ext cx="2800000" cy="1700000"/>
          </a:xfrm>
          <a:prstGeom prst="rect">
            <a:avLst/>
          </a:prstGeom>
          <a:solidFill>
            <a:srgbClr val="F5F7FA"/>
          </a:solidFill>
          <a:ln w="18000">
            <a:solidFill>
              <a:srgbClr val="D0D7DE"/>
            </a:solidFill>
          </a:ln>
        </p:spPr>
        <p:txBody>
          <a:bodyPr/>
          <a:lstStyle/>
          <a:p>
            <a:endParaRPr/>
          </a:p>
        </p:txBody>
      </p:sp>
      <p:sp>
        <p:nvSpPr>
          <p:cNvPr id="14" name="T14"/>
          <p:cNvSpPr/>
          <p:nvPr/>
        </p:nvSpPr>
        <p:spPr>
          <a:xfrm>
            <a:off x="3152000" y="3350000"/>
            <a:ext cx="2640000" cy="1630000"/>
          </a:xfrm>
          <a:prstGeom prst="rect">
            <a:avLst/>
          </a:prstGeom>
          <a:noFill/>
          <a:ln>
            <a:noFill/>
          </a:ln>
        </p:spPr>
        <p:txBody>
          <a:bodyPr lIns="180000" tIns="150000" anchor="t"/>
          <a:lstStyle/>
          <a:p>
            <a:r>
              <a:rPr lang="en-US" sz="1200" b="1" dirty="0">
                <a:solidFill>
                  <a:srgbClr val="C0504D"/>
                </a:solidFill>
              </a:rPr>
              <a:t>Failure 2: No Numerical Computation</a:t>
            </a:r>
          </a:p>
          <a:p>
            <a:r>
              <a:rPr lang="en-US" sz="1050" b="0" dirty="0">
                <a:solidFill>
                  <a:srgbClr val="455A64"/>
                </a:solidFill>
              </a:rPr>
              <a:t>GPT-4o represents numbers as token sequences, not floats. Comparing “0.579” to “0.723” requires token-level reasoning, not floating point comparison.</a:t>
            </a:r>
          </a:p>
          <a:p>
            <a:r>
              <a:rPr lang="en-US" sz="1050" b="0" dirty="0">
                <a:solidFill>
                  <a:srgbClr val="455A64"/>
                </a:solidFill>
              </a:rPr>
              <a:t>The model cannot reliably determine if a serialised number is above or below a threshold.</a:t>
            </a:r>
          </a:p>
        </p:txBody>
      </p:sp>
      <p:sp>
        <p:nvSpPr>
          <p:cNvPr id="15" name="R15"/>
          <p:cNvSpPr/>
          <p:nvPr/>
        </p:nvSpPr>
        <p:spPr>
          <a:xfrm>
            <a:off x="6044000" y="3310000"/>
            <a:ext cx="2900000" cy="1700000"/>
          </a:xfrm>
          <a:prstGeom prst="rect">
            <a:avLst/>
          </a:prstGeom>
          <a:solidFill>
            <a:srgbClr val="F5F7FA"/>
          </a:solidFill>
          <a:ln w="18000">
            <a:solidFill>
              <a:srgbClr val="D0D7DE"/>
            </a:solidFill>
          </a:ln>
        </p:spPr>
        <p:txBody>
          <a:bodyPr/>
          <a:lstStyle/>
          <a:p>
            <a:endParaRPr/>
          </a:p>
        </p:txBody>
      </p:sp>
      <p:sp>
        <p:nvSpPr>
          <p:cNvPr id="16" name="T16"/>
          <p:cNvSpPr/>
          <p:nvPr/>
        </p:nvSpPr>
        <p:spPr>
          <a:xfrm>
            <a:off x="6124000" y="3350000"/>
            <a:ext cx="2740000" cy="1630000"/>
          </a:xfrm>
          <a:prstGeom prst="rect">
            <a:avLst/>
          </a:prstGeom>
          <a:noFill/>
          <a:ln>
            <a:noFill/>
          </a:ln>
        </p:spPr>
        <p:txBody>
          <a:bodyPr lIns="180000" tIns="150000" anchor="t"/>
          <a:lstStyle/>
          <a:p>
            <a:r>
              <a:rPr lang="en-US" sz="1200" b="1" dirty="0">
                <a:solidFill>
                  <a:srgbClr val="F9A825"/>
                </a:solidFill>
              </a:rPr>
              <a:t>Failure 3: Encoding Loss</a:t>
            </a:r>
          </a:p>
          <a:p>
            <a:r>
              <a:rPr lang="en-US" sz="1050" b="0" dirty="0">
                <a:solidFill>
                  <a:srgbClr val="455A64"/>
                </a:solidFill>
              </a:rPr>
              <a:t>Run-length encoding discards all continuous probability information. “no_defect x180” loses the distinction between score=0.51 and score=0.99.</a:t>
            </a:r>
          </a:p>
          <a:p>
            <a:r>
              <a:rPr lang="en-US" sz="1050" b="0" dirty="0">
                <a:solidFill>
                  <a:srgbClr val="455A64"/>
                </a:solidFill>
              </a:rPr>
              <a:t>However v5 showed this is SECONDARY — even with exact rules, performance worsened.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30000"/>
          </a:xfrm>
          <a:prstGeom prst="rect">
            <a:avLst/>
          </a:prstGeom>
          <a:solidFill>
            <a:srgbClr val="1565C0"/>
          </a:solidFill>
          <a:ln>
            <a:noFill/>
          </a:ln>
        </p:spPr>
        <p:txBody>
          <a:bodyPr lIns="280000" anchor="ctr"/>
          <a:lstStyle/>
          <a:p>
            <a:r>
              <a:rPr lang="en-US" sz="800" b="1" dirty="0">
                <a:solidFill>
                  <a:srgbClr val="B3D1F5"/>
                </a:solidFill>
              </a:rPr>
              <a:t>A12  |  </a:t>
            </a:r>
            <a:r>
              <a:rPr lang="en-US" sz="1900" b="1" dirty="0">
                <a:solidFill>
                  <a:srgbClr val="FFFFFF"/>
                </a:solidFill>
              </a:rPr>
              <a:t>Cross-Validation Justification : Why Stratified K-Fold, Not Temporal</a:t>
            </a:r>
          </a:p>
        </p:txBody>
      </p:sp>
      <p:sp>
        <p:nvSpPr>
          <p:cNvPr id="4" name="T4"/>
          <p:cNvSpPr/>
          <p:nvPr/>
        </p:nvSpPr>
        <p:spPr>
          <a:xfrm>
            <a:off x="100000" y="486706"/>
            <a:ext cx="8744000" cy="60000"/>
          </a:xfrm>
          <a:prstGeom prst="rect">
            <a:avLst/>
          </a:prstGeom>
          <a:noFill/>
          <a:ln>
            <a:noFill/>
          </a:ln>
        </p:spPr>
        <p:txBody>
          <a:bodyPr lIns="180000" tIns="150000" anchor="ctr"/>
          <a:lstStyle/>
          <a:p>
            <a:r>
              <a:rPr lang="en-US" sz="1100" b="0" dirty="0">
                <a:solidFill>
                  <a:srgbClr val="455A64"/>
                </a:solidFill>
              </a:rPr>
              <a:t>Two options were considered. The choice reflects the nature of the classification task, not a convenience decision.</a:t>
            </a:r>
          </a:p>
        </p:txBody>
      </p:sp>
      <p:sp>
        <p:nvSpPr>
          <p:cNvPr id="5" name="R5"/>
          <p:cNvSpPr/>
          <p:nvPr/>
        </p:nvSpPr>
        <p:spPr>
          <a:xfrm>
            <a:off x="100000" y="684042"/>
            <a:ext cx="4200000" cy="3195958"/>
          </a:xfrm>
          <a:prstGeom prst="rect">
            <a:avLst/>
          </a:prstGeom>
          <a:solidFill>
            <a:srgbClr val="FFEBEE"/>
          </a:solidFill>
          <a:ln w="18000">
            <a:solidFill>
              <a:srgbClr val="C0504D"/>
            </a:solidFill>
          </a:ln>
        </p:spPr>
        <p:txBody>
          <a:bodyPr/>
          <a:lstStyle/>
          <a:p>
            <a:endParaRPr/>
          </a:p>
        </p:txBody>
      </p:sp>
      <p:sp>
        <p:nvSpPr>
          <p:cNvPr id="6" name="T6"/>
          <p:cNvSpPr/>
          <p:nvPr/>
        </p:nvSpPr>
        <p:spPr>
          <a:xfrm>
            <a:off x="180000" y="664042"/>
            <a:ext cx="4040000" cy="2920000"/>
          </a:xfrm>
          <a:prstGeom prst="rect">
            <a:avLst/>
          </a:prstGeom>
          <a:noFill/>
          <a:ln>
            <a:noFill/>
          </a:ln>
        </p:spPr>
        <p:txBody>
          <a:bodyPr lIns="180000" tIns="150000" anchor="t"/>
          <a:lstStyle/>
          <a:p>
            <a:r>
              <a:rPr lang="en-US" sz="1300" b="1" dirty="0">
                <a:solidFill>
                  <a:srgbClr val="C0504D"/>
                </a:solidFill>
              </a:rPr>
              <a:t>Option A: Temporal Train/Test Split</a:t>
            </a:r>
          </a:p>
          <a:p>
            <a:endParaRPr lang="en-US" sz="1300" b="1" dirty="0">
              <a:solidFill>
                <a:srgbClr val="C0504D"/>
              </a:solidFill>
            </a:endParaRPr>
          </a:p>
          <a:p>
            <a:r>
              <a:rPr lang="en-US" sz="1100" b="0" dirty="0">
                <a:solidFill>
                  <a:srgbClr val="455A64"/>
                </a:solidFill>
              </a:rPr>
              <a:t>Train on early months → Test on recent months</a:t>
            </a:r>
          </a:p>
          <a:p>
            <a:endParaRPr lang="en-US" sz="1100" b="0" dirty="0">
              <a:solidFill>
                <a:srgbClr val="455A64"/>
              </a:solidFill>
            </a:endParaRPr>
          </a:p>
          <a:p>
            <a:r>
              <a:rPr lang="en-US" sz="1100" b="1" dirty="0">
                <a:solidFill>
                  <a:srgbClr val="C0504D"/>
                </a:solidFill>
              </a:rPr>
              <a:t>Why we rejected it:</a:t>
            </a:r>
          </a:p>
          <a:p>
            <a:r>
              <a:rPr lang="en-US" sz="1050" b="0" dirty="0">
                <a:solidFill>
                  <a:srgbClr val="455A64"/>
                </a:solidFill>
              </a:rPr>
              <a:t>1.  Distributional drift over 3.5 years:  Press configurations changed. Paper suppliers changed. Camera calibration evolved. A temporal test would conflate temporal adaptation with classification generalisation.</a:t>
            </a:r>
          </a:p>
          <a:p>
            <a:endParaRPr lang="en-US" sz="1050" b="0" dirty="0">
              <a:solidFill>
                <a:srgbClr val="455A64"/>
              </a:solidFill>
            </a:endParaRPr>
          </a:p>
          <a:p>
            <a:r>
              <a:rPr lang="en-US" sz="1050" b="0" dirty="0">
                <a:solidFill>
                  <a:srgbClr val="455A64"/>
                </a:solidFill>
              </a:rPr>
              <a:t>2.  Class imbalance instability:  Paper-caused break rate varies across time periods. A temporal split may produce radically different class distributions in train vs test, making AUC comparisons unreliable.</a:t>
            </a:r>
          </a:p>
          <a:p>
            <a:endParaRPr lang="en-US" sz="1050" b="0" dirty="0">
              <a:solidFill>
                <a:srgbClr val="455A64"/>
              </a:solidFill>
            </a:endParaRPr>
          </a:p>
          <a:p>
            <a:r>
              <a:rPr lang="en-US" sz="1050" b="0" dirty="0">
                <a:solidFill>
                  <a:srgbClr val="455A64"/>
                </a:solidFill>
              </a:rPr>
              <a:t>3.  Task nature:  We are classifying individual break events, not forecasting future events. Each event is self-contained (300-frame window + metadata). Temporal ordering of events carries no information relevant to cause classification.</a:t>
            </a:r>
          </a:p>
        </p:txBody>
      </p:sp>
      <p:sp>
        <p:nvSpPr>
          <p:cNvPr id="7" name="R7"/>
          <p:cNvSpPr/>
          <p:nvPr/>
        </p:nvSpPr>
        <p:spPr>
          <a:xfrm>
            <a:off x="4544000" y="684042"/>
            <a:ext cx="4500000" cy="3203853"/>
          </a:xfrm>
          <a:prstGeom prst="rect">
            <a:avLst/>
          </a:prstGeom>
          <a:solidFill>
            <a:srgbClr val="E8F5E9"/>
          </a:solidFill>
          <a:ln w="18000">
            <a:solidFill>
              <a:srgbClr val="2E7D32"/>
            </a:solidFill>
          </a:ln>
        </p:spPr>
        <p:txBody>
          <a:bodyPr/>
          <a:lstStyle/>
          <a:p>
            <a:endParaRPr/>
          </a:p>
        </p:txBody>
      </p:sp>
      <p:sp>
        <p:nvSpPr>
          <p:cNvPr id="8" name="T8"/>
          <p:cNvSpPr/>
          <p:nvPr/>
        </p:nvSpPr>
        <p:spPr>
          <a:xfrm>
            <a:off x="4584000" y="630000"/>
            <a:ext cx="4340000" cy="2920000"/>
          </a:xfrm>
          <a:prstGeom prst="rect">
            <a:avLst/>
          </a:prstGeom>
          <a:noFill/>
          <a:ln>
            <a:noFill/>
          </a:ln>
        </p:spPr>
        <p:txBody>
          <a:bodyPr lIns="180000" tIns="150000" anchor="t"/>
          <a:lstStyle/>
          <a:p>
            <a:r>
              <a:rPr lang="en-US" sz="1300" b="1" dirty="0">
                <a:solidFill>
                  <a:srgbClr val="2E7D32"/>
                </a:solidFill>
              </a:rPr>
              <a:t>Option B: Stratified 3-Fold CV  (Chosen)</a:t>
            </a:r>
          </a:p>
          <a:p>
            <a:r>
              <a:rPr lang="en-US" sz="1100" b="0" dirty="0">
                <a:solidFill>
                  <a:srgbClr val="455A64"/>
                </a:solidFill>
              </a:rPr>
              <a:t>Events randomly split into 3 folds preserving 84/16 ratio</a:t>
            </a:r>
          </a:p>
          <a:p>
            <a:endParaRPr lang="en-US" sz="1100" b="0" dirty="0">
              <a:solidFill>
                <a:srgbClr val="455A64"/>
              </a:solidFill>
            </a:endParaRPr>
          </a:p>
          <a:p>
            <a:r>
              <a:rPr lang="en-US" sz="1100" b="1" dirty="0">
                <a:solidFill>
                  <a:srgbClr val="2E7D32"/>
                </a:solidFill>
              </a:rPr>
              <a:t>Why it’s appropriate:</a:t>
            </a:r>
          </a:p>
          <a:p>
            <a:r>
              <a:rPr lang="en-US" sz="1050" b="0" dirty="0">
                <a:solidFill>
                  <a:srgbClr val="455A64"/>
                </a:solidFill>
              </a:rPr>
              <a:t>1.  Each fold has same class distribution:  Ensures the 750 paper-caused test events are equally represented in all three folds. Std deviation directly measures result stability.</a:t>
            </a:r>
          </a:p>
          <a:p>
            <a:endParaRPr lang="en-US" sz="1050" b="0" dirty="0">
              <a:solidFill>
                <a:srgbClr val="455A64"/>
              </a:solidFill>
            </a:endParaRPr>
          </a:p>
          <a:p>
            <a:r>
              <a:rPr lang="en-US" sz="1050" b="0" dirty="0">
                <a:solidFill>
                  <a:srgbClr val="455A64"/>
                </a:solidFill>
              </a:rPr>
              <a:t>2.  Three independent test sets:  Mean AUC is more reliable than a single temporal holdout. Standard deviation across folds is a genuine stability estimate.</a:t>
            </a:r>
          </a:p>
          <a:p>
            <a:endParaRPr lang="en-US" sz="1050" b="0" dirty="0">
              <a:solidFill>
                <a:srgbClr val="455A64"/>
              </a:solidFill>
            </a:endParaRPr>
          </a:p>
          <a:p>
            <a:r>
              <a:rPr lang="en-US" sz="1050" b="0" dirty="0">
                <a:solidFill>
                  <a:srgbClr val="455A64"/>
                </a:solidFill>
              </a:rPr>
              <a:t>3.  Task-appropriate:  The classification question is “given this break event, what caused it?” — not “predict future break causes.” Temporal ordering of the event file is irrelevant to the label.</a:t>
            </a:r>
          </a:p>
          <a:p>
            <a:endParaRPr lang="en-US" sz="1050" b="0" dirty="0">
              <a:solidFill>
                <a:srgbClr val="455A64"/>
              </a:solidFill>
            </a:endParaRPr>
          </a:p>
          <a:p>
            <a:r>
              <a:rPr lang="en-US" sz="1050" b="0" dirty="0">
                <a:solidFill>
                  <a:srgbClr val="455A64"/>
                </a:solidFill>
              </a:rPr>
              <a:t>4.  Industry standard:  Stratified K-fold is the standard evaluation protocol for event-level classification in the TSC literature (UCR/UEA benchmarks).</a:t>
            </a:r>
          </a:p>
        </p:txBody>
      </p:sp>
      <p:sp>
        <p:nvSpPr>
          <p:cNvPr id="9" name="R9"/>
          <p:cNvSpPr/>
          <p:nvPr/>
        </p:nvSpPr>
        <p:spPr>
          <a:xfrm>
            <a:off x="100000" y="3963853"/>
            <a:ext cx="8944000" cy="1097116"/>
          </a:xfrm>
          <a:prstGeom prst="rect">
            <a:avLst/>
          </a:prstGeom>
          <a:solidFill>
            <a:srgbClr val="FFF8E1"/>
          </a:solidFill>
          <a:ln w="18000">
            <a:solidFill>
              <a:srgbClr val="F9A825"/>
            </a:solidFill>
          </a:ln>
        </p:spPr>
        <p:txBody>
          <a:bodyPr/>
          <a:lstStyle/>
          <a:p>
            <a:endParaRPr/>
          </a:p>
        </p:txBody>
      </p:sp>
      <p:sp>
        <p:nvSpPr>
          <p:cNvPr id="10" name="T10"/>
          <p:cNvSpPr/>
          <p:nvPr/>
        </p:nvSpPr>
        <p:spPr>
          <a:xfrm>
            <a:off x="220000" y="3940000"/>
            <a:ext cx="8704000" cy="840000"/>
          </a:xfrm>
          <a:prstGeom prst="rect">
            <a:avLst/>
          </a:prstGeom>
          <a:noFill/>
          <a:ln>
            <a:noFill/>
          </a:ln>
        </p:spPr>
        <p:txBody>
          <a:bodyPr lIns="180000" tIns="150000" anchor="t"/>
          <a:lstStyle/>
          <a:p>
            <a:r>
              <a:rPr lang="en-US" sz="1300" b="1" dirty="0">
                <a:solidFill>
                  <a:srgbClr val="F9A825"/>
                </a:solidFill>
              </a:rPr>
              <a:t>Exception: Chronos uses temporal split (30/6/6 months)</a:t>
            </a:r>
          </a:p>
          <a:p>
            <a:r>
              <a:rPr lang="en-US" sz="1050" b="0" dirty="0">
                <a:solidFill>
                  <a:srgbClr val="455A64"/>
                </a:solidFill>
              </a:rPr>
              <a:t>Chronos was pre-trained on time series data assembled in chronological order. Using stratified K-fold would evaluate it on events that pre-date its training window — a form of temporal leakage specific to pre-trained models with time-ordered pre-training data.</a:t>
            </a:r>
          </a:p>
          <a:p>
            <a:r>
              <a:rPr lang="en-US" sz="1050" b="1" dirty="0">
                <a:solidFill>
                  <a:srgbClr val="C0504D"/>
                </a:solidFill>
              </a:rPr>
              <a:t>Consequence: Chronos AUC (0.66) is not directly comparable to other models’ 3-fold CV AUC. This is why it is labelled separately throughout the thesis and summary table.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90000"/>
          </a:xfrm>
          <a:prstGeom prst="rect">
            <a:avLst/>
          </a:prstGeom>
          <a:solidFill>
            <a:srgbClr val="1565C0"/>
          </a:solidFill>
          <a:ln>
            <a:noFill/>
          </a:ln>
        </p:spPr>
        <p:txBody>
          <a:bodyPr lIns="280000" anchor="ctr"/>
          <a:lstStyle/>
          <a:p>
            <a:r>
              <a:rPr lang="en-US" sz="800" b="1" dirty="0">
                <a:solidFill>
                  <a:srgbClr val="B3D1F5"/>
                </a:solidFill>
              </a:rPr>
              <a:t>A13  |  </a:t>
            </a:r>
            <a:r>
              <a:rPr lang="en-US" sz="1900" b="1" dirty="0">
                <a:solidFill>
                  <a:srgbClr val="FFFFFF"/>
                </a:solidFill>
              </a:rPr>
              <a:t>Chronos Failure : Pre-training Objective Mismatch</a:t>
            </a:r>
          </a:p>
        </p:txBody>
      </p:sp>
      <p:sp>
        <p:nvSpPr>
          <p:cNvPr id="4" name="T4"/>
          <p:cNvSpPr/>
          <p:nvPr/>
        </p:nvSpPr>
        <p:spPr>
          <a:xfrm>
            <a:off x="0" y="530000"/>
            <a:ext cx="8744000" cy="60000"/>
          </a:xfrm>
          <a:prstGeom prst="rect">
            <a:avLst/>
          </a:prstGeom>
          <a:noFill/>
          <a:ln>
            <a:noFill/>
          </a:ln>
        </p:spPr>
        <p:txBody>
          <a:bodyPr lIns="180000" tIns="150000" anchor="ctr"/>
          <a:lstStyle/>
          <a:p>
            <a:r>
              <a:rPr lang="en-US" sz="1100" b="0" dirty="0">
                <a:solidFill>
                  <a:srgbClr val="455A64"/>
                </a:solidFill>
              </a:rPr>
              <a:t>Chronos AUC = 0.66. Fine-tuning produced identical result. This is not a data size problem — it is a pre-training objective mismatch.</a:t>
            </a:r>
          </a:p>
        </p:txBody>
      </p:sp>
      <p:sp>
        <p:nvSpPr>
          <p:cNvPr id="5" name="R5"/>
          <p:cNvSpPr/>
          <p:nvPr/>
        </p:nvSpPr>
        <p:spPr>
          <a:xfrm>
            <a:off x="100000" y="770000"/>
            <a:ext cx="4200000" cy="1400000"/>
          </a:xfrm>
          <a:prstGeom prst="rect">
            <a:avLst/>
          </a:prstGeom>
          <a:solidFill>
            <a:srgbClr val="F5F7FA"/>
          </a:solidFill>
          <a:ln w="18000">
            <a:solidFill>
              <a:srgbClr val="D0D7DE"/>
            </a:solidFill>
          </a:ln>
        </p:spPr>
        <p:txBody>
          <a:bodyPr/>
          <a:lstStyle/>
          <a:p>
            <a:endParaRPr/>
          </a:p>
        </p:txBody>
      </p:sp>
      <p:sp>
        <p:nvSpPr>
          <p:cNvPr id="6" name="T6"/>
          <p:cNvSpPr/>
          <p:nvPr/>
        </p:nvSpPr>
        <p:spPr>
          <a:xfrm>
            <a:off x="180000" y="740000"/>
            <a:ext cx="4040000" cy="1340000"/>
          </a:xfrm>
          <a:prstGeom prst="rect">
            <a:avLst/>
          </a:prstGeom>
          <a:noFill/>
          <a:ln>
            <a:noFill/>
          </a:ln>
        </p:spPr>
        <p:txBody>
          <a:bodyPr lIns="180000" tIns="150000" anchor="t"/>
          <a:lstStyle/>
          <a:p>
            <a:r>
              <a:rPr lang="en-US" sz="1300" b="1" dirty="0">
                <a:solidFill>
                  <a:srgbClr val="1565C0"/>
                </a:solidFill>
              </a:rPr>
              <a:t>What Chronos Was Pre-trained On:</a:t>
            </a:r>
          </a:p>
          <a:p>
            <a:r>
              <a:rPr lang="en-US" sz="1050" b="0" dirty="0">
                <a:solidFill>
                  <a:srgbClr val="455A64"/>
                </a:solidFill>
              </a:rPr>
              <a:t>28 real-world datasets + 1M synthetic series (KernelSynth)</a:t>
            </a:r>
          </a:p>
          <a:p>
            <a:r>
              <a:rPr lang="en-US" sz="1050" b="0" dirty="0">
                <a:solidFill>
                  <a:srgbClr val="455A64"/>
                </a:solidFill>
              </a:rPr>
              <a:t>Objective: autoregressive next-token prediction</a:t>
            </a:r>
          </a:p>
          <a:p>
            <a:r>
              <a:rPr lang="en-US" sz="1050" b="0" dirty="0">
                <a:solidFill>
                  <a:srgbClr val="455A64"/>
                </a:solidFill>
              </a:rPr>
              <a:t>         Given t=1...n, predict t=n+1</a:t>
            </a:r>
          </a:p>
          <a:p>
            <a:r>
              <a:rPr lang="en-US" sz="1050" b="0" dirty="0">
                <a:solidFill>
                  <a:srgbClr val="455A64"/>
                </a:solidFill>
              </a:rPr>
              <a:t>Learned priors:  local continuity, smoothness, periodicity, short-range predictability</a:t>
            </a:r>
          </a:p>
          <a:p>
            <a:r>
              <a:rPr lang="en-US" sz="1050" b="0" dirty="0">
                <a:solidFill>
                  <a:srgbClr val="455A64"/>
                </a:solidFill>
              </a:rPr>
              <a:t>Tokenisation:  continuous values → discrete bins (like word tokens)</a:t>
            </a:r>
          </a:p>
        </p:txBody>
      </p:sp>
      <p:sp>
        <p:nvSpPr>
          <p:cNvPr id="7" name="R7"/>
          <p:cNvSpPr/>
          <p:nvPr/>
        </p:nvSpPr>
        <p:spPr>
          <a:xfrm>
            <a:off x="4544000" y="770000"/>
            <a:ext cx="4500000" cy="1400000"/>
          </a:xfrm>
          <a:prstGeom prst="rect">
            <a:avLst/>
          </a:prstGeom>
          <a:solidFill>
            <a:srgbClr val="F5F7FA"/>
          </a:solidFill>
          <a:ln w="18000">
            <a:solidFill>
              <a:srgbClr val="D0D7DE"/>
            </a:solidFill>
          </a:ln>
        </p:spPr>
        <p:txBody>
          <a:bodyPr/>
          <a:lstStyle/>
          <a:p>
            <a:endParaRPr/>
          </a:p>
        </p:txBody>
      </p:sp>
      <p:sp>
        <p:nvSpPr>
          <p:cNvPr id="8" name="T8"/>
          <p:cNvSpPr/>
          <p:nvPr/>
        </p:nvSpPr>
        <p:spPr>
          <a:xfrm>
            <a:off x="4584000" y="739874"/>
            <a:ext cx="4340000" cy="1340000"/>
          </a:xfrm>
          <a:prstGeom prst="rect">
            <a:avLst/>
          </a:prstGeom>
          <a:noFill/>
          <a:ln>
            <a:noFill/>
          </a:ln>
        </p:spPr>
        <p:txBody>
          <a:bodyPr lIns="180000" tIns="150000" anchor="t"/>
          <a:lstStyle/>
          <a:p>
            <a:r>
              <a:rPr lang="en-US" sz="1300" b="1" dirty="0">
                <a:solidFill>
                  <a:srgbClr val="C0504D"/>
                </a:solidFill>
              </a:rPr>
              <a:t>What Web Break Classification Requires:</a:t>
            </a:r>
          </a:p>
          <a:p>
            <a:r>
              <a:rPr lang="en-US" sz="1050" b="0" dirty="0">
                <a:solidFill>
                  <a:srgbClr val="455A64"/>
                </a:solidFill>
              </a:rPr>
              <a:t>Global trajectory classification over 300 frames</a:t>
            </a:r>
          </a:p>
          <a:p>
            <a:r>
              <a:rPr lang="en-US" sz="1050" b="0" dirty="0">
                <a:solidFill>
                  <a:srgbClr val="455A64"/>
                </a:solidFill>
              </a:rPr>
              <a:t>Objective: label the entire sequence (machine vs paper)</a:t>
            </a:r>
          </a:p>
          <a:p>
            <a:r>
              <a:rPr lang="en-US" sz="1050" b="0" dirty="0">
                <a:solidFill>
                  <a:srgbClr val="455A64"/>
                </a:solidFill>
              </a:rPr>
              <a:t>Discriminative signal:  slope of no_defect over FULL 300 frames; timing of tear onset relative to sequence start</a:t>
            </a:r>
          </a:p>
          <a:p>
            <a:r>
              <a:rPr lang="en-US" sz="1050" b="1" dirty="0">
                <a:solidFill>
                  <a:srgbClr val="C0504D"/>
                </a:solidFill>
              </a:rPr>
              <a:t>Required:  long-range global structure, NOT local continuity</a:t>
            </a:r>
          </a:p>
          <a:p>
            <a:r>
              <a:rPr lang="en-US" sz="1050" b="1" dirty="0">
                <a:solidFill>
                  <a:srgbClr val="C0504D"/>
                </a:solidFill>
              </a:rPr>
              <a:t>These two properties are ORTHOGONAL to forecasting quality</a:t>
            </a:r>
          </a:p>
        </p:txBody>
      </p:sp>
      <p:sp>
        <p:nvSpPr>
          <p:cNvPr id="9" name="R9"/>
          <p:cNvSpPr/>
          <p:nvPr/>
        </p:nvSpPr>
        <p:spPr>
          <a:xfrm>
            <a:off x="100000" y="2272746"/>
            <a:ext cx="8944000" cy="857253"/>
          </a:xfrm>
          <a:prstGeom prst="rect">
            <a:avLst/>
          </a:prstGeom>
          <a:solidFill>
            <a:srgbClr val="FFEBEE"/>
          </a:solidFill>
          <a:ln w="18000">
            <a:solidFill>
              <a:srgbClr val="C0504D"/>
            </a:solidFill>
          </a:ln>
        </p:spPr>
        <p:txBody>
          <a:bodyPr/>
          <a:lstStyle/>
          <a:p>
            <a:endParaRPr/>
          </a:p>
        </p:txBody>
      </p:sp>
      <p:sp>
        <p:nvSpPr>
          <p:cNvPr id="10" name="T10"/>
          <p:cNvSpPr/>
          <p:nvPr/>
        </p:nvSpPr>
        <p:spPr>
          <a:xfrm>
            <a:off x="220000" y="2255000"/>
            <a:ext cx="8704000" cy="650000"/>
          </a:xfrm>
          <a:prstGeom prst="rect">
            <a:avLst/>
          </a:prstGeom>
          <a:noFill/>
          <a:ln>
            <a:noFill/>
          </a:ln>
        </p:spPr>
        <p:txBody>
          <a:bodyPr lIns="180000" tIns="150000" anchor="t"/>
          <a:lstStyle/>
          <a:p>
            <a:r>
              <a:rPr lang="en-US" sz="1300" b="1" dirty="0">
                <a:solidFill>
                  <a:srgbClr val="C0504D"/>
                </a:solidFill>
              </a:rPr>
              <a:t>The Mismatch (Concrete Example):</a:t>
            </a:r>
          </a:p>
          <a:p>
            <a:r>
              <a:rPr lang="en-US" sz="1050" b="0" dirty="0">
                <a:solidFill>
                  <a:srgbClr val="1A1A2E"/>
                </a:solidFill>
              </a:rPr>
              <a:t>A gradual machine-caused break and a paper-caused break with stable early frames are BOTH locally smooth and locally predictable.</a:t>
            </a:r>
          </a:p>
          <a:p>
            <a:r>
              <a:rPr lang="en-US" sz="1050" b="1" dirty="0">
                <a:solidFill>
                  <a:srgbClr val="C0504D"/>
                </a:solidFill>
              </a:rPr>
              <a:t>They have similar forecasting quality but opposite class labels. Chronos’s learned representations distinguish them by short-range predictability, exactly the wrong axis for this task.</a:t>
            </a:r>
          </a:p>
        </p:txBody>
      </p:sp>
      <p:sp>
        <p:nvSpPr>
          <p:cNvPr id="11" name="R11"/>
          <p:cNvSpPr/>
          <p:nvPr/>
        </p:nvSpPr>
        <p:spPr>
          <a:xfrm>
            <a:off x="100000" y="3149999"/>
            <a:ext cx="8944000" cy="1919305"/>
          </a:xfrm>
          <a:prstGeom prst="rect">
            <a:avLst/>
          </a:prstGeom>
          <a:solidFill>
            <a:srgbClr val="F5F7FA"/>
          </a:solidFill>
          <a:ln w="18000">
            <a:solidFill>
              <a:srgbClr val="D0D7DE"/>
            </a:solidFill>
          </a:ln>
        </p:spPr>
        <p:txBody>
          <a:bodyPr/>
          <a:lstStyle/>
          <a:p>
            <a:endParaRPr/>
          </a:p>
        </p:txBody>
      </p:sp>
      <p:sp>
        <p:nvSpPr>
          <p:cNvPr id="12" name="T12"/>
          <p:cNvSpPr/>
          <p:nvPr/>
        </p:nvSpPr>
        <p:spPr>
          <a:xfrm>
            <a:off x="220000" y="3180000"/>
            <a:ext cx="8704000" cy="1050000"/>
          </a:xfrm>
          <a:prstGeom prst="rect">
            <a:avLst/>
          </a:prstGeom>
          <a:noFill/>
          <a:ln>
            <a:noFill/>
          </a:ln>
        </p:spPr>
        <p:txBody>
          <a:bodyPr lIns="180000" tIns="150000" anchor="t"/>
          <a:lstStyle/>
          <a:p>
            <a:r>
              <a:rPr lang="en-US" sz="1300" b="1" dirty="0">
                <a:solidFill>
                  <a:srgbClr val="1565C0"/>
                </a:solidFill>
              </a:rPr>
              <a:t>Why Fine-tuning Didn’t Help:</a:t>
            </a:r>
          </a:p>
          <a:p>
            <a:endParaRPr lang="en-US" sz="1300" b="1" dirty="0">
              <a:solidFill>
                <a:srgbClr val="1565C0"/>
              </a:solidFill>
            </a:endParaRPr>
          </a:p>
          <a:p>
            <a:r>
              <a:rPr lang="en-US" sz="1100" b="0" dirty="0">
                <a:solidFill>
                  <a:srgbClr val="1A1A2E"/>
                </a:solidFill>
              </a:rPr>
              <a:t>Validation AUC: Frozen=0.68, Fine-tuned=0.71  (fine-tuned looks better on validation)</a:t>
            </a:r>
          </a:p>
          <a:p>
            <a:r>
              <a:rPr lang="en-US" sz="1100" b="1" dirty="0">
                <a:solidFill>
                  <a:srgbClr val="C0504D"/>
                </a:solidFill>
              </a:rPr>
              <a:t>Test AUC:   Frozen=0.66, Fine-tuned=0.66  (identical on test)</a:t>
            </a:r>
          </a:p>
          <a:p>
            <a:endParaRPr lang="en-US" sz="1100" b="1" dirty="0">
              <a:solidFill>
                <a:srgbClr val="C0504D"/>
              </a:solidFill>
            </a:endParaRPr>
          </a:p>
          <a:p>
            <a:r>
              <a:rPr lang="en-US" sz="1050" b="0" dirty="0">
                <a:solidFill>
                  <a:srgbClr val="455A64"/>
                </a:solidFill>
              </a:rPr>
              <a:t>Interpretation: Fine-tuning learned the statistics of the 6-month validation period, not generalisable classification features. The 0.05 val-to-test gap indicates overfitting to the temporal distribution of the validation split.</a:t>
            </a:r>
          </a:p>
          <a:p>
            <a:r>
              <a:rPr lang="en-US" sz="1050" b="0" dirty="0">
                <a:solidFill>
                  <a:srgbClr val="455A64"/>
                </a:solidFill>
              </a:rPr>
              <a:t>The very low threshold required by fine-tuned model (0.06 vs 0.16) shows probability scores compressed toward zero — calibrated to validation, not test.</a:t>
            </a:r>
          </a:p>
          <a:p>
            <a:r>
              <a:rPr lang="en-US" sz="1050" b="1" dirty="0">
                <a:solidFill>
                  <a:srgbClr val="1565C0"/>
                </a:solidFill>
              </a:rPr>
              <a:t>Conclusion: 8,563 training events is insufficient to overcome the forecasting pre-training prior. More data (or classification-specific pre-training) would be needed.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510000"/>
          </a:xfrm>
          <a:prstGeom prst="rect">
            <a:avLst/>
          </a:prstGeom>
          <a:solidFill>
            <a:srgbClr val="1565C0"/>
          </a:solidFill>
          <a:ln>
            <a:noFill/>
          </a:ln>
        </p:spPr>
        <p:txBody>
          <a:bodyPr lIns="280000" anchor="ctr"/>
          <a:lstStyle/>
          <a:p>
            <a:r>
              <a:rPr lang="en-US" sz="800" b="1" dirty="0">
                <a:solidFill>
                  <a:srgbClr val="B3D1F5"/>
                </a:solidFill>
              </a:rPr>
              <a:t>A14  |  </a:t>
            </a:r>
            <a:r>
              <a:rPr lang="en-US" sz="1900" b="1" dirty="0">
                <a:solidFill>
                  <a:srgbClr val="FFFFFF"/>
                </a:solidFill>
              </a:rPr>
              <a:t>Dataset Quality : Labelling, Missingness, Scope</a:t>
            </a:r>
          </a:p>
        </p:txBody>
      </p:sp>
      <p:sp>
        <p:nvSpPr>
          <p:cNvPr id="4" name="T4"/>
          <p:cNvSpPr/>
          <p:nvPr/>
        </p:nvSpPr>
        <p:spPr>
          <a:xfrm>
            <a:off x="0" y="576232"/>
            <a:ext cx="8744000" cy="60000"/>
          </a:xfrm>
          <a:prstGeom prst="rect">
            <a:avLst/>
          </a:prstGeom>
          <a:noFill/>
          <a:ln>
            <a:noFill/>
          </a:ln>
        </p:spPr>
        <p:txBody>
          <a:bodyPr lIns="180000" tIns="150000" anchor="ctr"/>
          <a:lstStyle/>
          <a:p>
            <a:r>
              <a:rPr lang="en-US" sz="1100" b="0" dirty="0">
                <a:solidFill>
                  <a:srgbClr val="455A64"/>
                </a:solidFill>
              </a:rPr>
              <a:t>14,073 events from one Bertelsmann facility, July 2021 – December 2024. Three quality dimensions to understand.</a:t>
            </a:r>
          </a:p>
        </p:txBody>
      </p:sp>
      <p:sp>
        <p:nvSpPr>
          <p:cNvPr id="5" name="R5"/>
          <p:cNvSpPr/>
          <p:nvPr/>
        </p:nvSpPr>
        <p:spPr>
          <a:xfrm>
            <a:off x="180000" y="810000"/>
            <a:ext cx="2800000" cy="3649858"/>
          </a:xfrm>
          <a:prstGeom prst="rect">
            <a:avLst/>
          </a:prstGeom>
          <a:solidFill>
            <a:srgbClr val="F5F7FA"/>
          </a:solidFill>
          <a:ln w="18000">
            <a:solidFill>
              <a:srgbClr val="D0D7DE"/>
            </a:solidFill>
          </a:ln>
        </p:spPr>
        <p:txBody>
          <a:bodyPr/>
          <a:lstStyle/>
          <a:p>
            <a:endParaRPr/>
          </a:p>
        </p:txBody>
      </p:sp>
      <p:sp>
        <p:nvSpPr>
          <p:cNvPr id="6" name="T6"/>
          <p:cNvSpPr/>
          <p:nvPr/>
        </p:nvSpPr>
        <p:spPr>
          <a:xfrm>
            <a:off x="220000" y="683642"/>
            <a:ext cx="2640000" cy="3340000"/>
          </a:xfrm>
          <a:prstGeom prst="rect">
            <a:avLst/>
          </a:prstGeom>
          <a:noFill/>
          <a:ln>
            <a:noFill/>
          </a:ln>
        </p:spPr>
        <p:txBody>
          <a:bodyPr lIns="180000" tIns="150000" anchor="t"/>
          <a:lstStyle/>
          <a:p>
            <a:r>
              <a:rPr lang="en-US" sz="1300" b="1" dirty="0">
                <a:solidFill>
                  <a:srgbClr val="1565C0"/>
                </a:solidFill>
              </a:rPr>
              <a:t>Label Quality</a:t>
            </a:r>
          </a:p>
          <a:p>
            <a:endParaRPr lang="en-US" sz="1300" b="1" dirty="0">
              <a:solidFill>
                <a:srgbClr val="1565C0"/>
              </a:solidFill>
            </a:endParaRPr>
          </a:p>
          <a:p>
            <a:r>
              <a:rPr lang="en-US" sz="1050" b="0" dirty="0">
                <a:solidFill>
                  <a:srgbClr val="455A64"/>
                </a:solidFill>
              </a:rPr>
              <a:t>Source:  Domain experts at Bertelsmann facility reviewed each break event and assigned cause label post-hoc</a:t>
            </a:r>
          </a:p>
          <a:p>
            <a:endParaRPr lang="en-US" sz="1050" b="0" dirty="0">
              <a:solidFill>
                <a:srgbClr val="455A64"/>
              </a:solidFill>
            </a:endParaRPr>
          </a:p>
          <a:p>
            <a:r>
              <a:rPr lang="en-US" sz="1050" b="0" dirty="0">
                <a:solidFill>
                  <a:srgbClr val="2E7D32"/>
                </a:solidFill>
              </a:rPr>
              <a:t>Strength:  Reflects actual operational diagnosis process. Same information operators use.</a:t>
            </a:r>
          </a:p>
          <a:p>
            <a:endParaRPr lang="en-US" sz="1050" b="0" dirty="0">
              <a:solidFill>
                <a:srgbClr val="2E7D32"/>
              </a:solidFill>
            </a:endParaRPr>
          </a:p>
          <a:p>
            <a:r>
              <a:rPr lang="en-US" sz="1050" b="0" dirty="0">
                <a:solidFill>
                  <a:srgbClr val="C0504D"/>
                </a:solidFill>
              </a:rPr>
              <a:t>Limitation:  Label noise exists — ambiguous breaks where cause is unclear may be mislabelled. Industry reports suggest 20-50% of breaks have no clearly recordable cause. These were INCLUDED in training (labelled as machine-caused by default).</a:t>
            </a:r>
          </a:p>
          <a:p>
            <a:endParaRPr lang="en-US" sz="1050" b="0" dirty="0">
              <a:solidFill>
                <a:srgbClr val="C0504D"/>
              </a:solidFill>
            </a:endParaRPr>
          </a:p>
          <a:p>
            <a:r>
              <a:rPr lang="en-US" sz="1050" b="0" dirty="0">
                <a:solidFill>
                  <a:srgbClr val="455A64"/>
                </a:solidFill>
              </a:rPr>
              <a:t>Impact:  Label noise imposes a ceiling on achievable AUC that cannot be quantified without a gold-standard label. AUC 0.86 may represent the practical ceiling given annotation quality.</a:t>
            </a:r>
          </a:p>
        </p:txBody>
      </p:sp>
      <p:sp>
        <p:nvSpPr>
          <p:cNvPr id="7" name="R7"/>
          <p:cNvSpPr/>
          <p:nvPr/>
        </p:nvSpPr>
        <p:spPr>
          <a:xfrm>
            <a:off x="3100000" y="770000"/>
            <a:ext cx="2800000" cy="3689858"/>
          </a:xfrm>
          <a:prstGeom prst="rect">
            <a:avLst/>
          </a:prstGeom>
          <a:solidFill>
            <a:srgbClr val="F5F7FA"/>
          </a:solidFill>
          <a:ln w="18000">
            <a:solidFill>
              <a:srgbClr val="D0D7DE"/>
            </a:solidFill>
          </a:ln>
        </p:spPr>
        <p:txBody>
          <a:bodyPr/>
          <a:lstStyle/>
          <a:p>
            <a:endParaRPr/>
          </a:p>
        </p:txBody>
      </p:sp>
      <p:sp>
        <p:nvSpPr>
          <p:cNvPr id="8" name="T8"/>
          <p:cNvSpPr/>
          <p:nvPr/>
        </p:nvSpPr>
        <p:spPr>
          <a:xfrm>
            <a:off x="3180000" y="810000"/>
            <a:ext cx="2640000" cy="3340000"/>
          </a:xfrm>
          <a:prstGeom prst="rect">
            <a:avLst/>
          </a:prstGeom>
          <a:noFill/>
          <a:ln>
            <a:noFill/>
          </a:ln>
        </p:spPr>
        <p:txBody>
          <a:bodyPr lIns="180000" tIns="150000" anchor="t"/>
          <a:lstStyle/>
          <a:p>
            <a:r>
              <a:rPr lang="en-US" sz="1300" b="1" dirty="0">
                <a:solidFill>
                  <a:srgbClr val="1565C0"/>
                </a:solidFill>
              </a:rPr>
              <a:t>Metadata Missingness</a:t>
            </a:r>
          </a:p>
          <a:p>
            <a:endParaRPr lang="en-US" sz="1300" b="1" dirty="0">
              <a:solidFill>
                <a:srgbClr val="1565C0"/>
              </a:solidFill>
            </a:endParaRPr>
          </a:p>
          <a:p>
            <a:r>
              <a:rPr lang="en-US" sz="1050" b="0" dirty="0">
                <a:solidFill>
                  <a:srgbClr val="2E7D32"/>
                </a:solidFill>
              </a:rPr>
              <a:t>Always present (100%):  printer, web_width, detector</a:t>
            </a:r>
          </a:p>
          <a:p>
            <a:r>
              <a:rPr lang="en-US" sz="1050" b="0" dirty="0">
                <a:solidFill>
                  <a:srgbClr val="2E7D32"/>
                </a:solidFill>
              </a:rPr>
              <a:t>High coverage (&gt;98%):  speed, grammage_weight</a:t>
            </a:r>
          </a:p>
          <a:p>
            <a:r>
              <a:rPr lang="en-US" sz="1050" b="0" dirty="0">
                <a:solidFill>
                  <a:srgbClr val="F9A825"/>
                </a:solidFill>
              </a:rPr>
              <a:t>Moderate (&gt;94%):  paper_supplier, grade, pap_len</a:t>
            </a:r>
          </a:p>
          <a:p>
            <a:r>
              <a:rPr lang="en-US" sz="1050" b="0" dirty="0">
                <a:solidFill>
                  <a:srgbClr val="C0504D"/>
                </a:solidFill>
              </a:rPr>
              <a:t>Lower (~89-91%):  roll_number, order_number, ml_sentence</a:t>
            </a:r>
          </a:p>
          <a:p>
            <a:endParaRPr lang="en-US" sz="1050" b="0" dirty="0">
              <a:solidFill>
                <a:srgbClr val="C0504D"/>
              </a:solidFill>
            </a:endParaRPr>
          </a:p>
          <a:p>
            <a:r>
              <a:rPr lang="en-US" sz="1050" b="0" dirty="0">
                <a:solidFill>
                  <a:srgbClr val="455A64"/>
                </a:solidFill>
              </a:rPr>
              <a:t>Handling:  Missing numeric fields imputed with training fold median. Missing categoricals encoded as “unknown” category.</a:t>
            </a:r>
          </a:p>
          <a:p>
            <a:endParaRPr lang="en-US" sz="1050" b="0" dirty="0">
              <a:solidFill>
                <a:srgbClr val="455A64"/>
              </a:solidFill>
            </a:endParaRPr>
          </a:p>
          <a:p>
            <a:r>
              <a:rPr lang="en-US" sz="1050" b="0" dirty="0">
                <a:solidFill>
                  <a:srgbClr val="C0504D"/>
                </a:solidFill>
              </a:rPr>
              <a:t>Risk:  If missingness correlates with class (e.g. paper-caused breaks more likely to have missing grammage), imputation may introduce bias. Not quantified in this study.</a:t>
            </a:r>
          </a:p>
        </p:txBody>
      </p:sp>
      <p:sp>
        <p:nvSpPr>
          <p:cNvPr id="9" name="R9"/>
          <p:cNvSpPr/>
          <p:nvPr/>
        </p:nvSpPr>
        <p:spPr>
          <a:xfrm>
            <a:off x="6100000" y="770000"/>
            <a:ext cx="2944000" cy="3689858"/>
          </a:xfrm>
          <a:prstGeom prst="rect">
            <a:avLst/>
          </a:prstGeom>
          <a:solidFill>
            <a:srgbClr val="F5F7FA"/>
          </a:solidFill>
          <a:ln w="18000">
            <a:solidFill>
              <a:srgbClr val="D0D7DE"/>
            </a:solidFill>
          </a:ln>
        </p:spPr>
        <p:txBody>
          <a:bodyPr/>
          <a:lstStyle/>
          <a:p>
            <a:endParaRPr/>
          </a:p>
        </p:txBody>
      </p:sp>
      <p:sp>
        <p:nvSpPr>
          <p:cNvPr id="10" name="T10"/>
          <p:cNvSpPr/>
          <p:nvPr/>
        </p:nvSpPr>
        <p:spPr>
          <a:xfrm>
            <a:off x="6180000" y="810000"/>
            <a:ext cx="2784000" cy="3340000"/>
          </a:xfrm>
          <a:prstGeom prst="rect">
            <a:avLst/>
          </a:prstGeom>
          <a:noFill/>
          <a:ln>
            <a:noFill/>
          </a:ln>
        </p:spPr>
        <p:txBody>
          <a:bodyPr lIns="180000" tIns="150000" anchor="t"/>
          <a:lstStyle/>
          <a:p>
            <a:r>
              <a:rPr lang="en-US" sz="1300" b="1" dirty="0">
                <a:solidFill>
                  <a:srgbClr val="1565C0"/>
                </a:solidFill>
              </a:rPr>
              <a:t>Scope &amp; Generalisation</a:t>
            </a:r>
          </a:p>
          <a:p>
            <a:endParaRPr lang="en-US" sz="1300" b="1" dirty="0">
              <a:solidFill>
                <a:srgbClr val="1565C0"/>
              </a:solidFill>
            </a:endParaRPr>
          </a:p>
          <a:p>
            <a:r>
              <a:rPr lang="en-US" sz="1050" b="0" dirty="0">
                <a:solidFill>
                  <a:srgbClr val="455A64"/>
                </a:solidFill>
              </a:rPr>
              <a:t>Single facility:  All 14,073 events from one Bertelsmann plant in Germany.</a:t>
            </a:r>
          </a:p>
          <a:p>
            <a:endParaRPr lang="en-US" sz="1050" b="0" dirty="0">
              <a:solidFill>
                <a:srgbClr val="455A64"/>
              </a:solidFill>
            </a:endParaRPr>
          </a:p>
          <a:p>
            <a:r>
              <a:rPr lang="en-US" sz="1050" b="0" dirty="0">
                <a:solidFill>
                  <a:srgbClr val="C0504D"/>
                </a:solidFill>
              </a:rPr>
              <a:t>Risk: XGBoost features like printer identity and paper_supplier encode facility-specific priors. A model trained here may not transfer to a facility with different printers or different supplier relationships.</a:t>
            </a:r>
          </a:p>
          <a:p>
            <a:endParaRPr lang="en-US" sz="1050" b="0" dirty="0">
              <a:solidFill>
                <a:srgbClr val="C0504D"/>
              </a:solidFill>
            </a:endParaRPr>
          </a:p>
          <a:p>
            <a:r>
              <a:rPr lang="en-US" sz="1050" b="0" dirty="0">
                <a:solidFill>
                  <a:srgbClr val="2E7D32"/>
                </a:solidFill>
              </a:rPr>
              <a:t>Mitigant: Time-series-derived features (slopes, peaks, timing) encode physical break signatures that should generalise across facilities.</a:t>
            </a:r>
          </a:p>
          <a:p>
            <a:endParaRPr lang="en-US" sz="1050" b="0" dirty="0">
              <a:solidFill>
                <a:srgbClr val="2E7D32"/>
              </a:solidFill>
            </a:endParaRPr>
          </a:p>
          <a:p>
            <a:r>
              <a:rPr lang="en-US" sz="1050" b="0" dirty="0">
                <a:solidFill>
                  <a:srgbClr val="455A64"/>
                </a:solidFill>
              </a:rPr>
              <a:t>External validity:  Camera system (Azure Custom Vision) is facility-specific. Different camera hardware or defect scoring models would produce different probability distributions.</a:t>
            </a:r>
          </a:p>
        </p:txBody>
      </p:sp>
      <p:sp>
        <p:nvSpPr>
          <p:cNvPr id="11" name="R11"/>
          <p:cNvSpPr/>
          <p:nvPr/>
        </p:nvSpPr>
        <p:spPr>
          <a:xfrm>
            <a:off x="71789" y="4480000"/>
            <a:ext cx="8944000" cy="650000"/>
          </a:xfrm>
          <a:prstGeom prst="rect">
            <a:avLst/>
          </a:prstGeom>
          <a:solidFill>
            <a:srgbClr val="E3F2FD"/>
          </a:solidFill>
          <a:ln w="18000">
            <a:solidFill>
              <a:srgbClr val="1565C0"/>
            </a:solidFill>
          </a:ln>
        </p:spPr>
        <p:txBody>
          <a:bodyPr/>
          <a:lstStyle/>
          <a:p>
            <a:endParaRPr/>
          </a:p>
        </p:txBody>
      </p:sp>
      <p:sp>
        <p:nvSpPr>
          <p:cNvPr id="12" name="T12"/>
          <p:cNvSpPr/>
          <p:nvPr/>
        </p:nvSpPr>
        <p:spPr>
          <a:xfrm>
            <a:off x="191789" y="4373500"/>
            <a:ext cx="8704000" cy="600000"/>
          </a:xfrm>
          <a:prstGeom prst="rect">
            <a:avLst/>
          </a:prstGeom>
          <a:noFill/>
          <a:ln>
            <a:noFill/>
          </a:ln>
        </p:spPr>
        <p:txBody>
          <a:bodyPr lIns="180000" tIns="150000" anchor="t"/>
          <a:lstStyle/>
          <a:p>
            <a:r>
              <a:rPr lang="en-US" sz="1300" b="1" dirty="0">
                <a:solidFill>
                  <a:srgbClr val="1565C0"/>
                </a:solidFill>
              </a:rPr>
              <a:t>Deployment Prerequisites (from thesis Section 6.9.3):</a:t>
            </a:r>
          </a:p>
          <a:p>
            <a:r>
              <a:rPr lang="en-US" sz="1050" b="0" dirty="0">
                <a:solidFill>
                  <a:srgbClr val="455A64"/>
                </a:solidFill>
              </a:rPr>
              <a:t>1. Prospective validation on post-Dec 2024 events  |  2. Threshold calibration on live data  |  3. Shadow mode operation for 1+ month  |  4. Scheduled retraining pipeline with minimum AUC gating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0" y="0"/>
            <a:ext cx="9144000" cy="450000"/>
          </a:xfrm>
          <a:prstGeom prst="rect">
            <a:avLst/>
          </a:prstGeom>
          <a:solidFill>
            <a:srgbClr val="1565C0"/>
          </a:solidFill>
          <a:ln>
            <a:noFill/>
          </a:ln>
        </p:spPr>
        <p:txBody>
          <a:bodyPr lIns="280000" anchor="ctr"/>
          <a:lstStyle/>
          <a:p>
            <a:r>
              <a:rPr lang="en-US" sz="800" b="1" dirty="0">
                <a:solidFill>
                  <a:srgbClr val="B3D1F5"/>
                </a:solidFill>
              </a:rPr>
              <a:t>A15  |  </a:t>
            </a:r>
            <a:r>
              <a:rPr lang="en-US" sz="1900" b="1" dirty="0">
                <a:solidFill>
                  <a:srgbClr val="FFFFFF"/>
                </a:solidFill>
              </a:rPr>
              <a:t>Failure Cases: Where XGBoost Gets It Wrong</a:t>
            </a:r>
          </a:p>
        </p:txBody>
      </p:sp>
      <p:sp>
        <p:nvSpPr>
          <p:cNvPr id="4" name="T4"/>
          <p:cNvSpPr/>
          <p:nvPr/>
        </p:nvSpPr>
        <p:spPr>
          <a:xfrm>
            <a:off x="72000" y="540000"/>
            <a:ext cx="8744000" cy="60000"/>
          </a:xfrm>
          <a:prstGeom prst="rect">
            <a:avLst/>
          </a:prstGeom>
          <a:noFill/>
          <a:ln>
            <a:noFill/>
          </a:ln>
        </p:spPr>
        <p:txBody>
          <a:bodyPr lIns="180000" tIns="150000" anchor="ctr"/>
          <a:lstStyle/>
          <a:p>
            <a:r>
              <a:rPr lang="en-US" sz="1100" b="0" dirty="0">
                <a:solidFill>
                  <a:srgbClr val="455A64"/>
                </a:solidFill>
              </a:rPr>
              <a:t>Mean FPR=0.12 (384 machine events mislabelled/fold). Mean FNR=0.37 (301 paper events missed/fold). Understanding error patterns is critical for deployment trust.</a:t>
            </a:r>
          </a:p>
        </p:txBody>
      </p:sp>
      <p:sp>
        <p:nvSpPr>
          <p:cNvPr id="5" name="R5"/>
          <p:cNvSpPr/>
          <p:nvPr/>
        </p:nvSpPr>
        <p:spPr>
          <a:xfrm>
            <a:off x="100000" y="820000"/>
            <a:ext cx="4200000" cy="2140000"/>
          </a:xfrm>
          <a:prstGeom prst="rect">
            <a:avLst/>
          </a:prstGeom>
          <a:solidFill>
            <a:srgbClr val="FFEBEE"/>
          </a:solidFill>
          <a:ln w="18000">
            <a:solidFill>
              <a:srgbClr val="C0504D"/>
            </a:solidFill>
          </a:ln>
        </p:spPr>
        <p:txBody>
          <a:bodyPr/>
          <a:lstStyle/>
          <a:p>
            <a:endParaRPr/>
          </a:p>
        </p:txBody>
      </p:sp>
      <p:sp>
        <p:nvSpPr>
          <p:cNvPr id="6" name="T6"/>
          <p:cNvSpPr/>
          <p:nvPr/>
        </p:nvSpPr>
        <p:spPr>
          <a:xfrm>
            <a:off x="180000" y="800000"/>
            <a:ext cx="4040000" cy="2140000"/>
          </a:xfrm>
          <a:prstGeom prst="rect">
            <a:avLst/>
          </a:prstGeom>
          <a:noFill/>
          <a:ln>
            <a:noFill/>
          </a:ln>
        </p:spPr>
        <p:txBody>
          <a:bodyPr lIns="180000" tIns="150000" anchor="t"/>
          <a:lstStyle/>
          <a:p>
            <a:r>
              <a:rPr lang="en-US" sz="1300" b="1" dirty="0">
                <a:solidFill>
                  <a:srgbClr val="C0504D"/>
                </a:solidFill>
              </a:rPr>
              <a:t>Error Type 1: False Positives  (FPR 0.12)</a:t>
            </a:r>
          </a:p>
          <a:p>
            <a:r>
              <a:rPr lang="en-US" sz="1050" b="0" dirty="0">
                <a:solidFill>
                  <a:srgbClr val="455A64"/>
                </a:solidFill>
              </a:rPr>
              <a:t>Machine event → incorrectly labelled Paper-caused</a:t>
            </a:r>
          </a:p>
          <a:p>
            <a:r>
              <a:rPr lang="en-US" sz="1050" b="1" dirty="0">
                <a:solidFill>
                  <a:srgbClr val="C0504D"/>
                </a:solidFill>
              </a:rPr>
              <a:t>Consequence:  Spurious supplier complaint. Commercial impact.</a:t>
            </a:r>
          </a:p>
          <a:p>
            <a:endParaRPr lang="en-US" sz="1050" b="1" dirty="0">
              <a:solidFill>
                <a:srgbClr val="C0504D"/>
              </a:solidFill>
            </a:endParaRPr>
          </a:p>
          <a:p>
            <a:r>
              <a:rPr lang="en-US" sz="1100" b="1" dirty="0">
                <a:solidFill>
                  <a:srgbClr val="1A1A2E"/>
                </a:solidFill>
              </a:rPr>
              <a:t>Likely causes of error:</a:t>
            </a:r>
          </a:p>
          <a:p>
            <a:r>
              <a:rPr lang="en-US" sz="1000" b="0" dirty="0">
                <a:solidFill>
                  <a:srgbClr val="455A64"/>
                </a:solidFill>
              </a:rPr>
              <a:t>• Machine break with atypically sharp late tear spike (mimics paper signature)</a:t>
            </a:r>
          </a:p>
          <a:p>
            <a:r>
              <a:rPr lang="en-US" sz="1000" b="0" dirty="0">
                <a:solidFill>
                  <a:srgbClr val="455A64"/>
                </a:solidFill>
              </a:rPr>
              <a:t>• Paper grade / supplier with high paper-caused prior — metadata overrides time-series signal</a:t>
            </a:r>
          </a:p>
          <a:p>
            <a:r>
              <a:rPr lang="en-US" sz="1000" b="0" dirty="0">
                <a:solidFill>
                  <a:srgbClr val="455A64"/>
                </a:solidFill>
              </a:rPr>
              <a:t>• Single-camera event where cross-camera corroboration unavailable</a:t>
            </a:r>
          </a:p>
          <a:p>
            <a:r>
              <a:rPr lang="en-US" sz="1000" b="0" dirty="0">
                <a:solidFill>
                  <a:srgbClr val="455A64"/>
                </a:solidFill>
              </a:rPr>
              <a:t>• Edge defect (Kantenfehler) present — feature cam2_kantenfehler_max ranks in top 30</a:t>
            </a:r>
          </a:p>
        </p:txBody>
      </p:sp>
      <p:sp>
        <p:nvSpPr>
          <p:cNvPr id="7" name="R7"/>
          <p:cNvSpPr/>
          <p:nvPr/>
        </p:nvSpPr>
        <p:spPr>
          <a:xfrm>
            <a:off x="4544000" y="820000"/>
            <a:ext cx="4500000" cy="2140000"/>
          </a:xfrm>
          <a:prstGeom prst="rect">
            <a:avLst/>
          </a:prstGeom>
          <a:solidFill>
            <a:srgbClr val="FFF3E0"/>
          </a:solidFill>
          <a:ln w="18000">
            <a:solidFill>
              <a:srgbClr val="F9A825"/>
            </a:solidFill>
          </a:ln>
        </p:spPr>
        <p:txBody>
          <a:bodyPr/>
          <a:lstStyle/>
          <a:p>
            <a:endParaRPr/>
          </a:p>
        </p:txBody>
      </p:sp>
      <p:sp>
        <p:nvSpPr>
          <p:cNvPr id="8" name="T8"/>
          <p:cNvSpPr/>
          <p:nvPr/>
        </p:nvSpPr>
        <p:spPr>
          <a:xfrm>
            <a:off x="4624000" y="800000"/>
            <a:ext cx="4340000" cy="2140000"/>
          </a:xfrm>
          <a:prstGeom prst="rect">
            <a:avLst/>
          </a:prstGeom>
          <a:noFill/>
          <a:ln>
            <a:noFill/>
          </a:ln>
        </p:spPr>
        <p:txBody>
          <a:bodyPr lIns="180000" tIns="150000" anchor="t"/>
          <a:lstStyle/>
          <a:p>
            <a:r>
              <a:rPr lang="en-US" sz="1300" b="1" dirty="0">
                <a:solidFill>
                  <a:srgbClr val="F9A825"/>
                </a:solidFill>
              </a:rPr>
              <a:t>Error Type 2: False Negatives  (FNR 0.37)</a:t>
            </a:r>
          </a:p>
          <a:p>
            <a:r>
              <a:rPr lang="en-US" sz="1050" b="0" dirty="0">
                <a:solidFill>
                  <a:srgbClr val="455A64"/>
                </a:solidFill>
              </a:rPr>
              <a:t>Paper event → incorrectly labelled Machine-caused</a:t>
            </a:r>
          </a:p>
          <a:p>
            <a:r>
              <a:rPr lang="en-US" sz="1050" b="1" dirty="0">
                <a:solidFill>
                  <a:srgbClr val="F9A825"/>
                </a:solidFill>
              </a:rPr>
              <a:t>Consequence:  Missed defect. Defective material may recur.</a:t>
            </a:r>
          </a:p>
          <a:p>
            <a:endParaRPr lang="en-US" sz="1050" b="1" dirty="0">
              <a:solidFill>
                <a:srgbClr val="F9A825"/>
              </a:solidFill>
            </a:endParaRPr>
          </a:p>
          <a:p>
            <a:r>
              <a:rPr lang="en-US" sz="1100" b="1" dirty="0">
                <a:solidFill>
                  <a:srgbClr val="1A1A2E"/>
                </a:solidFill>
              </a:rPr>
              <a:t>Likely causes of error:</a:t>
            </a:r>
          </a:p>
          <a:p>
            <a:r>
              <a:rPr lang="en-US" sz="1000" b="0" dirty="0">
                <a:solidFill>
                  <a:srgbClr val="455A64"/>
                </a:solidFill>
              </a:rPr>
              <a:t>• Paper-caused break with gradual buildup — lap joint that slowly deteriorates (looks machine-like)</a:t>
            </a:r>
          </a:p>
          <a:p>
            <a:r>
              <a:rPr lang="en-US" sz="1000" b="0" dirty="0">
                <a:solidFill>
                  <a:srgbClr val="455A64"/>
                </a:solidFill>
              </a:rPr>
              <a:t>• Paper grade with no prior history of paper-caused breaks — XGBoost assigns low paper prior</a:t>
            </a:r>
          </a:p>
          <a:p>
            <a:r>
              <a:rPr lang="en-US" sz="1000" b="0" dirty="0">
                <a:solidFill>
                  <a:srgbClr val="455A64"/>
                </a:solidFill>
              </a:rPr>
              <a:t>• Low cam1_max_tear (weak tear signal) — model relies on metadata favouring machine</a:t>
            </a:r>
          </a:p>
        </p:txBody>
      </p:sp>
      <p:sp>
        <p:nvSpPr>
          <p:cNvPr id="9" name="R9"/>
          <p:cNvSpPr/>
          <p:nvPr/>
        </p:nvSpPr>
        <p:spPr>
          <a:xfrm>
            <a:off x="100000" y="3080000"/>
            <a:ext cx="8944000" cy="800000"/>
          </a:xfrm>
          <a:prstGeom prst="rect">
            <a:avLst/>
          </a:prstGeom>
          <a:solidFill>
            <a:srgbClr val="E3F2FD"/>
          </a:solidFill>
          <a:ln w="18000">
            <a:solidFill>
              <a:srgbClr val="1565C0"/>
            </a:solidFill>
          </a:ln>
        </p:spPr>
        <p:txBody>
          <a:bodyPr/>
          <a:lstStyle/>
          <a:p>
            <a:endParaRPr/>
          </a:p>
        </p:txBody>
      </p:sp>
      <p:sp>
        <p:nvSpPr>
          <p:cNvPr id="10" name="T10"/>
          <p:cNvSpPr/>
          <p:nvPr/>
        </p:nvSpPr>
        <p:spPr>
          <a:xfrm>
            <a:off x="220000" y="3110000"/>
            <a:ext cx="8704000" cy="750000"/>
          </a:xfrm>
          <a:prstGeom prst="rect">
            <a:avLst/>
          </a:prstGeom>
          <a:noFill/>
          <a:ln>
            <a:noFill/>
          </a:ln>
        </p:spPr>
        <p:txBody>
          <a:bodyPr lIns="180000" tIns="150000" anchor="t"/>
          <a:lstStyle/>
          <a:p>
            <a:r>
              <a:rPr lang="en-US" sz="1300" b="1" dirty="0">
                <a:solidFill>
                  <a:srgbClr val="1565C0"/>
                </a:solidFill>
              </a:rPr>
              <a:t>Mitigation: Confidence-Based Routing</a:t>
            </a:r>
          </a:p>
          <a:p>
            <a:r>
              <a:rPr lang="en-US" sz="1050" b="0" dirty="0">
                <a:solidFill>
                  <a:srgbClr val="1A1A2E"/>
                </a:solidFill>
              </a:rPr>
              <a:t>Events near p=0.5 go to human review rather than auto-label. Estimated 10-15% of events fall in uncertain zone (p between 0.35 and 0.65).</a:t>
            </a:r>
          </a:p>
          <a:p>
            <a:r>
              <a:rPr lang="en-US" sz="1050" b="0" dirty="0">
                <a:solidFill>
                  <a:srgbClr val="455A64"/>
                </a:solidFill>
              </a:rPr>
              <a:t>Operator presented with: probability score, defect trajectory, top contributing features. This handles precisely the hard cases above.</a:t>
            </a:r>
          </a:p>
        </p:txBody>
      </p:sp>
      <p:sp>
        <p:nvSpPr>
          <p:cNvPr id="11" name="R11"/>
          <p:cNvSpPr/>
          <p:nvPr/>
        </p:nvSpPr>
        <p:spPr>
          <a:xfrm>
            <a:off x="100000" y="4000000"/>
            <a:ext cx="2700000" cy="1000000"/>
          </a:xfrm>
          <a:prstGeom prst="rect">
            <a:avLst/>
          </a:prstGeom>
          <a:solidFill>
            <a:srgbClr val="F5F7FA"/>
          </a:solidFill>
          <a:ln w="18000">
            <a:solidFill>
              <a:srgbClr val="D0D7DE"/>
            </a:solidFill>
          </a:ln>
        </p:spPr>
        <p:txBody>
          <a:bodyPr/>
          <a:lstStyle/>
          <a:p>
            <a:endParaRPr/>
          </a:p>
        </p:txBody>
      </p:sp>
      <p:sp>
        <p:nvSpPr>
          <p:cNvPr id="12" name="T12"/>
          <p:cNvSpPr/>
          <p:nvPr/>
        </p:nvSpPr>
        <p:spPr>
          <a:xfrm>
            <a:off x="180000" y="4040000"/>
            <a:ext cx="2540000" cy="940000"/>
          </a:xfrm>
          <a:prstGeom prst="rect">
            <a:avLst/>
          </a:prstGeom>
          <a:noFill/>
          <a:ln>
            <a:noFill/>
          </a:ln>
        </p:spPr>
        <p:txBody>
          <a:bodyPr lIns="180000" tIns="150000" anchor="t"/>
          <a:lstStyle/>
          <a:p>
            <a:r>
              <a:rPr lang="en-US" sz="1200" b="1" dirty="0">
                <a:solidFill>
                  <a:srgbClr val="7B1FA2"/>
                </a:solidFill>
              </a:rPr>
              <a:t>Hard Case: Splice Failures</a:t>
            </a:r>
          </a:p>
          <a:p>
            <a:r>
              <a:rPr lang="en-US" sz="1000" b="0" dirty="0">
                <a:solidFill>
                  <a:srgbClr val="455A64"/>
                </a:solidFill>
              </a:rPr>
              <a:t>Splice failures look like sudden paper tears but occur at roll transition. Camera signal ambiguous. Operator notes are only reliable discriminator.</a:t>
            </a:r>
          </a:p>
        </p:txBody>
      </p:sp>
      <p:sp>
        <p:nvSpPr>
          <p:cNvPr id="13" name="R13"/>
          <p:cNvSpPr/>
          <p:nvPr/>
        </p:nvSpPr>
        <p:spPr>
          <a:xfrm>
            <a:off x="3000000" y="4000000"/>
            <a:ext cx="2700000" cy="1000000"/>
          </a:xfrm>
          <a:prstGeom prst="rect">
            <a:avLst/>
          </a:prstGeom>
          <a:solidFill>
            <a:srgbClr val="F5F7FA"/>
          </a:solidFill>
          <a:ln w="18000">
            <a:solidFill>
              <a:srgbClr val="D0D7DE"/>
            </a:solidFill>
          </a:ln>
        </p:spPr>
        <p:txBody>
          <a:bodyPr/>
          <a:lstStyle/>
          <a:p>
            <a:endParaRPr/>
          </a:p>
        </p:txBody>
      </p:sp>
      <p:sp>
        <p:nvSpPr>
          <p:cNvPr id="14" name="T14"/>
          <p:cNvSpPr/>
          <p:nvPr/>
        </p:nvSpPr>
        <p:spPr>
          <a:xfrm>
            <a:off x="3080000" y="4040000"/>
            <a:ext cx="2540000" cy="940000"/>
          </a:xfrm>
          <a:prstGeom prst="rect">
            <a:avLst/>
          </a:prstGeom>
          <a:noFill/>
          <a:ln>
            <a:noFill/>
          </a:ln>
        </p:spPr>
        <p:txBody>
          <a:bodyPr lIns="180000" tIns="150000" anchor="t"/>
          <a:lstStyle/>
          <a:p>
            <a:r>
              <a:rPr lang="en-US" sz="1200" b="1" dirty="0">
                <a:solidFill>
                  <a:srgbClr val="7B1FA2"/>
                </a:solidFill>
              </a:rPr>
              <a:t>Hard Case: Interaction Failures</a:t>
            </a:r>
          </a:p>
          <a:p>
            <a:r>
              <a:rPr lang="en-US" sz="1000" b="0" dirty="0">
                <a:solidFill>
                  <a:srgbClr val="455A64"/>
                </a:solidFill>
              </a:rPr>
              <a:t>Break caused by BOTH machine tension AND marginal paper quality. Label assigns one cause but reality is dual-causal. XGBoost sees ambiguous feature signal.</a:t>
            </a:r>
          </a:p>
        </p:txBody>
      </p:sp>
      <p:sp>
        <p:nvSpPr>
          <p:cNvPr id="15" name="R15"/>
          <p:cNvSpPr/>
          <p:nvPr/>
        </p:nvSpPr>
        <p:spPr>
          <a:xfrm>
            <a:off x="6000000" y="4000000"/>
            <a:ext cx="3044000" cy="1000000"/>
          </a:xfrm>
          <a:prstGeom prst="rect">
            <a:avLst/>
          </a:prstGeom>
          <a:solidFill>
            <a:srgbClr val="F5F7FA"/>
          </a:solidFill>
          <a:ln w="18000">
            <a:solidFill>
              <a:srgbClr val="D0D7DE"/>
            </a:solidFill>
          </a:ln>
        </p:spPr>
        <p:txBody>
          <a:bodyPr/>
          <a:lstStyle/>
          <a:p>
            <a:endParaRPr/>
          </a:p>
        </p:txBody>
      </p:sp>
      <p:sp>
        <p:nvSpPr>
          <p:cNvPr id="16" name="T16"/>
          <p:cNvSpPr/>
          <p:nvPr/>
        </p:nvSpPr>
        <p:spPr>
          <a:xfrm>
            <a:off x="6080000" y="4040000"/>
            <a:ext cx="2884000" cy="940000"/>
          </a:xfrm>
          <a:prstGeom prst="rect">
            <a:avLst/>
          </a:prstGeom>
          <a:noFill/>
          <a:ln>
            <a:noFill/>
          </a:ln>
        </p:spPr>
        <p:txBody>
          <a:bodyPr lIns="180000" tIns="150000" anchor="t"/>
          <a:lstStyle/>
          <a:p>
            <a:r>
              <a:rPr lang="en-US" sz="1200" b="1" dirty="0">
                <a:solidFill>
                  <a:srgbClr val="7B1FA2"/>
                </a:solidFill>
              </a:rPr>
              <a:t>Hard Case: Unseen Supplier</a:t>
            </a:r>
          </a:p>
          <a:p>
            <a:r>
              <a:rPr lang="en-US" sz="1000" b="0" dirty="0">
                <a:solidFill>
                  <a:srgbClr val="455A64"/>
                </a:solidFill>
              </a:rPr>
              <a:t>New paper supplier not in training data. One-hot encoder outputs zero vector. Model falls back to time-series features only — performance degrades for this supplier until retrained.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7246</Words>
  <Application>Microsoft Office PowerPoint</Application>
  <PresentationFormat>On-screen Show (16:9)</PresentationFormat>
  <Paragraphs>619</Paragraphs>
  <Slides>34</Slides>
  <Notes>20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Sreekumar, Vaishnavi, BMS-IT</cp:lastModifiedBy>
  <cp:revision>23</cp:revision>
  <dcterms:created xsi:type="dcterms:W3CDTF">2013-01-27T09:14:16Z</dcterms:created>
  <dcterms:modified xsi:type="dcterms:W3CDTF">2026-05-12T08:31:35Z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1eb46ce-67e3-4023-9bb7-2cf97845c0ca_Enabled">
    <vt:lpwstr>true</vt:lpwstr>
  </property>
  <property fmtid="{D5CDD505-2E9C-101B-9397-08002B2CF9AE}" pid="3" name="MSIP_Label_d1eb46ce-67e3-4023-9bb7-2cf97845c0ca_SetDate">
    <vt:lpwstr>2026-05-06T22:01:30Z</vt:lpwstr>
  </property>
  <property fmtid="{D5CDD505-2E9C-101B-9397-08002B2CF9AE}" pid="4" name="MSIP_Label_d1eb46ce-67e3-4023-9bb7-2cf97845c0ca_Method">
    <vt:lpwstr>Standard</vt:lpwstr>
  </property>
  <property fmtid="{D5CDD505-2E9C-101B-9397-08002B2CF9AE}" pid="5" name="MSIP_Label_d1eb46ce-67e3-4023-9bb7-2cf97845c0ca_Name">
    <vt:lpwstr>d1eb46ce-67e3-4023-9bb7-2cf97845c0ca</vt:lpwstr>
  </property>
  <property fmtid="{D5CDD505-2E9C-101B-9397-08002B2CF9AE}" pid="6" name="MSIP_Label_d1eb46ce-67e3-4023-9bb7-2cf97845c0ca_SiteId">
    <vt:lpwstr>1ca8bd94-3c97-4fc6-8955-bad266b43f0b</vt:lpwstr>
  </property>
  <property fmtid="{D5CDD505-2E9C-101B-9397-08002B2CF9AE}" pid="7" name="MSIP_Label_d1eb46ce-67e3-4023-9bb7-2cf97845c0ca_ActionId">
    <vt:lpwstr>43965ee8-291b-435a-94ec-1cfaf858e9e0</vt:lpwstr>
  </property>
  <property fmtid="{D5CDD505-2E9C-101B-9397-08002B2CF9AE}" pid="8" name="MSIP_Label_d1eb46ce-67e3-4023-9bb7-2cf97845c0ca_ContentBits">
    <vt:lpwstr>0</vt:lpwstr>
  </property>
  <property fmtid="{D5CDD505-2E9C-101B-9397-08002B2CF9AE}" pid="9" name="MSIP_Label_d1eb46ce-67e3-4023-9bb7-2cf97845c0ca_Tag">
    <vt:lpwstr>10, 3, 0, 1</vt:lpwstr>
  </property>
</Properties>
</file>